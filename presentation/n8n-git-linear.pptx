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 presenter en une phrase
- Annoncer le sujet : automatiser la mise a jour du board Linear a partir du commit
- Ne pas montrer d'architecture tout de suite, garder la promesse pour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Poser la question a voix haute, puis laisser le silence repondre (ne pas repondre soi-meme)
- Laisser la salle reagir avant d'enchainer
- Transition : ce n'est pas de la negligence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 dev commence une tache, le ticket ne bouge pas (ou n'existe pas encore)
- Le chef de projet n'a aucune visibilite reelle sur ce qui avance
- Insister : ce n'est pas un probleme de discipline, c'est un probleme d'incitation. Celui qui agit n'est pas celui qui en profite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Annoncer la solution en une phrase avant de montrer quoi que ce soit a l'ecran
- Garder le suspense : ne pas ouvrir n8n maintenant, montrer le résultat d'abord (prochaines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AVANT TOUT : lancer ./setup-demo-book-crud.sh une fois depuis la racine du depot (recree health/loans sur le disque)
- Terminal pret a l'avance : branche et commit deja faits, ne jamais taper de code en direct
- git-sync (toujours simple, sans flag, meme regle pour toute la demo), puis basculer sur Linear et rafraichir devant la salle
- Dire explicitement : aucune IA ici, juste le nom de la branche 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Faire 2-3 commits successifs sur le meme ticket, sans closes-all
- Montrer les commentaires qui s'accumulent dans Linear a chaque git-sync
- Insister : le statut ne bouge que si le dev le decide explicitement, jamais tout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Montrer le commit avec (closes-all) dans le message avant de lancer git-sync
- Pendant que ca tourne, expliquer que les tests s'executent en LOCAL avant meme l'envoi a n8n
- Rafraichir Linear : le ticket passe en Done avec le recap des verifications en commentaire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Aller vite, 1 minute max sur cette slide
- Un workflow = une suite de noeuds relies par des fleches, qui s'execute automatiquement
- 4 types de noeuds suffisent a tout ce workflow : Declencheur, Logique (IF), Code, Action (appel API)
- Juste poser le vocabulaire avant de montrer l'architecture reelle du projet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Insister sur Executions comme outil de diagnostic si quelqu'un demande "et si ca plante ?"
- Ne pas s'attarder sur les details techniques, juste planter le decor avant l'architecture reelle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pour qui demande comment n8n est construit en interne
- 3 briques : le moteur qui execute, les noeuds qui font le travail, le serveur HTTP qui recoit les appels
- Insister : le JSON qu'on edite est litteralement ce que n8n fait tourner, pas une representation separee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 montrer que le JSON n'a rien de mysterieux, c'est juste des objets et des tableaux
- Le code du noeud 'Analyser le contexte' est raccourci ici ("..."), le vrai fichier contient le script complet
- position n'est pas dans l'extrait : ca ne sert qu'a l'affichage sur le canvas, aucun effet sur le comportement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technique : derouler les 7 etapes si quelqu'un demande le detail
- Les etapes 4 et 5 sont les plus interessantes pour un dev : format de données commun, et comment une branche IF choisit son chemin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technique : pour qui demande ce que Postgres stocke et comment n8n lui parle
- Insister sur le nom de service Docker : ce n'est pas de la magie, c'est du DNS interne standard
- Rappeler que demo-book-crud n'utilise pas ce Postgres : ses donnees sont en memoire, perdues au redemarrage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 utile si quelqu'un demande ce que signifient les couleurs dans Executions
- Exemple concret vecu : Claude desactive a casse Decider plus loin dans le workflow, erreur visible en rouge dans Executions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 reference complete, a montrer seulement si quelqu'un veut le detail exact
- Les noeuds 4 a 11 sont les deux chemins (reference directe vs IA) qui convergent sur Normaliser le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optionnelle : suite de la reference complete
- Noeuds 16 a 20 : le mecanisme Done, independant du chemin 1 a 11 emprunte plus haut
- Noeud 21 (Decider Done) ne fait aucun appel reseau, il lit juste testResults deja recu de git-sync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Parcourir chaque boite de gauche a droite en nommant l'action qui s'y passe
- Insister sur "tout est local sauf deux appels sortants" pour rassurer sur la confidentialite
- Mentionner que Claude ne voit jamais le code, seulement des noms de fichiers et messages de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Donner les chiffres sans s'excuser, assumer que c'est peu cher
- Si quelqu'un s'inquiete de la legalite : mentionner la licence fair-code de n8n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Poser la vraie question de decision a la salle, ne pas trancher soi-meme
- Laisser le chef de projet reagir en premier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Remercier, ouvrir les questions
- Rappeler que les details techniques sont dispo apres pour qui veut creuser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33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A4B71"/>
          </a:solidFill>
          <a:ln/>
        </p:spPr>
      </p:sp>
      <p:sp>
        <p:nvSpPr>
          <p:cNvPr id="3" name="Text 1"/>
          <p:cNvSpPr/>
          <p:nvPr/>
        </p:nvSpPr>
        <p:spPr>
          <a:xfrm>
            <a:off x="868680" y="1554480"/>
            <a:ext cx="9601200" cy="1920240"/>
          </a:xfrm>
          <a:prstGeom prst="rect">
            <a:avLst/>
          </a:prstGeom>
          <a:noFill/>
          <a:ln/>
        </p:spPr>
        <p:txBody>
          <a:bodyPr wrap="square" lIns="0" tIns="0" rIns="0" bIns="0" rtlCol="0" anchor="ctr"/>
          <a:lstStyle/>
          <a:p>
            <a:pPr indent="0" marL="0">
              <a:lnSpc>
                <a:spcPct val="100000"/>
              </a:lnSpc>
              <a:buNone/>
            </a:pPr>
            <a:r>
              <a:rPr lang="en-US" sz="5600" b="1" dirty="0">
                <a:solidFill>
                  <a:srgbClr val="FFFFFF"/>
                </a:solidFill>
                <a:latin typeface="Trebuchet MS" pitchFamily="34" charset="0"/>
                <a:ea typeface="Trebuchet MS" pitchFamily="34" charset="-122"/>
                <a:cs typeface="Trebuchet MS" pitchFamily="34" charset="-120"/>
              </a:rPr>
              <a:t>Le board se met</a:t>
            </a:r>
            <a:endParaRPr lang="en-US" sz="5600" dirty="0"/>
          </a:p>
          <a:p>
            <a:pPr indent="0" marL="0">
              <a:lnSpc>
                <a:spcPct val="100000"/>
              </a:lnSpc>
              <a:buNone/>
            </a:pPr>
            <a:r>
              <a:rPr lang="en-US" sz="5600" b="1" dirty="0">
                <a:solidFill>
                  <a:srgbClr val="FFFFFF"/>
                </a:solidFill>
                <a:latin typeface="Trebuchet MS" pitchFamily="34" charset="0"/>
                <a:ea typeface="Trebuchet MS" pitchFamily="34" charset="-122"/>
                <a:cs typeface="Trebuchet MS" pitchFamily="34" charset="-120"/>
              </a:rPr>
              <a:t>à jour tout seul</a:t>
            </a:r>
            <a:endParaRPr lang="en-US" sz="5600" dirty="0"/>
          </a:p>
        </p:txBody>
      </p:sp>
      <p:sp>
        <p:nvSpPr>
          <p:cNvPr id="4" name="Text 2"/>
          <p:cNvSpPr/>
          <p:nvPr/>
        </p:nvSpPr>
        <p:spPr>
          <a:xfrm>
            <a:off x="868680" y="3611880"/>
            <a:ext cx="9144000" cy="457200"/>
          </a:xfrm>
          <a:prstGeom prst="rect">
            <a:avLst/>
          </a:prstGeom>
          <a:noFill/>
          <a:ln/>
        </p:spPr>
        <p:txBody>
          <a:bodyPr wrap="square" lIns="0" tIns="0" rIns="0" bIns="0" rtlCol="0" anchor="ctr"/>
          <a:lstStyle/>
          <a:p>
            <a:pPr indent="0" marL="0">
              <a:buNone/>
            </a:pPr>
            <a:r>
              <a:rPr lang="en-US" sz="2400" dirty="0">
                <a:solidFill>
                  <a:srgbClr val="C9CAE0"/>
                </a:solidFill>
                <a:latin typeface="Calibri" pitchFamily="34" charset="0"/>
                <a:ea typeface="Calibri" pitchFamily="34" charset="-122"/>
                <a:cs typeface="Calibri" pitchFamily="34" charset="-120"/>
              </a:rPr>
              <a:t>git → Linear, avec n8n en local</a:t>
            </a:r>
            <a:endParaRPr lang="en-US" sz="2400" dirty="0"/>
          </a:p>
        </p:txBody>
      </p:sp>
      <p:sp>
        <p:nvSpPr>
          <p:cNvPr id="5" name="Shape 3"/>
          <p:cNvSpPr/>
          <p:nvPr/>
        </p:nvSpPr>
        <p:spPr>
          <a:xfrm>
            <a:off x="868680" y="4846320"/>
            <a:ext cx="310896" cy="310896"/>
          </a:xfrm>
          <a:prstGeom prst="roundRect">
            <a:avLst>
              <a:gd name="adj" fmla="val 23529"/>
            </a:avLst>
          </a:prstGeom>
          <a:solidFill>
            <a:srgbClr val="EA4B71"/>
          </a:solidFill>
          <a:ln/>
        </p:spPr>
      </p:sp>
      <p:sp>
        <p:nvSpPr>
          <p:cNvPr id="6" name="Shape 4"/>
          <p:cNvSpPr/>
          <p:nvPr/>
        </p:nvSpPr>
        <p:spPr>
          <a:xfrm>
            <a:off x="1060704" y="4960620"/>
            <a:ext cx="82296" cy="82296"/>
          </a:xfrm>
          <a:prstGeom prst="ellipse">
            <a:avLst/>
          </a:prstGeom>
          <a:solidFill>
            <a:srgbClr val="FFFFFF"/>
          </a:solidFill>
          <a:ln/>
        </p:spPr>
      </p:sp>
      <p:sp>
        <p:nvSpPr>
          <p:cNvPr id="7" name="Shape 5"/>
          <p:cNvSpPr/>
          <p:nvPr/>
        </p:nvSpPr>
        <p:spPr>
          <a:xfrm>
            <a:off x="1179576" y="4988052"/>
            <a:ext cx="256032" cy="27432"/>
          </a:xfrm>
          <a:prstGeom prst="rect">
            <a:avLst/>
          </a:prstGeom>
          <a:solidFill>
            <a:srgbClr val="EA4B71"/>
          </a:solidFill>
          <a:ln/>
        </p:spPr>
      </p:sp>
      <p:sp>
        <p:nvSpPr>
          <p:cNvPr id="8" name="Shape 6"/>
          <p:cNvSpPr/>
          <p:nvPr/>
        </p:nvSpPr>
        <p:spPr>
          <a:xfrm>
            <a:off x="1435608" y="4846320"/>
            <a:ext cx="310896" cy="310896"/>
          </a:xfrm>
          <a:prstGeom prst="roundRect">
            <a:avLst>
              <a:gd name="adj" fmla="val 23529"/>
            </a:avLst>
          </a:prstGeom>
          <a:solidFill>
            <a:srgbClr val="EA4B71"/>
          </a:solidFill>
          <a:ln/>
        </p:spPr>
      </p:sp>
      <p:sp>
        <p:nvSpPr>
          <p:cNvPr id="9" name="Shape 7"/>
          <p:cNvSpPr/>
          <p:nvPr/>
        </p:nvSpPr>
        <p:spPr>
          <a:xfrm>
            <a:off x="1627632" y="4960620"/>
            <a:ext cx="82296" cy="82296"/>
          </a:xfrm>
          <a:prstGeom prst="ellipse">
            <a:avLst/>
          </a:prstGeom>
          <a:solidFill>
            <a:srgbClr val="FFFFFF"/>
          </a:solidFill>
          <a:ln/>
        </p:spPr>
      </p:sp>
      <p:sp>
        <p:nvSpPr>
          <p:cNvPr id="10" name="Shape 8"/>
          <p:cNvSpPr/>
          <p:nvPr/>
        </p:nvSpPr>
        <p:spPr>
          <a:xfrm>
            <a:off x="1746504" y="4988052"/>
            <a:ext cx="256032" cy="27432"/>
          </a:xfrm>
          <a:prstGeom prst="rect">
            <a:avLst/>
          </a:prstGeom>
          <a:solidFill>
            <a:srgbClr val="EA4B71"/>
          </a:solidFill>
          <a:ln/>
        </p:spPr>
      </p:sp>
      <p:sp>
        <p:nvSpPr>
          <p:cNvPr id="11" name="Shape 9"/>
          <p:cNvSpPr/>
          <p:nvPr/>
        </p:nvSpPr>
        <p:spPr>
          <a:xfrm>
            <a:off x="2002536" y="4846320"/>
            <a:ext cx="310896" cy="310896"/>
          </a:xfrm>
          <a:prstGeom prst="roundRect">
            <a:avLst>
              <a:gd name="adj" fmla="val 23529"/>
            </a:avLst>
          </a:prstGeom>
          <a:solidFill>
            <a:srgbClr val="EA4B71"/>
          </a:solidFill>
          <a:ln/>
        </p:spPr>
      </p:sp>
      <p:sp>
        <p:nvSpPr>
          <p:cNvPr id="12" name="Shape 10"/>
          <p:cNvSpPr/>
          <p:nvPr/>
        </p:nvSpPr>
        <p:spPr>
          <a:xfrm>
            <a:off x="2194560" y="4960620"/>
            <a:ext cx="82296" cy="82296"/>
          </a:xfrm>
          <a:prstGeom prst="ellipse">
            <a:avLst/>
          </a:prstGeom>
          <a:solidFill>
            <a:srgbClr val="FFFFFF"/>
          </a:solidFill>
          <a:ln/>
        </p:spPr>
      </p:sp>
      <p:sp>
        <p:nvSpPr>
          <p:cNvPr id="13" name="Shape 11"/>
          <p:cNvSpPr/>
          <p:nvPr/>
        </p:nvSpPr>
        <p:spPr>
          <a:xfrm>
            <a:off x="2313432" y="4988052"/>
            <a:ext cx="256032" cy="27432"/>
          </a:xfrm>
          <a:prstGeom prst="rect">
            <a:avLst/>
          </a:prstGeom>
          <a:solidFill>
            <a:srgbClr val="EA4B71"/>
          </a:solidFill>
          <a:ln/>
        </p:spPr>
      </p:sp>
      <p:sp>
        <p:nvSpPr>
          <p:cNvPr id="14" name="Shape 12"/>
          <p:cNvSpPr/>
          <p:nvPr/>
        </p:nvSpPr>
        <p:spPr>
          <a:xfrm>
            <a:off x="2569464" y="4846320"/>
            <a:ext cx="310896" cy="310896"/>
          </a:xfrm>
          <a:prstGeom prst="roundRect">
            <a:avLst>
              <a:gd name="adj" fmla="val 23529"/>
            </a:avLst>
          </a:prstGeom>
          <a:solidFill>
            <a:srgbClr val="EA4B71"/>
          </a:solidFill>
          <a:ln/>
        </p:spPr>
      </p:sp>
      <p:sp>
        <p:nvSpPr>
          <p:cNvPr id="15" name="Shape 13"/>
          <p:cNvSpPr/>
          <p:nvPr/>
        </p:nvSpPr>
        <p:spPr>
          <a:xfrm>
            <a:off x="2761488" y="4960620"/>
            <a:ext cx="82296" cy="82296"/>
          </a:xfrm>
          <a:prstGeom prst="ellipse">
            <a:avLst/>
          </a:prstGeom>
          <a:solidFill>
            <a:srgbClr val="FFFFFF"/>
          </a:solidFill>
          <a:ln/>
        </p:spPr>
      </p:sp>
      <p:sp>
        <p:nvSpPr>
          <p:cNvPr id="16" name="Shape 14"/>
          <p:cNvSpPr/>
          <p:nvPr/>
        </p:nvSpPr>
        <p:spPr>
          <a:xfrm>
            <a:off x="2880360" y="4988052"/>
            <a:ext cx="256032" cy="27432"/>
          </a:xfrm>
          <a:prstGeom prst="rect">
            <a:avLst/>
          </a:prstGeom>
          <a:solidFill>
            <a:srgbClr val="EA4B71"/>
          </a:solidFill>
          <a:ln/>
        </p:spPr>
      </p:sp>
      <p:sp>
        <p:nvSpPr>
          <p:cNvPr id="17" name="Shape 15"/>
          <p:cNvSpPr/>
          <p:nvPr/>
        </p:nvSpPr>
        <p:spPr>
          <a:xfrm>
            <a:off x="3136392" y="4846320"/>
            <a:ext cx="310896" cy="310896"/>
          </a:xfrm>
          <a:prstGeom prst="roundRect">
            <a:avLst>
              <a:gd name="adj" fmla="val 23529"/>
            </a:avLst>
          </a:prstGeom>
          <a:solidFill>
            <a:srgbClr val="EA4B71"/>
          </a:solidFill>
          <a:ln/>
        </p:spPr>
      </p:sp>
      <p:sp>
        <p:nvSpPr>
          <p:cNvPr id="18" name="Shape 16"/>
          <p:cNvSpPr/>
          <p:nvPr/>
        </p:nvSpPr>
        <p:spPr>
          <a:xfrm>
            <a:off x="3328416" y="4960620"/>
            <a:ext cx="82296" cy="82296"/>
          </a:xfrm>
          <a:prstGeom prst="ellipse">
            <a:avLst/>
          </a:prstGeom>
          <a:solidFill>
            <a:srgbClr val="FFFFFF"/>
          </a:solidFill>
          <a:ln/>
        </p:spPr>
      </p:sp>
      <p:sp>
        <p:nvSpPr>
          <p:cNvPr id="19" name="Text 17"/>
          <p:cNvSpPr/>
          <p:nvPr/>
        </p:nvSpPr>
        <p:spPr>
          <a:xfrm>
            <a:off x="868680" y="5669280"/>
            <a:ext cx="9144000" cy="365760"/>
          </a:xfrm>
          <a:prstGeom prst="rect">
            <a:avLst/>
          </a:prstGeom>
          <a:noFill/>
          <a:ln/>
        </p:spPr>
        <p:txBody>
          <a:bodyPr wrap="square" lIns="0" tIns="0" rIns="0" bIns="0" rtlCol="0" anchor="ctr"/>
          <a:lstStyle/>
          <a:p>
            <a:pPr indent="0" marL="0">
              <a:buNone/>
            </a:pPr>
            <a:r>
              <a:rPr lang="en-US" sz="1400" dirty="0">
                <a:solidFill>
                  <a:srgbClr val="9FA0BE"/>
                </a:solidFill>
                <a:latin typeface="Calibri" pitchFamily="34" charset="0"/>
                <a:ea typeface="Calibri" pitchFamily="34" charset="-122"/>
                <a:cs typeface="Calibri" pitchFamily="34" charset="-120"/>
              </a:rPr>
              <a:t>Parfait Ahouanto</a:t>
            </a:r>
            <a:endParaRPr lang="en-US" sz="1400" dirty="0"/>
          </a:p>
        </p:txBody>
      </p:sp>
      <p:sp>
        <p:nvSpPr>
          <p:cNvPr id="21" name="Shape 18"/>
          <p:cNvSpPr/>
          <p:nvPr/>
        </p:nvSpPr>
        <p:spPr>
          <a:xfrm>
            <a:off x="868680" y="6217920"/>
            <a:ext cx="10680192" cy="18288"/>
          </a:xfrm>
          <a:prstGeom prst="rect">
            <a:avLst/>
          </a:prstGeom>
          <a:solidFill>
            <a:srgbClr val="2A2E52"/>
          </a:solidFill>
          <a:ln/>
        </p:spPr>
      </p:sp>
      <p:sp>
        <p:nvSpPr>
          <p:cNvPr id="22" name="Text 19"/>
          <p:cNvSpPr/>
          <p:nvPr/>
        </p:nvSpPr>
        <p:spPr>
          <a:xfrm>
            <a:off x="868680" y="6309360"/>
            <a:ext cx="9034272" cy="274320"/>
          </a:xfrm>
          <a:prstGeom prst="rect">
            <a:avLst/>
          </a:prstGeom>
          <a:noFill/>
          <a:ln/>
        </p:spPr>
        <p:txBody>
          <a:bodyPr wrap="square" lIns="0" tIns="0" rIns="0" bIns="0" rtlCol="0" anchor="ctr"/>
          <a:lstStyle/>
          <a:p>
            <a:pPr indent="0" marL="0">
              <a:buNone/>
            </a:pPr>
            <a:r>
              <a:rPr lang="en-US" sz="1100" dirty="0">
                <a:solidFill>
                  <a:srgbClr val="9FA0BE"/>
                </a:solidFill>
                <a:latin typeface="Calibri" pitchFamily="34" charset="0"/>
                <a:ea typeface="Calibri" pitchFamily="34" charset="-122"/>
                <a:cs typeface="Calibri" pitchFamily="34" charset="-120"/>
              </a:rPr>
              <a:t>git → Linear  ·  n8n en local</a:t>
            </a:r>
            <a:endParaRPr lang="en-US" sz="1100" dirty="0"/>
          </a:p>
        </p:txBody>
      </p:sp>
      <p:sp>
        <p:nvSpPr>
          <p:cNvPr id="23" name="Text 20"/>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EA4B71"/>
                </a:solidFill>
                <a:latin typeface="Calibri" pitchFamily="34" charset="0"/>
                <a:ea typeface="Calibri" pitchFamily="34" charset="-122"/>
                <a:cs typeface="Calibri" pitchFamily="34" charset="-120"/>
              </a:rPr>
              <a:t>1 / 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LE PROBLÈME</a:t>
            </a:r>
            <a:endParaRPr lang="en-US" sz="1300" dirty="0"/>
          </a:p>
        </p:txBody>
      </p:sp>
      <p:sp>
        <p:nvSpPr>
          <p:cNvPr id="5" name="Text 3"/>
          <p:cNvSpPr/>
          <p:nvPr/>
        </p:nvSpPr>
        <p:spPr>
          <a:xfrm>
            <a:off x="640080" y="1188720"/>
            <a:ext cx="10908792" cy="777240"/>
          </a:xfrm>
          <a:prstGeom prst="rect">
            <a:avLst/>
          </a:prstGeom>
          <a:noFill/>
          <a:ln/>
        </p:spPr>
        <p:txBody>
          <a:bodyPr wrap="square" lIns="0" tIns="0" rIns="0" bIns="0" rtlCol="0" anchor="ctr"/>
          <a:lstStyle/>
          <a:p>
            <a:pPr indent="0" marL="0">
              <a:buNone/>
            </a:pPr>
            <a:r>
              <a:rPr lang="en-US" sz="4400" b="1" dirty="0">
                <a:solidFill>
                  <a:srgbClr val="1A1A2E"/>
                </a:solidFill>
                <a:latin typeface="Trebuchet MS" pitchFamily="34" charset="0"/>
                <a:ea typeface="Trebuchet MS" pitchFamily="34" charset="-122"/>
                <a:cs typeface="Trebuchet MS" pitchFamily="34" charset="-120"/>
              </a:rPr>
              <a:t>Le board ment</a:t>
            </a:r>
            <a:endParaRPr lang="en-US" sz="4400" dirty="0"/>
          </a:p>
        </p:txBody>
      </p:sp>
      <p:sp>
        <p:nvSpPr>
          <p:cNvPr id="6" name="Shape 4"/>
          <p:cNvSpPr/>
          <p:nvPr/>
        </p:nvSpPr>
        <p:spPr>
          <a:xfrm>
            <a:off x="640080" y="2286000"/>
            <a:ext cx="10908792" cy="1627632"/>
          </a:xfrm>
          <a:prstGeom prst="roundRect">
            <a:avLst>
              <a:gd name="adj" fmla="val 5618"/>
            </a:avLst>
          </a:prstGeom>
          <a:solidFill>
            <a:srgbClr val="F4F4F6"/>
          </a:solidFill>
          <a:ln/>
        </p:spPr>
      </p:sp>
      <p:sp>
        <p:nvSpPr>
          <p:cNvPr id="7" name="Shape 5"/>
          <p:cNvSpPr/>
          <p:nvPr/>
        </p:nvSpPr>
        <p:spPr>
          <a:xfrm>
            <a:off x="640080" y="2395728"/>
            <a:ext cx="91440" cy="1408176"/>
          </a:xfrm>
          <a:prstGeom prst="rect">
            <a:avLst/>
          </a:prstGeom>
          <a:solidFill>
            <a:srgbClr val="EA4B71"/>
          </a:solidFill>
          <a:ln/>
        </p:spPr>
      </p:sp>
      <p:sp>
        <p:nvSpPr>
          <p:cNvPr id="8" name="Text 6"/>
          <p:cNvSpPr/>
          <p:nvPr/>
        </p:nvSpPr>
        <p:spPr>
          <a:xfrm>
            <a:off x="1097280" y="2523744"/>
            <a:ext cx="10085832" cy="1188720"/>
          </a:xfrm>
          <a:prstGeom prst="rect">
            <a:avLst/>
          </a:prstGeom>
          <a:noFill/>
          <a:ln/>
        </p:spPr>
        <p:txBody>
          <a:bodyPr wrap="square" lIns="0" tIns="0" rIns="0" bIns="0" rtlCol="0" anchor="ctr"/>
          <a:lstStyle/>
          <a:p>
            <a:pPr indent="0" marL="0">
              <a:lnSpc>
                <a:spcPct val="115000"/>
              </a:lnSpc>
              <a:buNone/>
            </a:pPr>
            <a:r>
              <a:rPr lang="en-US" sz="3000" b="1" dirty="0">
                <a:solidFill>
                  <a:srgbClr val="1A1A2E"/>
                </a:solidFill>
                <a:latin typeface="Trebuchet MS" pitchFamily="34" charset="0"/>
                <a:ea typeface="Trebuchet MS" pitchFamily="34" charset="-122"/>
                <a:cs typeface="Trebuchet MS" pitchFamily="34" charset="-120"/>
              </a:rPr>
              <a:t>« Ce board reflète-t-il ce sur quoi</a:t>
            </a:r>
            <a:endParaRPr lang="en-US" sz="3000" dirty="0"/>
          </a:p>
          <a:p>
            <a:pPr indent="0" marL="0">
              <a:lnSpc>
                <a:spcPct val="115000"/>
              </a:lnSpc>
              <a:buNone/>
            </a:pPr>
            <a:r>
              <a:rPr lang="en-US" sz="3000" b="1" dirty="0">
                <a:solidFill>
                  <a:srgbClr val="1A1A2E"/>
                </a:solidFill>
                <a:latin typeface="Trebuchet MS" pitchFamily="34" charset="0"/>
                <a:ea typeface="Trebuchet MS" pitchFamily="34" charset="-122"/>
                <a:cs typeface="Trebuchet MS" pitchFamily="34" charset="-120"/>
              </a:rPr>
              <a:t>on travaille en ce moment ? »</a:t>
            </a:r>
            <a:endParaRPr lang="en-US" sz="3000" dirty="0"/>
          </a:p>
        </p:txBody>
      </p:sp>
      <p:sp>
        <p:nvSpPr>
          <p:cNvPr id="9" name="Text 7"/>
          <p:cNvSpPr/>
          <p:nvPr/>
        </p:nvSpPr>
        <p:spPr>
          <a:xfrm>
            <a:off x="640080" y="4078224"/>
            <a:ext cx="10908792" cy="365760"/>
          </a:xfrm>
          <a:prstGeom prst="rect">
            <a:avLst/>
          </a:prstGeom>
          <a:noFill/>
          <a:ln/>
        </p:spPr>
        <p:txBody>
          <a:bodyPr wrap="square" lIns="0" tIns="0" rIns="0" bIns="0" rtlCol="0" anchor="ctr"/>
          <a:lstStyle/>
          <a:p>
            <a:pPr indent="0" marL="0">
              <a:buNone/>
            </a:pPr>
            <a:r>
              <a:rPr lang="en-US" sz="1600" i="1" dirty="0">
                <a:solidFill>
                  <a:srgbClr val="5C5C6E"/>
                </a:solidFill>
                <a:latin typeface="Calibri" pitchFamily="34" charset="0"/>
                <a:ea typeface="Calibri" pitchFamily="34" charset="-122"/>
                <a:cs typeface="Calibri" pitchFamily="34" charset="-120"/>
              </a:rPr>
              <a:t>Poser la question. Laisser le silence répondre.</a:t>
            </a:r>
            <a:endParaRPr lang="en-US" sz="1600" dirty="0"/>
          </a:p>
        </p:txBody>
      </p:sp>
      <p:sp>
        <p:nvSpPr>
          <p:cNvPr id="10" name="Text 8"/>
          <p:cNvSpPr/>
          <p:nvPr/>
        </p:nvSpPr>
        <p:spPr>
          <a:xfrm>
            <a:off x="640080" y="4709160"/>
            <a:ext cx="713232" cy="868680"/>
          </a:xfrm>
          <a:prstGeom prst="rect">
            <a:avLst/>
          </a:prstGeom>
          <a:noFill/>
          <a:ln/>
        </p:spPr>
        <p:txBody>
          <a:bodyPr wrap="square" lIns="0" tIns="0" rIns="0" bIns="0" rtlCol="0" anchor="ctr"/>
          <a:lstStyle/>
          <a:p>
            <a:pPr indent="0" marL="0">
              <a:buNone/>
            </a:pPr>
            <a:r>
              <a:rPr lang="en-US" sz="5400" b="1" dirty="0">
                <a:solidFill>
                  <a:srgbClr val="EA4B71"/>
                </a:solidFill>
                <a:latin typeface="Trebuchet MS" pitchFamily="34" charset="0"/>
                <a:ea typeface="Trebuchet MS" pitchFamily="34" charset="-122"/>
                <a:cs typeface="Trebuchet MS" pitchFamily="34" charset="-120"/>
              </a:rPr>
              <a:t>3</a:t>
            </a:r>
            <a:endParaRPr lang="en-US" sz="5400" dirty="0"/>
          </a:p>
        </p:txBody>
      </p:sp>
      <p:sp>
        <p:nvSpPr>
          <p:cNvPr id="11" name="Text 9"/>
          <p:cNvSpPr/>
          <p:nvPr/>
        </p:nvSpPr>
        <p:spPr>
          <a:xfrm>
            <a:off x="1426464" y="4983480"/>
            <a:ext cx="4485132" cy="45720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tickets en Todo</a:t>
            </a:r>
            <a:endParaRPr lang="en-US" sz="1700" dirty="0"/>
          </a:p>
        </p:txBody>
      </p:sp>
      <p:sp>
        <p:nvSpPr>
          <p:cNvPr id="12" name="Text 10"/>
          <p:cNvSpPr/>
          <p:nvPr/>
        </p:nvSpPr>
        <p:spPr>
          <a:xfrm>
            <a:off x="6094476" y="4709160"/>
            <a:ext cx="713232" cy="868680"/>
          </a:xfrm>
          <a:prstGeom prst="rect">
            <a:avLst/>
          </a:prstGeom>
          <a:noFill/>
          <a:ln/>
        </p:spPr>
        <p:txBody>
          <a:bodyPr wrap="square" lIns="0" tIns="0" rIns="0" bIns="0" rtlCol="0" anchor="ctr"/>
          <a:lstStyle/>
          <a:p>
            <a:pPr indent="0" marL="0">
              <a:buNone/>
            </a:pPr>
            <a:r>
              <a:rPr lang="en-US" sz="5400" b="1" dirty="0">
                <a:solidFill>
                  <a:srgbClr val="EA4B71"/>
                </a:solidFill>
                <a:latin typeface="Trebuchet MS" pitchFamily="34" charset="0"/>
                <a:ea typeface="Trebuchet MS" pitchFamily="34" charset="-122"/>
                <a:cs typeface="Trebuchet MS" pitchFamily="34" charset="-120"/>
              </a:rPr>
              <a:t>0</a:t>
            </a:r>
            <a:endParaRPr lang="en-US" sz="5400" dirty="0"/>
          </a:p>
        </p:txBody>
      </p:sp>
      <p:sp>
        <p:nvSpPr>
          <p:cNvPr id="13" name="Text 11"/>
          <p:cNvSpPr/>
          <p:nvPr/>
        </p:nvSpPr>
        <p:spPr>
          <a:xfrm>
            <a:off x="6880860" y="4983480"/>
            <a:ext cx="4485132" cy="45720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ligne de code restant à écrire</a:t>
            </a:r>
            <a:endParaRPr lang="en-US" sz="1700" dirty="0"/>
          </a:p>
        </p:txBody>
      </p:sp>
      <p:sp>
        <p:nvSpPr>
          <p:cNvPr id="15" name="Shape 12"/>
          <p:cNvSpPr/>
          <p:nvPr/>
        </p:nvSpPr>
        <p:spPr>
          <a:xfrm>
            <a:off x="640080" y="6217920"/>
            <a:ext cx="10908792" cy="18288"/>
          </a:xfrm>
          <a:prstGeom prst="rect">
            <a:avLst/>
          </a:prstGeom>
          <a:solidFill>
            <a:srgbClr val="E2E2E8"/>
          </a:solidFill>
          <a:ln/>
        </p:spPr>
      </p:sp>
      <p:sp>
        <p:nvSpPr>
          <p:cNvPr id="16" name="Text 13"/>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La douleur</a:t>
            </a:r>
            <a:endParaRPr lang="en-US" sz="1100" dirty="0"/>
          </a:p>
        </p:txBody>
      </p:sp>
      <p:sp>
        <p:nvSpPr>
          <p:cNvPr id="17" name="Text 14"/>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2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LA VRAIE RAISON</a:t>
            </a:r>
            <a:endParaRPr lang="en-US" sz="1300" dirty="0"/>
          </a:p>
        </p:txBody>
      </p:sp>
      <p:sp>
        <p:nvSpPr>
          <p:cNvPr id="5" name="Text 3"/>
          <p:cNvSpPr/>
          <p:nvPr/>
        </p:nvSpPr>
        <p:spPr>
          <a:xfrm>
            <a:off x="640080" y="1188720"/>
            <a:ext cx="10908792" cy="777240"/>
          </a:xfrm>
          <a:prstGeom prst="rect">
            <a:avLst/>
          </a:prstGeom>
          <a:noFill/>
          <a:ln/>
        </p:spPr>
        <p:txBody>
          <a:bodyPr wrap="square" lIns="0" tIns="0" rIns="0" bIns="0" rtlCol="0" anchor="ctr"/>
          <a:lstStyle/>
          <a:p>
            <a:pPr indent="0" marL="0">
              <a:buNone/>
            </a:pPr>
            <a:r>
              <a:rPr lang="en-US" sz="4400" b="1" dirty="0">
                <a:solidFill>
                  <a:srgbClr val="1A1A2E"/>
                </a:solidFill>
                <a:latin typeface="Trebuchet MS" pitchFamily="34" charset="0"/>
                <a:ea typeface="Trebuchet MS" pitchFamily="34" charset="-122"/>
                <a:cs typeface="Trebuchet MS" pitchFamily="34" charset="-120"/>
              </a:rPr>
              <a:t>Ce n’est pas de la négligence</a:t>
            </a:r>
            <a:endParaRPr lang="en-US" sz="4400" dirty="0"/>
          </a:p>
        </p:txBody>
      </p:sp>
      <p:sp>
        <p:nvSpPr>
          <p:cNvPr id="6" name="Text 4"/>
          <p:cNvSpPr/>
          <p:nvPr/>
        </p:nvSpPr>
        <p:spPr>
          <a:xfrm>
            <a:off x="640080" y="2286000"/>
            <a:ext cx="6720840" cy="1463040"/>
          </a:xfrm>
          <a:prstGeom prst="rect">
            <a:avLst/>
          </a:prstGeom>
          <a:noFill/>
          <a:ln/>
        </p:spPr>
        <p:txBody>
          <a:bodyPr wrap="square" lIns="0" tIns="0" rIns="0" bIns="0" rtlCol="0" anchor="ctr"/>
          <a:lstStyle/>
          <a:p>
            <a:pPr indent="0" marL="0">
              <a:lnSpc>
                <a:spcPct val="115000"/>
              </a:lnSpc>
              <a:buNone/>
            </a:pPr>
            <a:r>
              <a:rPr lang="en-US" sz="2600" b="1" dirty="0">
                <a:solidFill>
                  <a:srgbClr val="B8304F"/>
                </a:solidFill>
                <a:latin typeface="Trebuchet MS" pitchFamily="34" charset="0"/>
                <a:ea typeface="Trebuchet MS" pitchFamily="34" charset="-122"/>
                <a:cs typeface="Trebuchet MS" pitchFamily="34" charset="-120"/>
              </a:rPr>
              <a:t>« Déplacer une carte n’apporte rien d’immédiat</a:t>
            </a:r>
            <a:endParaRPr lang="en-US" sz="2600" dirty="0"/>
          </a:p>
          <a:p>
            <a:pPr indent="0" marL="0">
              <a:lnSpc>
                <a:spcPct val="115000"/>
              </a:lnSpc>
              <a:buNone/>
            </a:pPr>
            <a:r>
              <a:rPr lang="en-US" sz="2600" b="1" dirty="0">
                <a:solidFill>
                  <a:srgbClr val="B8304F"/>
                </a:solidFill>
                <a:latin typeface="Trebuchet MS" pitchFamily="34" charset="0"/>
                <a:ea typeface="Trebuchet MS" pitchFamily="34" charset="-122"/>
                <a:cs typeface="Trebuchet MS" pitchFamily="34" charset="-120"/>
              </a:rPr>
              <a:t>à celui qui la déplace. »</a:t>
            </a:r>
            <a:endParaRPr lang="en-US" sz="2600" dirty="0"/>
          </a:p>
        </p:txBody>
      </p:sp>
      <p:sp>
        <p:nvSpPr>
          <p:cNvPr id="7" name="Text 5"/>
          <p:cNvSpPr/>
          <p:nvPr/>
        </p:nvSpPr>
        <p:spPr>
          <a:xfrm>
            <a:off x="640080" y="3950208"/>
            <a:ext cx="6492240" cy="1371600"/>
          </a:xfrm>
          <a:prstGeom prst="rect">
            <a:avLst/>
          </a:prstGeom>
          <a:noFill/>
          <a:ln/>
        </p:spPr>
        <p:txBody>
          <a:bodyPr wrap="square" lIns="0" tIns="0" rIns="0" bIns="0" rtlCol="0" anchor="ctr"/>
          <a:lstStyle/>
          <a:p>
            <a:pPr indent="0" marL="0">
              <a:lnSpc>
                <a:spcPct val="130000"/>
              </a:lnSpc>
              <a:buNone/>
            </a:pPr>
            <a:r>
              <a:rPr lang="en-US" sz="1600" dirty="0">
                <a:solidFill>
                  <a:srgbClr val="1A1A2E"/>
                </a:solidFill>
                <a:latin typeface="Calibri" pitchFamily="34" charset="0"/>
                <a:ea typeface="Calibri" pitchFamily="34" charset="-122"/>
                <a:cs typeface="Calibri" pitchFamily="34" charset="-120"/>
              </a:rPr>
              <a:t>Le développeur commence une tâche. Le ticket, lui, ne bouge pas. Parfois il n’existe même pas encore. Le chef de projet n’a alors aucune idée de ce qui se passe réellement.</a:t>
            </a:r>
            <a:endParaRPr lang="en-US" sz="1600" dirty="0"/>
          </a:p>
        </p:txBody>
      </p:sp>
      <p:sp>
        <p:nvSpPr>
          <p:cNvPr id="8" name="Shape 6"/>
          <p:cNvSpPr/>
          <p:nvPr/>
        </p:nvSpPr>
        <p:spPr>
          <a:xfrm>
            <a:off x="7635240" y="2286000"/>
            <a:ext cx="3913632" cy="3063240"/>
          </a:xfrm>
          <a:prstGeom prst="roundRect">
            <a:avLst>
              <a:gd name="adj" fmla="val 3582"/>
            </a:avLst>
          </a:prstGeom>
          <a:solidFill>
            <a:srgbClr val="F4F4F6"/>
          </a:solidFill>
          <a:ln/>
        </p:spPr>
      </p:sp>
      <p:sp>
        <p:nvSpPr>
          <p:cNvPr id="9" name="Text 7"/>
          <p:cNvSpPr/>
          <p:nvPr/>
        </p:nvSpPr>
        <p:spPr>
          <a:xfrm>
            <a:off x="8019288" y="2578608"/>
            <a:ext cx="3108960" cy="274320"/>
          </a:xfrm>
          <a:prstGeom prst="rect">
            <a:avLst/>
          </a:prstGeom>
          <a:noFill/>
          <a:ln/>
        </p:spPr>
        <p:txBody>
          <a:bodyPr wrap="square" lIns="0" tIns="0" rIns="0" bIns="0" rtlCol="0" anchor="ctr"/>
          <a:lstStyle/>
          <a:p>
            <a:pPr indent="0" marL="0">
              <a:buNone/>
            </a:pPr>
            <a:r>
              <a:rPr lang="en-US" sz="1200" b="1" spc="300" kern="0" dirty="0">
                <a:solidFill>
                  <a:srgbClr val="5C5C6E"/>
                </a:solidFill>
                <a:latin typeface="Calibri" pitchFamily="34" charset="0"/>
                <a:ea typeface="Calibri" pitchFamily="34" charset="-122"/>
                <a:cs typeface="Calibri" pitchFamily="34" charset="-120"/>
              </a:rPr>
              <a:t>QUI PAIE</a:t>
            </a:r>
            <a:endParaRPr lang="en-US" sz="1200" dirty="0"/>
          </a:p>
        </p:txBody>
      </p:sp>
      <p:sp>
        <p:nvSpPr>
          <p:cNvPr id="10" name="Text 8"/>
          <p:cNvSpPr/>
          <p:nvPr/>
        </p:nvSpPr>
        <p:spPr>
          <a:xfrm>
            <a:off x="8019288" y="2871216"/>
            <a:ext cx="3108960" cy="402336"/>
          </a:xfrm>
          <a:prstGeom prst="rect">
            <a:avLst/>
          </a:prstGeom>
          <a:noFill/>
          <a:ln/>
        </p:spPr>
        <p:txBody>
          <a:bodyPr wrap="square" lIns="0" tIns="0" rIns="0" bIns="0" rtlCol="0" anchor="ctr"/>
          <a:lstStyle/>
          <a:p>
            <a:pPr indent="0" marL="0">
              <a:buNone/>
            </a:pPr>
            <a:r>
              <a:rPr lang="en-US" sz="2100" b="1" dirty="0">
                <a:solidFill>
                  <a:srgbClr val="1A1A2E"/>
                </a:solidFill>
                <a:latin typeface="Trebuchet MS" pitchFamily="34" charset="0"/>
                <a:ea typeface="Trebuchet MS" pitchFamily="34" charset="-122"/>
                <a:cs typeface="Trebuchet MS" pitchFamily="34" charset="-120"/>
              </a:rPr>
              <a:t>le développeur</a:t>
            </a:r>
            <a:endParaRPr lang="en-US" sz="2100" dirty="0"/>
          </a:p>
        </p:txBody>
      </p:sp>
      <p:sp>
        <p:nvSpPr>
          <p:cNvPr id="11" name="Shape 9"/>
          <p:cNvSpPr/>
          <p:nvPr/>
        </p:nvSpPr>
        <p:spPr>
          <a:xfrm>
            <a:off x="8019288" y="3493008"/>
            <a:ext cx="3145536" cy="18288"/>
          </a:xfrm>
          <a:prstGeom prst="rect">
            <a:avLst/>
          </a:prstGeom>
          <a:solidFill>
            <a:srgbClr val="D2D2DC"/>
          </a:solidFill>
          <a:ln/>
        </p:spPr>
      </p:sp>
      <p:sp>
        <p:nvSpPr>
          <p:cNvPr id="12" name="Text 10"/>
          <p:cNvSpPr/>
          <p:nvPr/>
        </p:nvSpPr>
        <p:spPr>
          <a:xfrm>
            <a:off x="8019288" y="3712464"/>
            <a:ext cx="3108960" cy="274320"/>
          </a:xfrm>
          <a:prstGeom prst="rect">
            <a:avLst/>
          </a:prstGeom>
          <a:noFill/>
          <a:ln/>
        </p:spPr>
        <p:txBody>
          <a:bodyPr wrap="square" lIns="0" tIns="0" rIns="0" bIns="0" rtlCol="0" anchor="ctr"/>
          <a:lstStyle/>
          <a:p>
            <a:pPr indent="0" marL="0">
              <a:buNone/>
            </a:pPr>
            <a:r>
              <a:rPr lang="en-US" sz="1200" b="1" spc="300" kern="0" dirty="0">
                <a:solidFill>
                  <a:srgbClr val="5C5C6E"/>
                </a:solidFill>
                <a:latin typeface="Calibri" pitchFamily="34" charset="0"/>
                <a:ea typeface="Calibri" pitchFamily="34" charset="-122"/>
                <a:cs typeface="Calibri" pitchFamily="34" charset="-120"/>
              </a:rPr>
              <a:t>QUI EN PROFITE</a:t>
            </a:r>
            <a:endParaRPr lang="en-US" sz="1200" dirty="0"/>
          </a:p>
        </p:txBody>
      </p:sp>
      <p:sp>
        <p:nvSpPr>
          <p:cNvPr id="13" name="Text 11"/>
          <p:cNvSpPr/>
          <p:nvPr/>
        </p:nvSpPr>
        <p:spPr>
          <a:xfrm>
            <a:off x="8019288" y="4005072"/>
            <a:ext cx="3108960" cy="402336"/>
          </a:xfrm>
          <a:prstGeom prst="rect">
            <a:avLst/>
          </a:prstGeom>
          <a:noFill/>
          <a:ln/>
        </p:spPr>
        <p:txBody>
          <a:bodyPr wrap="square" lIns="0" tIns="0" rIns="0" bIns="0" rtlCol="0" anchor="ctr"/>
          <a:lstStyle/>
          <a:p>
            <a:pPr indent="0" marL="0">
              <a:buNone/>
            </a:pPr>
            <a:r>
              <a:rPr lang="en-US" sz="2100" b="1" dirty="0">
                <a:solidFill>
                  <a:srgbClr val="B8304F"/>
                </a:solidFill>
                <a:latin typeface="Trebuchet MS" pitchFamily="34" charset="0"/>
                <a:ea typeface="Trebuchet MS" pitchFamily="34" charset="-122"/>
                <a:cs typeface="Trebuchet MS" pitchFamily="34" charset="-120"/>
              </a:rPr>
              <a:t>le chef de projet</a:t>
            </a:r>
            <a:endParaRPr lang="en-US" sz="2100" dirty="0"/>
          </a:p>
        </p:txBody>
      </p:sp>
      <p:sp>
        <p:nvSpPr>
          <p:cNvPr id="14" name="Text 12"/>
          <p:cNvSpPr/>
          <p:nvPr/>
        </p:nvSpPr>
        <p:spPr>
          <a:xfrm>
            <a:off x="8019288" y="4553712"/>
            <a:ext cx="3145536" cy="640080"/>
          </a:xfrm>
          <a:prstGeom prst="rect">
            <a:avLst/>
          </a:prstGeom>
          <a:noFill/>
          <a:ln/>
        </p:spPr>
        <p:txBody>
          <a:bodyPr wrap="square" lIns="0" tIns="0" rIns="0" bIns="0" rtlCol="0" anchor="ctr"/>
          <a:lstStyle/>
          <a:p>
            <a:pPr indent="0" marL="0">
              <a:lnSpc>
                <a:spcPct val="120000"/>
              </a:lnSpc>
              <a:buNone/>
            </a:pPr>
            <a:r>
              <a:rPr lang="en-US" sz="1350" i="1" dirty="0">
                <a:solidFill>
                  <a:srgbClr val="5C5C6E"/>
                </a:solidFill>
                <a:latin typeface="Calibri" pitchFamily="34" charset="0"/>
                <a:ea typeface="Calibri" pitchFamily="34" charset="-122"/>
                <a:cs typeface="Calibri" pitchFamily="34" charset="-120"/>
              </a:rPr>
              <a:t>Suivre l’avancement, évaluer la charge de chacun, savoir qui est disponible : utile, mais jamais pour celui qui déplace la carte.</a:t>
            </a:r>
            <a:endParaRPr lang="en-US" sz="1350" dirty="0"/>
          </a:p>
        </p:txBody>
      </p:sp>
      <p:sp>
        <p:nvSpPr>
          <p:cNvPr id="16" name="Shape 13"/>
          <p:cNvSpPr/>
          <p:nvPr/>
        </p:nvSpPr>
        <p:spPr>
          <a:xfrm>
            <a:off x="640080" y="6217920"/>
            <a:ext cx="10908792" cy="18288"/>
          </a:xfrm>
          <a:prstGeom prst="rect">
            <a:avLst/>
          </a:prstGeom>
          <a:solidFill>
            <a:srgbClr val="E2E2E8"/>
          </a:solidFill>
          <a:ln/>
        </p:spPr>
      </p:sp>
      <p:sp>
        <p:nvSpPr>
          <p:cNvPr id="17" name="Text 14"/>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La vraie raison</a:t>
            </a:r>
            <a:endParaRPr lang="en-US" sz="1100" dirty="0"/>
          </a:p>
        </p:txBody>
      </p:sp>
      <p:sp>
        <p:nvSpPr>
          <p:cNvPr id="18" name="Text 15"/>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3 /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4B71"/>
        </a:solidFill>
      </p:bgPr>
    </p:bg>
    <p:spTree>
      <p:nvGrpSpPr>
        <p:cNvPr id="1" name=""/>
        <p:cNvGrpSpPr/>
        <p:nvPr/>
      </p:nvGrpSpPr>
      <p:grpSpPr>
        <a:xfrm>
          <a:off x="0" y="0"/>
          <a:ext cx="0" cy="0"/>
          <a:chOff x="0" y="0"/>
          <a:chExt cx="0" cy="0"/>
        </a:xfrm>
      </p:grpSpPr>
      <p:sp>
        <p:nvSpPr>
          <p:cNvPr id="2" name="Shape 0"/>
          <p:cNvSpPr/>
          <p:nvPr/>
        </p:nvSpPr>
        <p:spPr>
          <a:xfrm>
            <a:off x="9034272" y="2258568"/>
            <a:ext cx="32004" cy="393192"/>
          </a:xfrm>
          <a:prstGeom prst="rect">
            <a:avLst/>
          </a:prstGeom>
          <a:solidFill>
            <a:srgbClr val="F59CB2"/>
          </a:solidFill>
          <a:ln/>
        </p:spPr>
      </p:sp>
      <p:sp>
        <p:nvSpPr>
          <p:cNvPr id="3" name="Shape 1"/>
          <p:cNvSpPr/>
          <p:nvPr/>
        </p:nvSpPr>
        <p:spPr>
          <a:xfrm>
            <a:off x="9034272" y="3218688"/>
            <a:ext cx="32004" cy="393192"/>
          </a:xfrm>
          <a:prstGeom prst="rect">
            <a:avLst/>
          </a:prstGeom>
          <a:solidFill>
            <a:srgbClr val="F59CB2"/>
          </a:solidFill>
          <a:ln/>
        </p:spPr>
      </p:sp>
      <p:sp>
        <p:nvSpPr>
          <p:cNvPr id="4" name="Shape 2"/>
          <p:cNvSpPr/>
          <p:nvPr/>
        </p:nvSpPr>
        <p:spPr>
          <a:xfrm>
            <a:off x="9034272" y="4178808"/>
            <a:ext cx="32004" cy="393192"/>
          </a:xfrm>
          <a:prstGeom prst="rect">
            <a:avLst/>
          </a:prstGeom>
          <a:solidFill>
            <a:srgbClr val="F59CB2"/>
          </a:solidFill>
          <a:ln/>
        </p:spPr>
      </p:sp>
      <p:sp>
        <p:nvSpPr>
          <p:cNvPr id="5" name="Shape 3"/>
          <p:cNvSpPr/>
          <p:nvPr/>
        </p:nvSpPr>
        <p:spPr>
          <a:xfrm>
            <a:off x="9345168" y="2916936"/>
            <a:ext cx="722376" cy="32004"/>
          </a:xfrm>
          <a:prstGeom prst="rect">
            <a:avLst/>
          </a:prstGeom>
          <a:solidFill>
            <a:srgbClr val="F59CB2"/>
          </a:solidFill>
          <a:ln/>
        </p:spPr>
      </p:sp>
      <p:sp>
        <p:nvSpPr>
          <p:cNvPr id="6" name="Shape 4"/>
          <p:cNvSpPr/>
          <p:nvPr/>
        </p:nvSpPr>
        <p:spPr>
          <a:xfrm>
            <a:off x="8778240" y="1691640"/>
            <a:ext cx="566928" cy="566928"/>
          </a:xfrm>
          <a:prstGeom prst="roundRect">
            <a:avLst>
              <a:gd name="adj" fmla="val 12903"/>
            </a:avLst>
          </a:prstGeom>
          <a:solidFill>
            <a:srgbClr val="F59CB2"/>
          </a:solidFill>
          <a:ln/>
        </p:spPr>
      </p:sp>
      <p:sp>
        <p:nvSpPr>
          <p:cNvPr id="7" name="Shape 5"/>
          <p:cNvSpPr/>
          <p:nvPr/>
        </p:nvSpPr>
        <p:spPr>
          <a:xfrm>
            <a:off x="9226296" y="1933956"/>
            <a:ext cx="82296" cy="82296"/>
          </a:xfrm>
          <a:prstGeom prst="ellipse">
            <a:avLst/>
          </a:prstGeom>
          <a:solidFill>
            <a:srgbClr val="B8304F"/>
          </a:solidFill>
          <a:ln/>
        </p:spPr>
      </p:sp>
      <p:sp>
        <p:nvSpPr>
          <p:cNvPr id="8" name="Shape 6"/>
          <p:cNvSpPr/>
          <p:nvPr/>
        </p:nvSpPr>
        <p:spPr>
          <a:xfrm>
            <a:off x="8778240" y="2651760"/>
            <a:ext cx="566928" cy="566928"/>
          </a:xfrm>
          <a:prstGeom prst="roundRect">
            <a:avLst>
              <a:gd name="adj" fmla="val 12903"/>
            </a:avLst>
          </a:prstGeom>
          <a:solidFill>
            <a:srgbClr val="F59CB2"/>
          </a:solidFill>
          <a:ln/>
        </p:spPr>
      </p:sp>
      <p:sp>
        <p:nvSpPr>
          <p:cNvPr id="9" name="Shape 7"/>
          <p:cNvSpPr/>
          <p:nvPr/>
        </p:nvSpPr>
        <p:spPr>
          <a:xfrm>
            <a:off x="9226296" y="2894076"/>
            <a:ext cx="82296" cy="82296"/>
          </a:xfrm>
          <a:prstGeom prst="ellipse">
            <a:avLst/>
          </a:prstGeom>
          <a:solidFill>
            <a:srgbClr val="B8304F"/>
          </a:solidFill>
          <a:ln/>
        </p:spPr>
      </p:sp>
      <p:sp>
        <p:nvSpPr>
          <p:cNvPr id="10" name="Shape 8"/>
          <p:cNvSpPr/>
          <p:nvPr/>
        </p:nvSpPr>
        <p:spPr>
          <a:xfrm>
            <a:off x="8778240" y="3611880"/>
            <a:ext cx="566928" cy="566928"/>
          </a:xfrm>
          <a:prstGeom prst="roundRect">
            <a:avLst>
              <a:gd name="adj" fmla="val 12903"/>
            </a:avLst>
          </a:prstGeom>
          <a:solidFill>
            <a:srgbClr val="F59CB2"/>
          </a:solidFill>
          <a:ln/>
        </p:spPr>
      </p:sp>
      <p:sp>
        <p:nvSpPr>
          <p:cNvPr id="11" name="Shape 9"/>
          <p:cNvSpPr/>
          <p:nvPr/>
        </p:nvSpPr>
        <p:spPr>
          <a:xfrm>
            <a:off x="9226296" y="3854196"/>
            <a:ext cx="82296" cy="82296"/>
          </a:xfrm>
          <a:prstGeom prst="ellipse">
            <a:avLst/>
          </a:prstGeom>
          <a:solidFill>
            <a:srgbClr val="B8304F"/>
          </a:solidFill>
          <a:ln/>
        </p:spPr>
      </p:sp>
      <p:sp>
        <p:nvSpPr>
          <p:cNvPr id="12" name="Shape 10"/>
          <p:cNvSpPr/>
          <p:nvPr/>
        </p:nvSpPr>
        <p:spPr>
          <a:xfrm>
            <a:off x="8778240" y="4572000"/>
            <a:ext cx="566928" cy="566928"/>
          </a:xfrm>
          <a:prstGeom prst="roundRect">
            <a:avLst>
              <a:gd name="adj" fmla="val 12903"/>
            </a:avLst>
          </a:prstGeom>
          <a:solidFill>
            <a:srgbClr val="F59CB2"/>
          </a:solidFill>
          <a:ln/>
        </p:spPr>
      </p:sp>
      <p:sp>
        <p:nvSpPr>
          <p:cNvPr id="13" name="Shape 11"/>
          <p:cNvSpPr/>
          <p:nvPr/>
        </p:nvSpPr>
        <p:spPr>
          <a:xfrm>
            <a:off x="9226296" y="4814316"/>
            <a:ext cx="82296" cy="82296"/>
          </a:xfrm>
          <a:prstGeom prst="ellipse">
            <a:avLst/>
          </a:prstGeom>
          <a:solidFill>
            <a:srgbClr val="B8304F"/>
          </a:solidFill>
          <a:ln/>
        </p:spPr>
      </p:sp>
      <p:sp>
        <p:nvSpPr>
          <p:cNvPr id="14" name="Shape 12"/>
          <p:cNvSpPr/>
          <p:nvPr/>
        </p:nvSpPr>
        <p:spPr>
          <a:xfrm>
            <a:off x="10067544" y="2651760"/>
            <a:ext cx="566928" cy="566928"/>
          </a:xfrm>
          <a:prstGeom prst="roundRect">
            <a:avLst>
              <a:gd name="adj" fmla="val 12903"/>
            </a:avLst>
          </a:prstGeom>
          <a:solidFill>
            <a:srgbClr val="F59CB2"/>
          </a:solidFill>
          <a:ln/>
        </p:spPr>
      </p:sp>
      <p:sp>
        <p:nvSpPr>
          <p:cNvPr id="15" name="Shape 13"/>
          <p:cNvSpPr/>
          <p:nvPr/>
        </p:nvSpPr>
        <p:spPr>
          <a:xfrm>
            <a:off x="10515600" y="2894076"/>
            <a:ext cx="82296" cy="82296"/>
          </a:xfrm>
          <a:prstGeom prst="ellipse">
            <a:avLst/>
          </a:prstGeom>
          <a:solidFill>
            <a:srgbClr val="B8304F"/>
          </a:solidFill>
          <a:ln/>
        </p:spPr>
      </p:sp>
      <p:sp>
        <p:nvSpPr>
          <p:cNvPr id="16" name="Text 14"/>
          <p:cNvSpPr/>
          <p:nvPr/>
        </p:nvSpPr>
        <p:spPr>
          <a:xfrm>
            <a:off x="640080" y="1188720"/>
            <a:ext cx="7315200" cy="320040"/>
          </a:xfrm>
          <a:prstGeom prst="rect">
            <a:avLst/>
          </a:prstGeom>
          <a:noFill/>
          <a:ln/>
        </p:spPr>
        <p:txBody>
          <a:bodyPr wrap="square" lIns="0" tIns="0" rIns="0" bIns="0" rtlCol="0" anchor="ctr"/>
          <a:lstStyle/>
          <a:p>
            <a:pPr indent="0" marL="0">
              <a:buNone/>
            </a:pPr>
            <a:r>
              <a:rPr lang="en-US" sz="1400" b="1" spc="400" kern="0" dirty="0">
                <a:solidFill>
                  <a:srgbClr val="101330"/>
                </a:solidFill>
                <a:latin typeface="Calibri" pitchFamily="34" charset="0"/>
                <a:ea typeface="Calibri" pitchFamily="34" charset="-122"/>
                <a:cs typeface="Calibri" pitchFamily="34" charset="-120"/>
              </a:rPr>
              <a:t>LA PROMESSE</a:t>
            </a:r>
            <a:endParaRPr lang="en-US" sz="1400" dirty="0"/>
          </a:p>
        </p:txBody>
      </p:sp>
      <p:sp>
        <p:nvSpPr>
          <p:cNvPr id="17" name="Text 15"/>
          <p:cNvSpPr/>
          <p:nvPr/>
        </p:nvSpPr>
        <p:spPr>
          <a:xfrm>
            <a:off x="640080" y="1755648"/>
            <a:ext cx="7680960" cy="219456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Le board se met à jour</a:t>
            </a:r>
            <a:endParaRPr lang="en-US" sz="3400" dirty="0"/>
          </a:p>
          <a:p>
            <a:pPr indent="0" marL="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à partir de la seule chose</a:t>
            </a:r>
            <a:endParaRPr lang="en-US" sz="3400" dirty="0"/>
          </a:p>
          <a:p>
            <a:pPr indent="0" marL="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qu’un développeur fait toujours</a:t>
            </a:r>
            <a:endParaRPr lang="en-US" sz="3400" dirty="0"/>
          </a:p>
        </p:txBody>
      </p:sp>
      <p:sp>
        <p:nvSpPr>
          <p:cNvPr id="18" name="Text 16"/>
          <p:cNvSpPr/>
          <p:nvPr/>
        </p:nvSpPr>
        <p:spPr>
          <a:xfrm>
            <a:off x="640080" y="4069080"/>
            <a:ext cx="7680960" cy="1188720"/>
          </a:xfrm>
          <a:prstGeom prst="rect">
            <a:avLst/>
          </a:prstGeom>
          <a:noFill/>
          <a:ln/>
        </p:spPr>
        <p:txBody>
          <a:bodyPr wrap="square" lIns="0" tIns="0" rIns="0" bIns="0" rtlCol="0" anchor="ctr"/>
          <a:lstStyle/>
          <a:p>
            <a:pPr indent="0" marL="0">
              <a:buNone/>
            </a:pPr>
            <a:r>
              <a:rPr lang="en-US" sz="8400" b="1" dirty="0">
                <a:solidFill>
                  <a:srgbClr val="FFFFFF"/>
                </a:solidFill>
                <a:latin typeface="Trebuchet MS" pitchFamily="34" charset="0"/>
                <a:ea typeface="Trebuchet MS" pitchFamily="34" charset="-122"/>
                <a:cs typeface="Trebuchet MS" pitchFamily="34" charset="-120"/>
              </a:rPr>
              <a:t>commiter</a:t>
            </a:r>
            <a:endParaRPr lang="en-US" sz="8400" dirty="0"/>
          </a:p>
        </p:txBody>
      </p:sp>
      <p:sp>
        <p:nvSpPr>
          <p:cNvPr id="20" name="Shape 17"/>
          <p:cNvSpPr/>
          <p:nvPr/>
        </p:nvSpPr>
        <p:spPr>
          <a:xfrm>
            <a:off x="640080" y="6217920"/>
            <a:ext cx="10908792" cy="18288"/>
          </a:xfrm>
          <a:prstGeom prst="rect">
            <a:avLst/>
          </a:prstGeom>
          <a:solidFill>
            <a:srgbClr val="F288A2"/>
          </a:solidFill>
          <a:ln/>
        </p:spPr>
      </p:sp>
      <p:sp>
        <p:nvSpPr>
          <p:cNvPr id="21" name="Text 18"/>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101330"/>
                </a:solidFill>
                <a:latin typeface="Calibri" pitchFamily="34" charset="0"/>
                <a:ea typeface="Calibri" pitchFamily="34" charset="-122"/>
                <a:cs typeface="Calibri" pitchFamily="34" charset="-120"/>
              </a:rPr>
              <a:t>La promesse</a:t>
            </a:r>
            <a:endParaRPr lang="en-US" sz="1100" dirty="0"/>
          </a:p>
        </p:txBody>
      </p:sp>
      <p:sp>
        <p:nvSpPr>
          <p:cNvPr id="22" name="Text 19"/>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101330"/>
                </a:solidFill>
                <a:latin typeface="Calibri" pitchFamily="34" charset="0"/>
                <a:ea typeface="Calibri" pitchFamily="34" charset="-122"/>
                <a:cs typeface="Calibri" pitchFamily="34" charset="-120"/>
              </a:rPr>
              <a:t>4 / 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651760" cy="6858000"/>
          </a:xfrm>
          <a:prstGeom prst="rect">
            <a:avLst/>
          </a:prstGeom>
          <a:solidFill>
            <a:srgbClr val="EA4B71"/>
          </a:solidFill>
          <a:ln/>
        </p:spPr>
      </p:sp>
      <p:sp>
        <p:nvSpPr>
          <p:cNvPr id="3" name="Text 1"/>
          <p:cNvSpPr/>
          <p:nvPr/>
        </p:nvSpPr>
        <p:spPr>
          <a:xfrm>
            <a:off x="0" y="2057400"/>
            <a:ext cx="2651760" cy="2011680"/>
          </a:xfrm>
          <a:prstGeom prst="rect">
            <a:avLst/>
          </a:prstGeom>
          <a:noFill/>
          <a:ln/>
        </p:spPr>
        <p:txBody>
          <a:bodyPr wrap="square" lIns="0" tIns="0" rIns="0" bIns="0" rtlCol="0" anchor="t"/>
          <a:lstStyle/>
          <a:p>
            <a:pPr algn="ctr" indent="0" marL="0">
              <a:buNone/>
            </a:pPr>
            <a:r>
              <a:rPr lang="en-US" sz="10400" b="1" dirty="0">
                <a:solidFill>
                  <a:srgbClr val="FFFFFF"/>
                </a:solidFill>
                <a:latin typeface="Trebuchet MS" pitchFamily="34" charset="0"/>
                <a:ea typeface="Trebuchet MS" pitchFamily="34" charset="-122"/>
                <a:cs typeface="Trebuchet MS" pitchFamily="34" charset="-120"/>
              </a:rPr>
              <a:t>01</a:t>
            </a:r>
            <a:endParaRPr lang="en-US" sz="10400" dirty="0"/>
          </a:p>
          <a:p>
            <a:pPr algn="ctr" indent="0" marL="0">
              <a:buNone/>
            </a:pPr>
            <a:r>
              <a:rPr lang="en-US" sz="1500" b="1" spc="400" kern="0" dirty="0">
                <a:solidFill>
                  <a:srgbClr val="FFFFFF"/>
                </a:solidFill>
                <a:latin typeface="Calibri" pitchFamily="34" charset="0"/>
                <a:ea typeface="Calibri" pitchFamily="34" charset="-122"/>
                <a:cs typeface="Calibri" pitchFamily="34" charset="-120"/>
              </a:rPr>
              <a:t>DÉMO</a:t>
            </a:r>
            <a:endParaRPr lang="en-US" sz="10400" dirty="0"/>
          </a:p>
        </p:txBody>
      </p:sp>
      <p:sp>
        <p:nvSpPr>
          <p:cNvPr id="4" name="Text 2"/>
          <p:cNvSpPr/>
          <p:nvPr/>
        </p:nvSpPr>
        <p:spPr>
          <a:xfrm>
            <a:off x="3291840" y="1188720"/>
            <a:ext cx="8257032" cy="868680"/>
          </a:xfrm>
          <a:prstGeom prst="rect">
            <a:avLst/>
          </a:prstGeom>
          <a:noFill/>
          <a:ln/>
        </p:spPr>
        <p:txBody>
          <a:bodyPr wrap="square" lIns="0" tIns="0" rIns="0" bIns="0" rtlCol="0" anchor="ctr"/>
          <a:lstStyle/>
          <a:p>
            <a:pPr indent="0" marL="0">
              <a:buNone/>
            </a:pPr>
            <a:r>
              <a:rPr lang="en-US" sz="4200" b="1" dirty="0">
                <a:solidFill>
                  <a:srgbClr val="1A1A2E"/>
                </a:solidFill>
                <a:latin typeface="Trebuchet MS" pitchFamily="34" charset="0"/>
                <a:ea typeface="Trebuchet MS" pitchFamily="34" charset="-122"/>
                <a:cs typeface="Trebuchet MS" pitchFamily="34" charset="-120"/>
              </a:rPr>
              <a:t>Le cas simple</a:t>
            </a:r>
            <a:endParaRPr lang="en-US" sz="4200" dirty="0"/>
          </a:p>
        </p:txBody>
      </p:sp>
      <p:sp>
        <p:nvSpPr>
          <p:cNvPr id="5" name="Text 3"/>
          <p:cNvSpPr/>
          <p:nvPr/>
        </p:nvSpPr>
        <p:spPr>
          <a:xfrm>
            <a:off x="3291840" y="2130552"/>
            <a:ext cx="8257032" cy="868680"/>
          </a:xfrm>
          <a:prstGeom prst="rect">
            <a:avLst/>
          </a:prstGeom>
          <a:noFill/>
          <a:ln/>
        </p:spPr>
        <p:txBody>
          <a:bodyPr wrap="square" lIns="0" tIns="0" rIns="0" bIns="0" rtlCol="0" anchor="ctr"/>
          <a:lstStyle/>
          <a:p>
            <a:pPr indent="0" marL="0">
              <a:lnSpc>
                <a:spcPct val="120000"/>
              </a:lnSpc>
              <a:buNone/>
            </a:pPr>
            <a:r>
              <a:rPr lang="en-US" sz="1900" i="1" dirty="0">
                <a:solidFill>
                  <a:srgbClr val="5C5C6E"/>
                </a:solidFill>
                <a:latin typeface="Calibri" pitchFamily="34" charset="0"/>
                <a:ea typeface="Calibri" pitchFamily="34" charset="-122"/>
                <a:cs typeface="Calibri" pitchFamily="34" charset="-120"/>
              </a:rPr>
              <a:t>L’identifiant du ticket est déjà dans le nom de la branche.</a:t>
            </a:r>
            <a:endParaRPr lang="en-US" sz="1900" dirty="0"/>
          </a:p>
        </p:txBody>
      </p:sp>
      <p:sp>
        <p:nvSpPr>
          <p:cNvPr id="6" name="Text 4"/>
          <p:cNvSpPr/>
          <p:nvPr/>
        </p:nvSpPr>
        <p:spPr>
          <a:xfrm>
            <a:off x="3291840" y="3127248"/>
            <a:ext cx="8257032" cy="548640"/>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feat/ALO-42-relance-paiement  →  ALO-42 passe en In Progress</a:t>
            </a:r>
            <a:endParaRPr lang="en-US" sz="1600" dirty="0"/>
          </a:p>
        </p:txBody>
      </p:sp>
      <p:sp>
        <p:nvSpPr>
          <p:cNvPr id="7" name="Shape 5"/>
          <p:cNvSpPr/>
          <p:nvPr/>
        </p:nvSpPr>
        <p:spPr>
          <a:xfrm>
            <a:off x="3291840" y="4187952"/>
            <a:ext cx="8257032" cy="1371600"/>
          </a:xfrm>
          <a:prstGeom prst="roundRect">
            <a:avLst>
              <a:gd name="adj" fmla="val 6667"/>
            </a:avLst>
          </a:prstGeom>
          <a:solidFill>
            <a:srgbClr val="F4F4F6"/>
          </a:solidFill>
          <a:ln/>
        </p:spPr>
      </p:sp>
      <p:sp>
        <p:nvSpPr>
          <p:cNvPr id="8" name="Shape 6"/>
          <p:cNvSpPr/>
          <p:nvPr/>
        </p:nvSpPr>
        <p:spPr>
          <a:xfrm>
            <a:off x="3291840" y="4297680"/>
            <a:ext cx="91440" cy="1152144"/>
          </a:xfrm>
          <a:prstGeom prst="rect">
            <a:avLst/>
          </a:prstGeom>
          <a:solidFill>
            <a:srgbClr val="EA4B71"/>
          </a:solidFill>
          <a:ln/>
        </p:spPr>
      </p:sp>
      <p:sp>
        <p:nvSpPr>
          <p:cNvPr id="9" name="Text 7"/>
          <p:cNvSpPr/>
          <p:nvPr/>
        </p:nvSpPr>
        <p:spPr>
          <a:xfrm>
            <a:off x="3749040" y="4370832"/>
            <a:ext cx="7434072" cy="347472"/>
          </a:xfrm>
          <a:prstGeom prst="rect">
            <a:avLst/>
          </a:prstGeom>
          <a:noFill/>
          <a:ln/>
        </p:spPr>
        <p:txBody>
          <a:bodyPr wrap="square" lIns="0" tIns="0" rIns="0" bIns="0" rtlCol="0" anchor="ctr"/>
          <a:lstStyle/>
          <a:p>
            <a:pPr indent="0" marL="0">
              <a:buNone/>
            </a:pPr>
            <a:r>
              <a:rPr lang="en-US" sz="1700" b="1" dirty="0">
                <a:solidFill>
                  <a:srgbClr val="B8304F"/>
                </a:solidFill>
                <a:latin typeface="Trebuchet MS" pitchFamily="34" charset="0"/>
                <a:ea typeface="Trebuchet MS" pitchFamily="34" charset="-122"/>
                <a:cs typeface="Trebuchet MS" pitchFamily="34" charset="-120"/>
              </a:rPr>
              <a:t>Aucune IA ici</a:t>
            </a:r>
            <a:endParaRPr lang="en-US" sz="1700" dirty="0"/>
          </a:p>
        </p:txBody>
      </p:sp>
      <p:sp>
        <p:nvSpPr>
          <p:cNvPr id="10" name="Text 8"/>
          <p:cNvSpPr/>
          <p:nvPr/>
        </p:nvSpPr>
        <p:spPr>
          <a:xfrm>
            <a:off x="3749040" y="4736592"/>
            <a:ext cx="7434072" cy="640080"/>
          </a:xfrm>
          <a:prstGeom prst="rect">
            <a:avLst/>
          </a:prstGeom>
          <a:noFill/>
          <a:ln/>
        </p:spPr>
        <p:txBody>
          <a:bodyPr wrap="square" lIns="0" tIns="0" rIns="0" bIns="0" rtlCol="0" anchor="ctr"/>
          <a:lstStyle/>
          <a:p>
            <a:pPr indent="0" marL="0">
              <a:lnSpc>
                <a:spcPct val="120000"/>
              </a:lnSpc>
              <a:buNone/>
            </a:pPr>
            <a:r>
              <a:rPr lang="en-US" sz="1450" dirty="0">
                <a:solidFill>
                  <a:srgbClr val="1A1A2E"/>
                </a:solidFill>
                <a:latin typeface="Calibri" pitchFamily="34" charset="0"/>
                <a:ea typeface="Calibri" pitchFamily="34" charset="-122"/>
                <a:cs typeface="Calibri" pitchFamily="34" charset="-120"/>
              </a:rPr>
              <a:t>n8n lit la branche, trouve la référence, met le ticket à jour. Instantané et gratuit.</a:t>
            </a:r>
            <a:endParaRPr lang="en-US" sz="1450" dirty="0"/>
          </a:p>
          <a:p>
            <a:pPr indent="0" marL="0">
              <a:lnSpc>
                <a:spcPct val="120000"/>
              </a:lnSpc>
              <a:buNone/>
            </a:pPr>
            <a:r>
              <a:rPr lang="en-US" sz="1450" dirty="0">
                <a:solidFill>
                  <a:srgbClr val="1A1A2E"/>
                </a:solidFill>
                <a:latin typeface="Calibri" pitchFamily="34" charset="0"/>
                <a:ea typeface="Calibri" pitchFamily="34" charset="-122"/>
                <a:cs typeface="Calibri" pitchFamily="34" charset="-120"/>
              </a:rPr>
              <a:t>Montrer que la base fonctionne sans magie rend la suite crédible.</a:t>
            </a:r>
            <a:endParaRPr lang="en-US" sz="1450" dirty="0"/>
          </a:p>
        </p:txBody>
      </p:sp>
      <p:sp>
        <p:nvSpPr>
          <p:cNvPr id="12" name="Shape 9"/>
          <p:cNvSpPr/>
          <p:nvPr/>
        </p:nvSpPr>
        <p:spPr>
          <a:xfrm>
            <a:off x="3291840" y="6217920"/>
            <a:ext cx="8257032" cy="18288"/>
          </a:xfrm>
          <a:prstGeom prst="rect">
            <a:avLst/>
          </a:prstGeom>
          <a:solidFill>
            <a:srgbClr val="E2E2E8"/>
          </a:solidFill>
          <a:ln/>
        </p:spPr>
      </p:sp>
      <p:sp>
        <p:nvSpPr>
          <p:cNvPr id="13" name="Text 10"/>
          <p:cNvSpPr/>
          <p:nvPr/>
        </p:nvSpPr>
        <p:spPr>
          <a:xfrm>
            <a:off x="3291840" y="6309360"/>
            <a:ext cx="661111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Démo 1, le cas simple</a:t>
            </a:r>
            <a:endParaRPr lang="en-US" sz="1100" dirty="0"/>
          </a:p>
        </p:txBody>
      </p:sp>
      <p:sp>
        <p:nvSpPr>
          <p:cNvPr id="14" name="Text 11"/>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5 / 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651760" cy="6858000"/>
          </a:xfrm>
          <a:prstGeom prst="rect">
            <a:avLst/>
          </a:prstGeom>
          <a:solidFill>
            <a:srgbClr val="EA4B71"/>
          </a:solidFill>
          <a:ln/>
        </p:spPr>
      </p:sp>
      <p:sp>
        <p:nvSpPr>
          <p:cNvPr id="3" name="Text 1"/>
          <p:cNvSpPr/>
          <p:nvPr/>
        </p:nvSpPr>
        <p:spPr>
          <a:xfrm>
            <a:off x="0" y="2057400"/>
            <a:ext cx="2651760" cy="2011680"/>
          </a:xfrm>
          <a:prstGeom prst="rect">
            <a:avLst/>
          </a:prstGeom>
          <a:noFill/>
          <a:ln/>
        </p:spPr>
        <p:txBody>
          <a:bodyPr wrap="square" lIns="0" tIns="0" rIns="0" bIns="0" rtlCol="0" anchor="t"/>
          <a:lstStyle/>
          <a:p>
            <a:pPr algn="ctr" indent="0" marL="0">
              <a:buNone/>
            </a:pPr>
            <a:r>
              <a:rPr lang="en-US" sz="10400" b="1" dirty="0">
                <a:solidFill>
                  <a:srgbClr val="FFFFFF"/>
                </a:solidFill>
                <a:latin typeface="Trebuchet MS" pitchFamily="34" charset="0"/>
                <a:ea typeface="Trebuchet MS" pitchFamily="34" charset="-122"/>
                <a:cs typeface="Trebuchet MS" pitchFamily="34" charset="-120"/>
              </a:rPr>
              <a:t>02</a:t>
            </a:r>
            <a:endParaRPr lang="en-US" sz="10400" dirty="0"/>
          </a:p>
          <a:p>
            <a:pPr algn="ctr" indent="0" marL="0">
              <a:buNone/>
            </a:pPr>
            <a:r>
              <a:rPr lang="en-US" sz="1500" b="1" spc="400" kern="0" dirty="0">
                <a:solidFill>
                  <a:srgbClr val="FFFFFF"/>
                </a:solidFill>
                <a:latin typeface="Calibri" pitchFamily="34" charset="0"/>
                <a:ea typeface="Calibri" pitchFamily="34" charset="-122"/>
                <a:cs typeface="Calibri" pitchFamily="34" charset="-120"/>
              </a:rPr>
              <a:t>DÉMO</a:t>
            </a:r>
            <a:endParaRPr lang="en-US" sz="10400" dirty="0"/>
          </a:p>
        </p:txBody>
      </p:sp>
      <p:sp>
        <p:nvSpPr>
          <p:cNvPr id="4" name="Text 2"/>
          <p:cNvSpPr/>
          <p:nvPr/>
        </p:nvSpPr>
        <p:spPr>
          <a:xfrm>
            <a:off x="3291840" y="1188720"/>
            <a:ext cx="8257032" cy="868680"/>
          </a:xfrm>
          <a:prstGeom prst="rect">
            <a:avLst/>
          </a:prstGeom>
          <a:noFill/>
          <a:ln/>
        </p:spPr>
        <p:txBody>
          <a:bodyPr wrap="square" lIns="0" tIns="0" rIns="0" bIns="0" rtlCol="0" anchor="ctr"/>
          <a:lstStyle/>
          <a:p>
            <a:pPr indent="0" marL="0">
              <a:buNone/>
            </a:pPr>
            <a:r>
              <a:rPr lang="en-US" sz="4200" b="1" dirty="0">
                <a:solidFill>
                  <a:srgbClr val="1A1A2E"/>
                </a:solidFill>
                <a:latin typeface="Trebuchet MS" pitchFamily="34" charset="0"/>
                <a:ea typeface="Trebuchet MS" pitchFamily="34" charset="-122"/>
                <a:cs typeface="Trebuchet MS" pitchFamily="34" charset="-120"/>
              </a:rPr>
              <a:t>Le suivi continu</a:t>
            </a:r>
            <a:endParaRPr lang="en-US" sz="4200" dirty="0"/>
          </a:p>
        </p:txBody>
      </p:sp>
      <p:sp>
        <p:nvSpPr>
          <p:cNvPr id="5" name="Text 3"/>
          <p:cNvSpPr/>
          <p:nvPr/>
        </p:nvSpPr>
        <p:spPr>
          <a:xfrm>
            <a:off x="3291840" y="2130552"/>
            <a:ext cx="8257032" cy="868680"/>
          </a:xfrm>
          <a:prstGeom prst="rect">
            <a:avLst/>
          </a:prstGeom>
          <a:noFill/>
          <a:ln/>
        </p:spPr>
        <p:txBody>
          <a:bodyPr wrap="square" lIns="0" tIns="0" rIns="0" bIns="0" rtlCol="0" anchor="ctr"/>
          <a:lstStyle/>
          <a:p>
            <a:pPr indent="0" marL="0">
              <a:lnSpc>
                <a:spcPct val="120000"/>
              </a:lnSpc>
              <a:buNone/>
            </a:pPr>
            <a:r>
              <a:rPr lang="en-US" sz="1900" i="1" dirty="0">
                <a:solidFill>
                  <a:srgbClr val="5C5C6E"/>
                </a:solidFill>
                <a:latin typeface="Calibri" pitchFamily="34" charset="0"/>
                <a:ea typeface="Calibri" pitchFamily="34" charset="-122"/>
                <a:cs typeface="Calibri" pitchFamily="34" charset="-120"/>
              </a:rPr>
              <a:t>Plusieurs commits sur le même ticket, sans jamais le fermer soi-même.</a:t>
            </a:r>
            <a:endParaRPr lang="en-US" sz="1900" dirty="0"/>
          </a:p>
        </p:txBody>
      </p:sp>
      <p:sp>
        <p:nvSpPr>
          <p:cNvPr id="6" name="Text 4"/>
          <p:cNvSpPr/>
          <p:nvPr/>
        </p:nvSpPr>
        <p:spPr>
          <a:xfrm>
            <a:off x="3291840" y="3127248"/>
            <a:ext cx="8257032" cy="548640"/>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git-sync  →  chaque commit ajoute un commentaire, le ticket reste In Progress</a:t>
            </a:r>
            <a:endParaRPr lang="en-US" sz="1600" dirty="0"/>
          </a:p>
        </p:txBody>
      </p:sp>
      <p:sp>
        <p:nvSpPr>
          <p:cNvPr id="7" name="Shape 5"/>
          <p:cNvSpPr/>
          <p:nvPr/>
        </p:nvSpPr>
        <p:spPr>
          <a:xfrm>
            <a:off x="3291840" y="4187952"/>
            <a:ext cx="8257032" cy="1371600"/>
          </a:xfrm>
          <a:prstGeom prst="roundRect">
            <a:avLst>
              <a:gd name="adj" fmla="val 6667"/>
            </a:avLst>
          </a:prstGeom>
          <a:solidFill>
            <a:srgbClr val="F4F4F6"/>
          </a:solidFill>
          <a:ln/>
        </p:spPr>
      </p:sp>
      <p:sp>
        <p:nvSpPr>
          <p:cNvPr id="8" name="Shape 6"/>
          <p:cNvSpPr/>
          <p:nvPr/>
        </p:nvSpPr>
        <p:spPr>
          <a:xfrm>
            <a:off x="3291840" y="4297680"/>
            <a:ext cx="91440" cy="1152144"/>
          </a:xfrm>
          <a:prstGeom prst="rect">
            <a:avLst/>
          </a:prstGeom>
          <a:solidFill>
            <a:srgbClr val="EA4B71"/>
          </a:solidFill>
          <a:ln/>
        </p:spPr>
      </p:sp>
      <p:sp>
        <p:nvSpPr>
          <p:cNvPr id="9" name="Text 7"/>
          <p:cNvSpPr/>
          <p:nvPr/>
        </p:nvSpPr>
        <p:spPr>
          <a:xfrm>
            <a:off x="3749040" y="4370832"/>
            <a:ext cx="7434072" cy="347472"/>
          </a:xfrm>
          <a:prstGeom prst="rect">
            <a:avLst/>
          </a:prstGeom>
          <a:noFill/>
          <a:ln/>
        </p:spPr>
        <p:txBody>
          <a:bodyPr wrap="square" lIns="0" tIns="0" rIns="0" bIns="0" rtlCol="0" anchor="ctr"/>
          <a:lstStyle/>
          <a:p>
            <a:pPr indent="0" marL="0">
              <a:buNone/>
            </a:pPr>
            <a:r>
              <a:rPr lang="en-US" sz="1700" b="1" dirty="0">
                <a:solidFill>
                  <a:srgbClr val="B8304F"/>
                </a:solidFill>
                <a:latin typeface="Trebuchet MS" pitchFamily="34" charset="0"/>
                <a:ea typeface="Trebuchet MS" pitchFamily="34" charset="-122"/>
                <a:cs typeface="Trebuchet MS" pitchFamily="34" charset="-120"/>
              </a:rPr>
              <a:t>Rien ne se perd</a:t>
            </a:r>
            <a:endParaRPr lang="en-US" sz="1700" dirty="0"/>
          </a:p>
        </p:txBody>
      </p:sp>
      <p:sp>
        <p:nvSpPr>
          <p:cNvPr id="10" name="Text 8"/>
          <p:cNvSpPr/>
          <p:nvPr/>
        </p:nvSpPr>
        <p:spPr>
          <a:xfrm>
            <a:off x="3749040" y="4736592"/>
            <a:ext cx="7434072" cy="640080"/>
          </a:xfrm>
          <a:prstGeom prst="rect">
            <a:avLst/>
          </a:prstGeom>
          <a:noFill/>
          <a:ln/>
        </p:spPr>
        <p:txBody>
          <a:bodyPr wrap="square" lIns="0" tIns="0" rIns="0" bIns="0" rtlCol="0" anchor="ctr"/>
          <a:lstStyle/>
          <a:p>
            <a:pPr indent="0" marL="0">
              <a:lnSpc>
                <a:spcPct val="120000"/>
              </a:lnSpc>
              <a:buNone/>
            </a:pPr>
            <a:r>
              <a:rPr lang="en-US" sz="1450" dirty="0">
                <a:solidFill>
                  <a:srgbClr val="1A1A2E"/>
                </a:solidFill>
                <a:latin typeface="Calibri" pitchFamily="34" charset="0"/>
                <a:ea typeface="Calibri" pitchFamily="34" charset="-122"/>
                <a:cs typeface="Calibri" pitchFamily="34" charset="-120"/>
              </a:rPr>
              <a:t>Chaque synchro ajoute son propre commentaire d’historique. Le ticket ne bouge que lorsque le développeur le décide explicitement.</a:t>
            </a:r>
            <a:endParaRPr lang="en-US" sz="1450" dirty="0"/>
          </a:p>
        </p:txBody>
      </p:sp>
      <p:sp>
        <p:nvSpPr>
          <p:cNvPr id="12" name="Shape 9"/>
          <p:cNvSpPr/>
          <p:nvPr/>
        </p:nvSpPr>
        <p:spPr>
          <a:xfrm>
            <a:off x="3291840" y="6217920"/>
            <a:ext cx="8257032" cy="18288"/>
          </a:xfrm>
          <a:prstGeom prst="rect">
            <a:avLst/>
          </a:prstGeom>
          <a:solidFill>
            <a:srgbClr val="E2E2E8"/>
          </a:solidFill>
          <a:ln/>
        </p:spPr>
      </p:sp>
      <p:sp>
        <p:nvSpPr>
          <p:cNvPr id="13" name="Text 10"/>
          <p:cNvSpPr/>
          <p:nvPr/>
        </p:nvSpPr>
        <p:spPr>
          <a:xfrm>
            <a:off x="3291840" y="6309360"/>
            <a:ext cx="661111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Démo 2, le suivi continu</a:t>
            </a:r>
            <a:endParaRPr lang="en-US" sz="1100" dirty="0"/>
          </a:p>
        </p:txBody>
      </p:sp>
      <p:sp>
        <p:nvSpPr>
          <p:cNvPr id="14" name="Text 11"/>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6 /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651760" cy="6858000"/>
          </a:xfrm>
          <a:prstGeom prst="rect">
            <a:avLst/>
          </a:prstGeom>
          <a:solidFill>
            <a:srgbClr val="EA4B71"/>
          </a:solidFill>
          <a:ln/>
        </p:spPr>
      </p:sp>
      <p:sp>
        <p:nvSpPr>
          <p:cNvPr id="3" name="Text 1"/>
          <p:cNvSpPr/>
          <p:nvPr/>
        </p:nvSpPr>
        <p:spPr>
          <a:xfrm>
            <a:off x="0" y="2057400"/>
            <a:ext cx="2651760" cy="2011680"/>
          </a:xfrm>
          <a:prstGeom prst="rect">
            <a:avLst/>
          </a:prstGeom>
          <a:noFill/>
          <a:ln/>
        </p:spPr>
        <p:txBody>
          <a:bodyPr wrap="square" lIns="0" tIns="0" rIns="0" bIns="0" rtlCol="0" anchor="t"/>
          <a:lstStyle/>
          <a:p>
            <a:pPr algn="ctr" indent="0" marL="0">
              <a:buNone/>
            </a:pPr>
            <a:r>
              <a:rPr lang="en-US" sz="10400" b="1" dirty="0">
                <a:solidFill>
                  <a:srgbClr val="FFFFFF"/>
                </a:solidFill>
                <a:latin typeface="Trebuchet MS" pitchFamily="34" charset="0"/>
                <a:ea typeface="Trebuchet MS" pitchFamily="34" charset="-122"/>
                <a:cs typeface="Trebuchet MS" pitchFamily="34" charset="-120"/>
              </a:rPr>
              <a:t>03</a:t>
            </a:r>
            <a:endParaRPr lang="en-US" sz="10400" dirty="0"/>
          </a:p>
          <a:p>
            <a:pPr algn="ctr" indent="0" marL="0">
              <a:buNone/>
            </a:pPr>
            <a:r>
              <a:rPr lang="en-US" sz="1500" b="1" spc="400" kern="0" dirty="0">
                <a:solidFill>
                  <a:srgbClr val="FFFFFF"/>
                </a:solidFill>
                <a:latin typeface="Calibri" pitchFamily="34" charset="0"/>
                <a:ea typeface="Calibri" pitchFamily="34" charset="-122"/>
                <a:cs typeface="Calibri" pitchFamily="34" charset="-120"/>
              </a:rPr>
              <a:t>DÉMO</a:t>
            </a:r>
            <a:endParaRPr lang="en-US" sz="10400" dirty="0"/>
          </a:p>
        </p:txBody>
      </p:sp>
      <p:sp>
        <p:nvSpPr>
          <p:cNvPr id="4" name="Text 2"/>
          <p:cNvSpPr/>
          <p:nvPr/>
        </p:nvSpPr>
        <p:spPr>
          <a:xfrm>
            <a:off x="3291840" y="1188720"/>
            <a:ext cx="8257032" cy="868680"/>
          </a:xfrm>
          <a:prstGeom prst="rect">
            <a:avLst/>
          </a:prstGeom>
          <a:noFill/>
          <a:ln/>
        </p:spPr>
        <p:txBody>
          <a:bodyPr wrap="square" lIns="0" tIns="0" rIns="0" bIns="0" rtlCol="0" anchor="ctr"/>
          <a:lstStyle/>
          <a:p>
            <a:pPr indent="0" marL="0">
              <a:buNone/>
            </a:pPr>
            <a:r>
              <a:rPr lang="en-US" sz="4200" b="1" dirty="0">
                <a:solidFill>
                  <a:srgbClr val="1A1A2E"/>
                </a:solidFill>
                <a:latin typeface="Trebuchet MS" pitchFamily="34" charset="0"/>
                <a:ea typeface="Trebuchet MS" pitchFamily="34" charset="-122"/>
                <a:cs typeface="Trebuchet MS" pitchFamily="34" charset="-120"/>
              </a:rPr>
              <a:t>Le passage en Done</a:t>
            </a:r>
            <a:endParaRPr lang="en-US" sz="4200" dirty="0"/>
          </a:p>
        </p:txBody>
      </p:sp>
      <p:sp>
        <p:nvSpPr>
          <p:cNvPr id="5" name="Text 3"/>
          <p:cNvSpPr/>
          <p:nvPr/>
        </p:nvSpPr>
        <p:spPr>
          <a:xfrm>
            <a:off x="3291840" y="2130552"/>
            <a:ext cx="8257032" cy="868680"/>
          </a:xfrm>
          <a:prstGeom prst="rect">
            <a:avLst/>
          </a:prstGeom>
          <a:noFill/>
          <a:ln/>
        </p:spPr>
        <p:txBody>
          <a:bodyPr wrap="square" lIns="0" tIns="0" rIns="0" bIns="0" rtlCol="0" anchor="ctr"/>
          <a:lstStyle/>
          <a:p>
            <a:pPr indent="0" marL="0">
              <a:lnSpc>
                <a:spcPct val="120000"/>
              </a:lnSpc>
              <a:buNone/>
            </a:pPr>
            <a:r>
              <a:rPr lang="en-US" sz="1900" i="1" dirty="0">
                <a:solidFill>
                  <a:srgbClr val="5C5C6E"/>
                </a:solidFill>
                <a:latin typeface="Calibri" pitchFamily="34" charset="0"/>
                <a:ea typeface="Calibri" pitchFamily="34" charset="-122"/>
                <a:cs typeface="Calibri" pitchFamily="34" charset="-120"/>
              </a:rPr>
              <a:t>Le mot-clé closes-all, et de vrais tests, jamais une estimation.</a:t>
            </a:r>
            <a:endParaRPr lang="en-US" sz="1900" dirty="0"/>
          </a:p>
        </p:txBody>
      </p:sp>
      <p:sp>
        <p:nvSpPr>
          <p:cNvPr id="6" name="Text 4"/>
          <p:cNvSpPr/>
          <p:nvPr/>
        </p:nvSpPr>
        <p:spPr>
          <a:xfrm>
            <a:off x="3291840" y="3127248"/>
            <a:ext cx="8257032" cy="548640"/>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git commit -m "... (closes-all)"  →  tests réels exécutés en local  →  Done</a:t>
            </a:r>
            <a:endParaRPr lang="en-US" sz="1600" dirty="0"/>
          </a:p>
        </p:txBody>
      </p:sp>
      <p:sp>
        <p:nvSpPr>
          <p:cNvPr id="7" name="Shape 5"/>
          <p:cNvSpPr/>
          <p:nvPr/>
        </p:nvSpPr>
        <p:spPr>
          <a:xfrm>
            <a:off x="3291840" y="4187952"/>
            <a:ext cx="8257032" cy="1371600"/>
          </a:xfrm>
          <a:prstGeom prst="roundRect">
            <a:avLst>
              <a:gd name="adj" fmla="val 6667"/>
            </a:avLst>
          </a:prstGeom>
          <a:solidFill>
            <a:srgbClr val="F4F4F6"/>
          </a:solidFill>
          <a:ln/>
        </p:spPr>
      </p:sp>
      <p:sp>
        <p:nvSpPr>
          <p:cNvPr id="8" name="Shape 6"/>
          <p:cNvSpPr/>
          <p:nvPr/>
        </p:nvSpPr>
        <p:spPr>
          <a:xfrm>
            <a:off x="3291840" y="4297680"/>
            <a:ext cx="91440" cy="1152144"/>
          </a:xfrm>
          <a:prstGeom prst="rect">
            <a:avLst/>
          </a:prstGeom>
          <a:solidFill>
            <a:srgbClr val="EA4B71"/>
          </a:solidFill>
          <a:ln/>
        </p:spPr>
      </p:sp>
      <p:sp>
        <p:nvSpPr>
          <p:cNvPr id="9" name="Text 7"/>
          <p:cNvSpPr/>
          <p:nvPr/>
        </p:nvSpPr>
        <p:spPr>
          <a:xfrm>
            <a:off x="3749040" y="4370832"/>
            <a:ext cx="7434072" cy="347472"/>
          </a:xfrm>
          <a:prstGeom prst="rect">
            <a:avLst/>
          </a:prstGeom>
          <a:noFill/>
          <a:ln/>
        </p:spPr>
        <p:txBody>
          <a:bodyPr wrap="square" lIns="0" tIns="0" rIns="0" bIns="0" rtlCol="0" anchor="ctr"/>
          <a:lstStyle/>
          <a:p>
            <a:pPr indent="0" marL="0">
              <a:buNone/>
            </a:pPr>
            <a:r>
              <a:rPr lang="en-US" sz="1700" b="1" dirty="0">
                <a:solidFill>
                  <a:srgbClr val="B8304F"/>
                </a:solidFill>
                <a:latin typeface="Trebuchet MS" pitchFamily="34" charset="0"/>
                <a:ea typeface="Trebuchet MS" pitchFamily="34" charset="-122"/>
                <a:cs typeface="Trebuchet MS" pitchFamily="34" charset="-120"/>
              </a:rPr>
              <a:t>Une vérification réelle, pas une supposition</a:t>
            </a:r>
            <a:endParaRPr lang="en-US" sz="1700" dirty="0"/>
          </a:p>
        </p:txBody>
      </p:sp>
      <p:sp>
        <p:nvSpPr>
          <p:cNvPr id="10" name="Text 8"/>
          <p:cNvSpPr/>
          <p:nvPr/>
        </p:nvSpPr>
        <p:spPr>
          <a:xfrm>
            <a:off x="3749040" y="4736592"/>
            <a:ext cx="7434072" cy="640080"/>
          </a:xfrm>
          <a:prstGeom prst="rect">
            <a:avLst/>
          </a:prstGeom>
          <a:noFill/>
          <a:ln/>
        </p:spPr>
        <p:txBody>
          <a:bodyPr wrap="square" lIns="0" tIns="0" rIns="0" bIns="0" rtlCol="0" anchor="ctr"/>
          <a:lstStyle/>
          <a:p>
            <a:pPr indent="0" marL="0">
              <a:lnSpc>
                <a:spcPct val="120000"/>
              </a:lnSpc>
              <a:buNone/>
            </a:pPr>
            <a:r>
              <a:rPr lang="en-US" sz="1450" dirty="0">
                <a:solidFill>
                  <a:srgbClr val="1A1A2E"/>
                </a:solidFill>
                <a:latin typeface="Calibri" pitchFamily="34" charset="0"/>
                <a:ea typeface="Calibri" pitchFamily="34" charset="-122"/>
                <a:cs typeface="Calibri" pitchFamily="34" charset="-120"/>
              </a:rPr>
              <a:t>Les tests tournent sur la machine du développeur, avant tout envoi. n8n ne lit qu’un résultat pass/fail, jamais de code, jamais de devinette.</a:t>
            </a:r>
            <a:endParaRPr lang="en-US" sz="1450" dirty="0"/>
          </a:p>
        </p:txBody>
      </p:sp>
      <p:sp>
        <p:nvSpPr>
          <p:cNvPr id="12" name="Shape 9"/>
          <p:cNvSpPr/>
          <p:nvPr/>
        </p:nvSpPr>
        <p:spPr>
          <a:xfrm>
            <a:off x="3291840" y="6217920"/>
            <a:ext cx="8257032" cy="18288"/>
          </a:xfrm>
          <a:prstGeom prst="rect">
            <a:avLst/>
          </a:prstGeom>
          <a:solidFill>
            <a:srgbClr val="E2E2E8"/>
          </a:solidFill>
          <a:ln/>
        </p:spPr>
      </p:sp>
      <p:sp>
        <p:nvSpPr>
          <p:cNvPr id="13" name="Text 10"/>
          <p:cNvSpPr/>
          <p:nvPr/>
        </p:nvSpPr>
        <p:spPr>
          <a:xfrm>
            <a:off x="3291840" y="6309360"/>
            <a:ext cx="661111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Démo 3, le passage en Done</a:t>
            </a:r>
            <a:endParaRPr lang="en-US" sz="1100" dirty="0"/>
          </a:p>
        </p:txBody>
      </p:sp>
      <p:sp>
        <p:nvSpPr>
          <p:cNvPr id="14" name="Text 11"/>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7 / 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AVANT L’ARCHITECTURE</a:t>
            </a:r>
            <a:endParaRPr lang="en-US" sz="1300" dirty="0"/>
          </a:p>
        </p:txBody>
      </p:sp>
      <p:sp>
        <p:nvSpPr>
          <p:cNvPr id="5" name="Text 3"/>
          <p:cNvSpPr/>
          <p:nvPr/>
        </p:nvSpPr>
        <p:spPr>
          <a:xfrm>
            <a:off x="640080" y="1188720"/>
            <a:ext cx="10908792" cy="713232"/>
          </a:xfrm>
          <a:prstGeom prst="rect">
            <a:avLst/>
          </a:prstGeom>
          <a:noFill/>
          <a:ln/>
        </p:spPr>
        <p:txBody>
          <a:bodyPr wrap="square" lIns="0" tIns="0" rIns="0" bIns="0" rtlCol="0" anchor="ctr"/>
          <a:lstStyle/>
          <a:p>
            <a:pPr indent="0" marL="0">
              <a:buNone/>
            </a:pPr>
            <a:r>
              <a:rPr lang="en-US" sz="4000" b="1" dirty="0">
                <a:solidFill>
                  <a:srgbClr val="1A1A2E"/>
                </a:solidFill>
                <a:latin typeface="Trebuchet MS" pitchFamily="34" charset="0"/>
                <a:ea typeface="Trebuchet MS" pitchFamily="34" charset="-122"/>
                <a:cs typeface="Trebuchet MS" pitchFamily="34" charset="-120"/>
              </a:rPr>
              <a:t>n8n, en deux mots</a:t>
            </a:r>
            <a:endParaRPr lang="en-US" sz="4000" dirty="0"/>
          </a:p>
        </p:txBody>
      </p:sp>
      <p:sp>
        <p:nvSpPr>
          <p:cNvPr id="6" name="Text 4"/>
          <p:cNvSpPr/>
          <p:nvPr/>
        </p:nvSpPr>
        <p:spPr>
          <a:xfrm>
            <a:off x="640080" y="1874520"/>
            <a:ext cx="10908792" cy="502920"/>
          </a:xfrm>
          <a:prstGeom prst="rect">
            <a:avLst/>
          </a:prstGeom>
          <a:noFill/>
          <a:ln/>
        </p:spPr>
        <p:txBody>
          <a:bodyPr wrap="square" lIns="0" tIns="0" rIns="0" bIns="0" rtlCol="0" anchor="ctr"/>
          <a:lstStyle/>
          <a:p>
            <a:pPr indent="0" marL="0">
              <a:buNone/>
            </a:pPr>
            <a:r>
              <a:rPr lang="en-US" sz="1600" dirty="0">
                <a:solidFill>
                  <a:srgbClr val="5C5C6E"/>
                </a:solidFill>
                <a:latin typeface="Calibri" pitchFamily="34" charset="0"/>
                <a:ea typeface="Calibri" pitchFamily="34" charset="-122"/>
                <a:cs typeface="Calibri" pitchFamily="34" charset="-120"/>
              </a:rPr>
              <a:t>Un workflow, c’est une suite de nœuds reliés par des flèches, qui s’exécute automatiquement à chaque déclenchement. Un outil visuel, plutôt qu’un programme classique.</a:t>
            </a:r>
            <a:endParaRPr lang="en-US" sz="1600" dirty="0"/>
          </a:p>
        </p:txBody>
      </p:sp>
      <p:sp>
        <p:nvSpPr>
          <p:cNvPr id="7" name="Shape 5"/>
          <p:cNvSpPr/>
          <p:nvPr/>
        </p:nvSpPr>
        <p:spPr>
          <a:xfrm>
            <a:off x="640080" y="2743200"/>
            <a:ext cx="310896" cy="310896"/>
          </a:xfrm>
          <a:prstGeom prst="roundRect">
            <a:avLst>
              <a:gd name="adj" fmla="val 23529"/>
            </a:avLst>
          </a:prstGeom>
          <a:solidFill>
            <a:srgbClr val="EA4B71"/>
          </a:solidFill>
          <a:ln/>
        </p:spPr>
      </p:sp>
      <p:sp>
        <p:nvSpPr>
          <p:cNvPr id="8" name="Shape 6"/>
          <p:cNvSpPr/>
          <p:nvPr/>
        </p:nvSpPr>
        <p:spPr>
          <a:xfrm>
            <a:off x="832104" y="2857500"/>
            <a:ext cx="82296" cy="82296"/>
          </a:xfrm>
          <a:prstGeom prst="ellipse">
            <a:avLst/>
          </a:prstGeom>
          <a:solidFill>
            <a:srgbClr val="FFFFFF"/>
          </a:solidFill>
          <a:ln/>
        </p:spPr>
      </p:sp>
      <p:sp>
        <p:nvSpPr>
          <p:cNvPr id="9" name="Shape 7"/>
          <p:cNvSpPr/>
          <p:nvPr/>
        </p:nvSpPr>
        <p:spPr>
          <a:xfrm>
            <a:off x="950976" y="2884932"/>
            <a:ext cx="512064" cy="27432"/>
          </a:xfrm>
          <a:prstGeom prst="rect">
            <a:avLst/>
          </a:prstGeom>
          <a:solidFill>
            <a:srgbClr val="EA4B71"/>
          </a:solidFill>
          <a:ln/>
        </p:spPr>
      </p:sp>
      <p:sp>
        <p:nvSpPr>
          <p:cNvPr id="10" name="Shape 8"/>
          <p:cNvSpPr/>
          <p:nvPr/>
        </p:nvSpPr>
        <p:spPr>
          <a:xfrm>
            <a:off x="1463040" y="2743200"/>
            <a:ext cx="310896" cy="310896"/>
          </a:xfrm>
          <a:prstGeom prst="roundRect">
            <a:avLst>
              <a:gd name="adj" fmla="val 23529"/>
            </a:avLst>
          </a:prstGeom>
          <a:solidFill>
            <a:srgbClr val="EA4B71"/>
          </a:solidFill>
          <a:ln/>
        </p:spPr>
      </p:sp>
      <p:sp>
        <p:nvSpPr>
          <p:cNvPr id="11" name="Shape 9"/>
          <p:cNvSpPr/>
          <p:nvPr/>
        </p:nvSpPr>
        <p:spPr>
          <a:xfrm>
            <a:off x="1655064" y="2857500"/>
            <a:ext cx="82296" cy="82296"/>
          </a:xfrm>
          <a:prstGeom prst="ellipse">
            <a:avLst/>
          </a:prstGeom>
          <a:solidFill>
            <a:srgbClr val="FFFFFF"/>
          </a:solidFill>
          <a:ln/>
        </p:spPr>
      </p:sp>
      <p:sp>
        <p:nvSpPr>
          <p:cNvPr id="12" name="Shape 10"/>
          <p:cNvSpPr/>
          <p:nvPr/>
        </p:nvSpPr>
        <p:spPr>
          <a:xfrm>
            <a:off x="1773936" y="2884932"/>
            <a:ext cx="512064" cy="27432"/>
          </a:xfrm>
          <a:prstGeom prst="rect">
            <a:avLst/>
          </a:prstGeom>
          <a:solidFill>
            <a:srgbClr val="EA4B71"/>
          </a:solidFill>
          <a:ln/>
        </p:spPr>
      </p:sp>
      <p:sp>
        <p:nvSpPr>
          <p:cNvPr id="13" name="Shape 11"/>
          <p:cNvSpPr/>
          <p:nvPr/>
        </p:nvSpPr>
        <p:spPr>
          <a:xfrm>
            <a:off x="2286000" y="2743200"/>
            <a:ext cx="310896" cy="310896"/>
          </a:xfrm>
          <a:prstGeom prst="roundRect">
            <a:avLst>
              <a:gd name="adj" fmla="val 23529"/>
            </a:avLst>
          </a:prstGeom>
          <a:solidFill>
            <a:srgbClr val="EA4B71"/>
          </a:solidFill>
          <a:ln/>
        </p:spPr>
      </p:sp>
      <p:sp>
        <p:nvSpPr>
          <p:cNvPr id="14" name="Shape 12"/>
          <p:cNvSpPr/>
          <p:nvPr/>
        </p:nvSpPr>
        <p:spPr>
          <a:xfrm>
            <a:off x="2478024" y="2857500"/>
            <a:ext cx="82296" cy="82296"/>
          </a:xfrm>
          <a:prstGeom prst="ellipse">
            <a:avLst/>
          </a:prstGeom>
          <a:solidFill>
            <a:srgbClr val="FFFFFF"/>
          </a:solidFill>
          <a:ln/>
        </p:spPr>
      </p:sp>
      <p:sp>
        <p:nvSpPr>
          <p:cNvPr id="15" name="Shape 13"/>
          <p:cNvSpPr/>
          <p:nvPr/>
        </p:nvSpPr>
        <p:spPr>
          <a:xfrm>
            <a:off x="2596896" y="2884932"/>
            <a:ext cx="512064" cy="27432"/>
          </a:xfrm>
          <a:prstGeom prst="rect">
            <a:avLst/>
          </a:prstGeom>
          <a:solidFill>
            <a:srgbClr val="EA4B71"/>
          </a:solidFill>
          <a:ln/>
        </p:spPr>
      </p:sp>
      <p:sp>
        <p:nvSpPr>
          <p:cNvPr id="16" name="Shape 14"/>
          <p:cNvSpPr/>
          <p:nvPr/>
        </p:nvSpPr>
        <p:spPr>
          <a:xfrm>
            <a:off x="3108960" y="2743200"/>
            <a:ext cx="310896" cy="310896"/>
          </a:xfrm>
          <a:prstGeom prst="roundRect">
            <a:avLst>
              <a:gd name="adj" fmla="val 23529"/>
            </a:avLst>
          </a:prstGeom>
          <a:solidFill>
            <a:srgbClr val="EA4B71"/>
          </a:solidFill>
          <a:ln/>
        </p:spPr>
      </p:sp>
      <p:sp>
        <p:nvSpPr>
          <p:cNvPr id="17" name="Shape 15"/>
          <p:cNvSpPr/>
          <p:nvPr/>
        </p:nvSpPr>
        <p:spPr>
          <a:xfrm>
            <a:off x="3300984" y="2857500"/>
            <a:ext cx="82296" cy="82296"/>
          </a:xfrm>
          <a:prstGeom prst="ellipse">
            <a:avLst/>
          </a:prstGeom>
          <a:solidFill>
            <a:srgbClr val="FFFFFF"/>
          </a:solidFill>
          <a:ln/>
        </p:spPr>
      </p:sp>
      <p:sp>
        <p:nvSpPr>
          <p:cNvPr id="18" name="Text 16"/>
          <p:cNvSpPr/>
          <p:nvPr/>
        </p:nvSpPr>
        <p:spPr>
          <a:xfrm>
            <a:off x="365760" y="3127248"/>
            <a:ext cx="859536" cy="274320"/>
          </a:xfrm>
          <a:prstGeom prst="rect">
            <a:avLst/>
          </a:prstGeom>
          <a:noFill/>
          <a:ln/>
        </p:spPr>
        <p:txBody>
          <a:bodyPr wrap="square" lIns="0" tIns="0" rIns="0" bIns="0" rtlCol="0" anchor="ctr"/>
          <a:lstStyle/>
          <a:p>
            <a:pPr algn="ctr" indent="0" marL="0">
              <a:buNone/>
            </a:pPr>
            <a:r>
              <a:rPr lang="en-US" sz="1050" dirty="0">
                <a:solidFill>
                  <a:srgbClr val="5C5C6E"/>
                </a:solidFill>
                <a:latin typeface="Calibri" pitchFamily="34" charset="0"/>
                <a:ea typeface="Calibri" pitchFamily="34" charset="-122"/>
                <a:cs typeface="Calibri" pitchFamily="34" charset="-120"/>
              </a:rPr>
              <a:t>Déclencheur</a:t>
            </a:r>
            <a:endParaRPr lang="en-US" sz="1050" dirty="0"/>
          </a:p>
        </p:txBody>
      </p:sp>
      <p:sp>
        <p:nvSpPr>
          <p:cNvPr id="19" name="Text 17"/>
          <p:cNvSpPr/>
          <p:nvPr/>
        </p:nvSpPr>
        <p:spPr>
          <a:xfrm>
            <a:off x="1188720" y="3127248"/>
            <a:ext cx="859536" cy="274320"/>
          </a:xfrm>
          <a:prstGeom prst="rect">
            <a:avLst/>
          </a:prstGeom>
          <a:noFill/>
          <a:ln/>
        </p:spPr>
        <p:txBody>
          <a:bodyPr wrap="square" lIns="0" tIns="0" rIns="0" bIns="0" rtlCol="0" anchor="ctr"/>
          <a:lstStyle/>
          <a:p>
            <a:pPr algn="ctr" indent="0" marL="0">
              <a:buNone/>
            </a:pPr>
            <a:r>
              <a:rPr lang="en-US" sz="1050" dirty="0">
                <a:solidFill>
                  <a:srgbClr val="5C5C6E"/>
                </a:solidFill>
                <a:latin typeface="Calibri" pitchFamily="34" charset="0"/>
                <a:ea typeface="Calibri" pitchFamily="34" charset="-122"/>
                <a:cs typeface="Calibri" pitchFamily="34" charset="-120"/>
              </a:rPr>
              <a:t>Nœud</a:t>
            </a:r>
            <a:endParaRPr lang="en-US" sz="1050" dirty="0"/>
          </a:p>
        </p:txBody>
      </p:sp>
      <p:sp>
        <p:nvSpPr>
          <p:cNvPr id="20" name="Text 18"/>
          <p:cNvSpPr/>
          <p:nvPr/>
        </p:nvSpPr>
        <p:spPr>
          <a:xfrm>
            <a:off x="2011680" y="3127248"/>
            <a:ext cx="859536" cy="274320"/>
          </a:xfrm>
          <a:prstGeom prst="rect">
            <a:avLst/>
          </a:prstGeom>
          <a:noFill/>
          <a:ln/>
        </p:spPr>
        <p:txBody>
          <a:bodyPr wrap="square" lIns="0" tIns="0" rIns="0" bIns="0" rtlCol="0" anchor="ctr"/>
          <a:lstStyle/>
          <a:p>
            <a:pPr algn="ctr" indent="0" marL="0">
              <a:buNone/>
            </a:pPr>
            <a:r>
              <a:rPr lang="en-US" sz="1050" dirty="0">
                <a:solidFill>
                  <a:srgbClr val="5C5C6E"/>
                </a:solidFill>
                <a:latin typeface="Calibri" pitchFamily="34" charset="0"/>
                <a:ea typeface="Calibri" pitchFamily="34" charset="-122"/>
                <a:cs typeface="Calibri" pitchFamily="34" charset="-120"/>
              </a:rPr>
              <a:t>Nœud</a:t>
            </a:r>
            <a:endParaRPr lang="en-US" sz="1050" dirty="0"/>
          </a:p>
        </p:txBody>
      </p:sp>
      <p:sp>
        <p:nvSpPr>
          <p:cNvPr id="21" name="Text 19"/>
          <p:cNvSpPr/>
          <p:nvPr/>
        </p:nvSpPr>
        <p:spPr>
          <a:xfrm>
            <a:off x="2834640" y="3127248"/>
            <a:ext cx="859536" cy="274320"/>
          </a:xfrm>
          <a:prstGeom prst="rect">
            <a:avLst/>
          </a:prstGeom>
          <a:noFill/>
          <a:ln/>
        </p:spPr>
        <p:txBody>
          <a:bodyPr wrap="square" lIns="0" tIns="0" rIns="0" bIns="0" rtlCol="0" anchor="ctr"/>
          <a:lstStyle/>
          <a:p>
            <a:pPr algn="ctr" indent="0" marL="0">
              <a:buNone/>
            </a:pPr>
            <a:r>
              <a:rPr lang="en-US" sz="1050" dirty="0">
                <a:solidFill>
                  <a:srgbClr val="5C5C6E"/>
                </a:solidFill>
                <a:latin typeface="Calibri" pitchFamily="34" charset="0"/>
                <a:ea typeface="Calibri" pitchFamily="34" charset="-122"/>
                <a:cs typeface="Calibri" pitchFamily="34" charset="-120"/>
              </a:rPr>
              <a:t>Nœud</a:t>
            </a:r>
            <a:endParaRPr lang="en-US" sz="1050" dirty="0"/>
          </a:p>
        </p:txBody>
      </p:sp>
      <p:sp>
        <p:nvSpPr>
          <p:cNvPr id="22" name="Shape 20"/>
          <p:cNvSpPr/>
          <p:nvPr/>
        </p:nvSpPr>
        <p:spPr>
          <a:xfrm>
            <a:off x="640080" y="3703320"/>
            <a:ext cx="2500884" cy="1691640"/>
          </a:xfrm>
          <a:prstGeom prst="roundRect">
            <a:avLst>
              <a:gd name="adj" fmla="val 5405"/>
            </a:avLst>
          </a:prstGeom>
          <a:solidFill>
            <a:srgbClr val="F4F4F6"/>
          </a:solidFill>
          <a:ln/>
        </p:spPr>
      </p:sp>
      <p:sp>
        <p:nvSpPr>
          <p:cNvPr id="23" name="Shape 21"/>
          <p:cNvSpPr/>
          <p:nvPr/>
        </p:nvSpPr>
        <p:spPr>
          <a:xfrm>
            <a:off x="822960" y="3858768"/>
            <a:ext cx="329184" cy="329184"/>
          </a:xfrm>
          <a:prstGeom prst="roundRect">
            <a:avLst>
              <a:gd name="adj" fmla="val 22222"/>
            </a:avLst>
          </a:prstGeom>
          <a:solidFill>
            <a:srgbClr val="B8304F"/>
          </a:solidFill>
          <a:ln/>
        </p:spPr>
      </p:sp>
      <p:sp>
        <p:nvSpPr>
          <p:cNvPr id="24" name="Shape 22"/>
          <p:cNvSpPr/>
          <p:nvPr/>
        </p:nvSpPr>
        <p:spPr>
          <a:xfrm>
            <a:off x="1033272" y="3982212"/>
            <a:ext cx="82296" cy="82296"/>
          </a:xfrm>
          <a:prstGeom prst="ellipse">
            <a:avLst/>
          </a:prstGeom>
          <a:solidFill>
            <a:srgbClr val="FFFFFF"/>
          </a:solidFill>
          <a:ln/>
        </p:spPr>
      </p:sp>
      <p:sp>
        <p:nvSpPr>
          <p:cNvPr id="25" name="Text 23"/>
          <p:cNvSpPr/>
          <p:nvPr/>
        </p:nvSpPr>
        <p:spPr>
          <a:xfrm>
            <a:off x="822960" y="4224528"/>
            <a:ext cx="2135124" cy="310896"/>
          </a:xfrm>
          <a:prstGeom prst="rect">
            <a:avLst/>
          </a:prstGeom>
          <a:noFill/>
          <a:ln/>
        </p:spPr>
        <p:txBody>
          <a:bodyPr wrap="square" lIns="0" tIns="0" rIns="0" bIns="0" rtlCol="0" anchor="ctr"/>
          <a:lstStyle/>
          <a:p>
            <a:pPr indent="0" marL="0">
              <a:buNone/>
            </a:pPr>
            <a:r>
              <a:rPr lang="en-US" sz="1600" b="1" dirty="0">
                <a:solidFill>
                  <a:srgbClr val="B8304F"/>
                </a:solidFill>
                <a:latin typeface="Trebuchet MS" pitchFamily="34" charset="0"/>
                <a:ea typeface="Trebuchet MS" pitchFamily="34" charset="-122"/>
                <a:cs typeface="Trebuchet MS" pitchFamily="34" charset="-120"/>
              </a:rPr>
              <a:t>Déclencheur</a:t>
            </a:r>
            <a:endParaRPr lang="en-US" sz="1600" dirty="0"/>
          </a:p>
        </p:txBody>
      </p:sp>
      <p:sp>
        <p:nvSpPr>
          <p:cNvPr id="26" name="Text 24"/>
          <p:cNvSpPr/>
          <p:nvPr/>
        </p:nvSpPr>
        <p:spPr>
          <a:xfrm>
            <a:off x="822960" y="4553712"/>
            <a:ext cx="2135124" cy="777240"/>
          </a:xfrm>
          <a:prstGeom prst="rect">
            <a:avLst/>
          </a:prstGeom>
          <a:noFill/>
          <a:ln/>
        </p:spPr>
        <p:txBody>
          <a:bodyPr wrap="square" lIns="0" tIns="0" rIns="0" bIns="0" rtlCol="0" anchor="ctr"/>
          <a:lstStyle/>
          <a:p>
            <a:pPr indent="0" marL="0">
              <a:lnSpc>
                <a:spcPct val="120000"/>
              </a:lnSpc>
              <a:buNone/>
            </a:pPr>
            <a:r>
              <a:rPr lang="en-US" sz="1150" dirty="0">
                <a:solidFill>
                  <a:srgbClr val="5C5C6E"/>
                </a:solidFill>
                <a:latin typeface="Calibri" pitchFamily="34" charset="0"/>
                <a:ea typeface="Calibri" pitchFamily="34" charset="-122"/>
                <a:cs typeface="Calibri" pitchFamily="34" charset="-120"/>
              </a:rPr>
              <a:t>démarre le workflow (ici, un webhook appelé par git-sync)</a:t>
            </a:r>
            <a:endParaRPr lang="en-US" sz="1150" dirty="0"/>
          </a:p>
        </p:txBody>
      </p:sp>
      <p:sp>
        <p:nvSpPr>
          <p:cNvPr id="27" name="Shape 25"/>
          <p:cNvSpPr/>
          <p:nvPr/>
        </p:nvSpPr>
        <p:spPr>
          <a:xfrm>
            <a:off x="3442716" y="3703320"/>
            <a:ext cx="2500884" cy="1691640"/>
          </a:xfrm>
          <a:prstGeom prst="roundRect">
            <a:avLst>
              <a:gd name="adj" fmla="val 5405"/>
            </a:avLst>
          </a:prstGeom>
          <a:solidFill>
            <a:srgbClr val="F4F4F6"/>
          </a:solidFill>
          <a:ln/>
        </p:spPr>
      </p:sp>
      <p:sp>
        <p:nvSpPr>
          <p:cNvPr id="28" name="Shape 26"/>
          <p:cNvSpPr/>
          <p:nvPr/>
        </p:nvSpPr>
        <p:spPr>
          <a:xfrm>
            <a:off x="3625596" y="3858768"/>
            <a:ext cx="329184" cy="329184"/>
          </a:xfrm>
          <a:prstGeom prst="diamond">
            <a:avLst/>
          </a:prstGeom>
          <a:solidFill>
            <a:srgbClr val="B8304F"/>
          </a:solidFill>
          <a:ln/>
        </p:spPr>
      </p:sp>
      <p:sp>
        <p:nvSpPr>
          <p:cNvPr id="29" name="Text 27"/>
          <p:cNvSpPr/>
          <p:nvPr/>
        </p:nvSpPr>
        <p:spPr>
          <a:xfrm>
            <a:off x="3625596" y="4224528"/>
            <a:ext cx="2135124" cy="310896"/>
          </a:xfrm>
          <a:prstGeom prst="rect">
            <a:avLst/>
          </a:prstGeom>
          <a:noFill/>
          <a:ln/>
        </p:spPr>
        <p:txBody>
          <a:bodyPr wrap="square" lIns="0" tIns="0" rIns="0" bIns="0" rtlCol="0" anchor="ctr"/>
          <a:lstStyle/>
          <a:p>
            <a:pPr indent="0" marL="0">
              <a:buNone/>
            </a:pPr>
            <a:r>
              <a:rPr lang="en-US" sz="1600" b="1" dirty="0">
                <a:solidFill>
                  <a:srgbClr val="B8304F"/>
                </a:solidFill>
                <a:latin typeface="Trebuchet MS" pitchFamily="34" charset="0"/>
                <a:ea typeface="Trebuchet MS" pitchFamily="34" charset="-122"/>
                <a:cs typeface="Trebuchet MS" pitchFamily="34" charset="-120"/>
              </a:rPr>
              <a:t>Logique (IF)</a:t>
            </a:r>
            <a:endParaRPr lang="en-US" sz="1600" dirty="0"/>
          </a:p>
        </p:txBody>
      </p:sp>
      <p:sp>
        <p:nvSpPr>
          <p:cNvPr id="30" name="Text 28"/>
          <p:cNvSpPr/>
          <p:nvPr/>
        </p:nvSpPr>
        <p:spPr>
          <a:xfrm>
            <a:off x="3625596" y="4553712"/>
            <a:ext cx="2135124" cy="777240"/>
          </a:xfrm>
          <a:prstGeom prst="rect">
            <a:avLst/>
          </a:prstGeom>
          <a:noFill/>
          <a:ln/>
        </p:spPr>
        <p:txBody>
          <a:bodyPr wrap="square" lIns="0" tIns="0" rIns="0" bIns="0" rtlCol="0" anchor="ctr"/>
          <a:lstStyle/>
          <a:p>
            <a:pPr indent="0" marL="0">
              <a:lnSpc>
                <a:spcPct val="120000"/>
              </a:lnSpc>
              <a:buNone/>
            </a:pPr>
            <a:r>
              <a:rPr lang="en-US" sz="1150" dirty="0">
                <a:solidFill>
                  <a:srgbClr val="5C5C6E"/>
                </a:solidFill>
                <a:latin typeface="Calibri" pitchFamily="34" charset="0"/>
                <a:ea typeface="Calibri" pitchFamily="34" charset="-122"/>
                <a:cs typeface="Calibri" pitchFamily="34" charset="-120"/>
              </a:rPr>
              <a:t>teste une condition, choisit une branche : vrai ou faux</a:t>
            </a:r>
            <a:endParaRPr lang="en-US" sz="1150" dirty="0"/>
          </a:p>
        </p:txBody>
      </p:sp>
      <p:sp>
        <p:nvSpPr>
          <p:cNvPr id="31" name="Shape 29"/>
          <p:cNvSpPr/>
          <p:nvPr/>
        </p:nvSpPr>
        <p:spPr>
          <a:xfrm>
            <a:off x="6245352" y="3703320"/>
            <a:ext cx="2500884" cy="1691640"/>
          </a:xfrm>
          <a:prstGeom prst="roundRect">
            <a:avLst>
              <a:gd name="adj" fmla="val 5405"/>
            </a:avLst>
          </a:prstGeom>
          <a:solidFill>
            <a:srgbClr val="F4F4F6"/>
          </a:solidFill>
          <a:ln/>
        </p:spPr>
      </p:sp>
      <p:sp>
        <p:nvSpPr>
          <p:cNvPr id="32" name="Shape 30"/>
          <p:cNvSpPr/>
          <p:nvPr/>
        </p:nvSpPr>
        <p:spPr>
          <a:xfrm>
            <a:off x="6428232" y="3858768"/>
            <a:ext cx="329184" cy="329184"/>
          </a:xfrm>
          <a:prstGeom prst="roundRect">
            <a:avLst>
              <a:gd name="adj" fmla="val 19444"/>
            </a:avLst>
          </a:prstGeom>
          <a:solidFill>
            <a:srgbClr val="B8304F"/>
          </a:solidFill>
          <a:ln/>
        </p:spPr>
      </p:sp>
      <p:sp>
        <p:nvSpPr>
          <p:cNvPr id="33" name="Text 31"/>
          <p:cNvSpPr/>
          <p:nvPr/>
        </p:nvSpPr>
        <p:spPr>
          <a:xfrm>
            <a:off x="6428232" y="38496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t>
            </a:r>
            <a:endParaRPr lang="en-US" sz="1200" dirty="0"/>
          </a:p>
        </p:txBody>
      </p:sp>
      <p:sp>
        <p:nvSpPr>
          <p:cNvPr id="34" name="Text 32"/>
          <p:cNvSpPr/>
          <p:nvPr/>
        </p:nvSpPr>
        <p:spPr>
          <a:xfrm>
            <a:off x="6428232" y="4224528"/>
            <a:ext cx="2135124" cy="310896"/>
          </a:xfrm>
          <a:prstGeom prst="rect">
            <a:avLst/>
          </a:prstGeom>
          <a:noFill/>
          <a:ln/>
        </p:spPr>
        <p:txBody>
          <a:bodyPr wrap="square" lIns="0" tIns="0" rIns="0" bIns="0" rtlCol="0" anchor="ctr"/>
          <a:lstStyle/>
          <a:p>
            <a:pPr indent="0" marL="0">
              <a:buNone/>
            </a:pPr>
            <a:r>
              <a:rPr lang="en-US" sz="1600" b="1" dirty="0">
                <a:solidFill>
                  <a:srgbClr val="B8304F"/>
                </a:solidFill>
                <a:latin typeface="Trebuchet MS" pitchFamily="34" charset="0"/>
                <a:ea typeface="Trebuchet MS" pitchFamily="34" charset="-122"/>
                <a:cs typeface="Trebuchet MS" pitchFamily="34" charset="-120"/>
              </a:rPr>
              <a:t>Code</a:t>
            </a:r>
            <a:endParaRPr lang="en-US" sz="1600" dirty="0"/>
          </a:p>
        </p:txBody>
      </p:sp>
      <p:sp>
        <p:nvSpPr>
          <p:cNvPr id="35" name="Text 33"/>
          <p:cNvSpPr/>
          <p:nvPr/>
        </p:nvSpPr>
        <p:spPr>
          <a:xfrm>
            <a:off x="6428232" y="4553712"/>
            <a:ext cx="2135124" cy="777240"/>
          </a:xfrm>
          <a:prstGeom prst="rect">
            <a:avLst/>
          </a:prstGeom>
          <a:noFill/>
          <a:ln/>
        </p:spPr>
        <p:txBody>
          <a:bodyPr wrap="square" lIns="0" tIns="0" rIns="0" bIns="0" rtlCol="0" anchor="ctr"/>
          <a:lstStyle/>
          <a:p>
            <a:pPr indent="0" marL="0">
              <a:lnSpc>
                <a:spcPct val="120000"/>
              </a:lnSpc>
              <a:buNone/>
            </a:pPr>
            <a:r>
              <a:rPr lang="en-US" sz="1150" dirty="0">
                <a:solidFill>
                  <a:srgbClr val="5C5C6E"/>
                </a:solidFill>
                <a:latin typeface="Calibri" pitchFamily="34" charset="0"/>
                <a:ea typeface="Calibri" pitchFamily="34" charset="-122"/>
                <a:cs typeface="Calibri" pitchFamily="34" charset="-120"/>
              </a:rPr>
              <a:t>transforme ou calcule une donnée avec un peu de JavaScript</a:t>
            </a:r>
            <a:endParaRPr lang="en-US" sz="1150" dirty="0"/>
          </a:p>
        </p:txBody>
      </p:sp>
      <p:sp>
        <p:nvSpPr>
          <p:cNvPr id="36" name="Shape 34"/>
          <p:cNvSpPr/>
          <p:nvPr/>
        </p:nvSpPr>
        <p:spPr>
          <a:xfrm>
            <a:off x="9047988" y="3703320"/>
            <a:ext cx="2500884" cy="1691640"/>
          </a:xfrm>
          <a:prstGeom prst="roundRect">
            <a:avLst>
              <a:gd name="adj" fmla="val 5405"/>
            </a:avLst>
          </a:prstGeom>
          <a:solidFill>
            <a:srgbClr val="F4F4F6"/>
          </a:solidFill>
          <a:ln/>
        </p:spPr>
      </p:sp>
      <p:sp>
        <p:nvSpPr>
          <p:cNvPr id="37" name="Shape 35"/>
          <p:cNvSpPr/>
          <p:nvPr/>
        </p:nvSpPr>
        <p:spPr>
          <a:xfrm>
            <a:off x="9230868" y="3858768"/>
            <a:ext cx="329184" cy="329184"/>
          </a:xfrm>
          <a:prstGeom prst="ellipse">
            <a:avLst/>
          </a:prstGeom>
          <a:solidFill>
            <a:srgbClr val="B8304F"/>
          </a:solidFill>
          <a:ln/>
        </p:spPr>
      </p:sp>
      <p:sp>
        <p:nvSpPr>
          <p:cNvPr id="38" name="Text 36"/>
          <p:cNvSpPr/>
          <p:nvPr/>
        </p:nvSpPr>
        <p:spPr>
          <a:xfrm>
            <a:off x="9230868" y="4224528"/>
            <a:ext cx="2135124" cy="310896"/>
          </a:xfrm>
          <a:prstGeom prst="rect">
            <a:avLst/>
          </a:prstGeom>
          <a:noFill/>
          <a:ln/>
        </p:spPr>
        <p:txBody>
          <a:bodyPr wrap="square" lIns="0" tIns="0" rIns="0" bIns="0" rtlCol="0" anchor="ctr"/>
          <a:lstStyle/>
          <a:p>
            <a:pPr indent="0" marL="0">
              <a:buNone/>
            </a:pPr>
            <a:r>
              <a:rPr lang="en-US" sz="1600" b="1" dirty="0">
                <a:solidFill>
                  <a:srgbClr val="B8304F"/>
                </a:solidFill>
                <a:latin typeface="Trebuchet MS" pitchFamily="34" charset="0"/>
                <a:ea typeface="Trebuchet MS" pitchFamily="34" charset="-122"/>
                <a:cs typeface="Trebuchet MS" pitchFamily="34" charset="-120"/>
              </a:rPr>
              <a:t>Action (API)</a:t>
            </a:r>
            <a:endParaRPr lang="en-US" sz="1600" dirty="0"/>
          </a:p>
        </p:txBody>
      </p:sp>
      <p:sp>
        <p:nvSpPr>
          <p:cNvPr id="39" name="Text 37"/>
          <p:cNvSpPr/>
          <p:nvPr/>
        </p:nvSpPr>
        <p:spPr>
          <a:xfrm>
            <a:off x="9230868" y="4553712"/>
            <a:ext cx="2135124" cy="777240"/>
          </a:xfrm>
          <a:prstGeom prst="rect">
            <a:avLst/>
          </a:prstGeom>
          <a:noFill/>
          <a:ln/>
        </p:spPr>
        <p:txBody>
          <a:bodyPr wrap="square" lIns="0" tIns="0" rIns="0" bIns="0" rtlCol="0" anchor="ctr"/>
          <a:lstStyle/>
          <a:p>
            <a:pPr indent="0" marL="0">
              <a:lnSpc>
                <a:spcPct val="120000"/>
              </a:lnSpc>
              <a:buNone/>
            </a:pPr>
            <a:r>
              <a:rPr lang="en-US" sz="1150" dirty="0">
                <a:solidFill>
                  <a:srgbClr val="5C5C6E"/>
                </a:solidFill>
                <a:latin typeface="Calibri" pitchFamily="34" charset="0"/>
                <a:ea typeface="Calibri" pitchFamily="34" charset="-122"/>
                <a:cs typeface="Calibri" pitchFamily="34" charset="-120"/>
              </a:rPr>
              <a:t>appelle un service externe : Linear, Claude</a:t>
            </a:r>
            <a:endParaRPr lang="en-US" sz="1150" dirty="0"/>
          </a:p>
        </p:txBody>
      </p:sp>
      <p:sp>
        <p:nvSpPr>
          <p:cNvPr id="41" name="Shape 38"/>
          <p:cNvSpPr/>
          <p:nvPr/>
        </p:nvSpPr>
        <p:spPr>
          <a:xfrm>
            <a:off x="640080" y="6217920"/>
            <a:ext cx="10908792" cy="18288"/>
          </a:xfrm>
          <a:prstGeom prst="rect">
            <a:avLst/>
          </a:prstGeom>
          <a:solidFill>
            <a:srgbClr val="E2E2E8"/>
          </a:solidFill>
          <a:ln/>
        </p:spPr>
      </p:sp>
      <p:sp>
        <p:nvSpPr>
          <p:cNvPr id="42" name="Text 39"/>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n8n, en deux mots</a:t>
            </a:r>
            <a:endParaRPr lang="en-US" sz="1100" dirty="0"/>
          </a:p>
        </p:txBody>
      </p:sp>
      <p:sp>
        <p:nvSpPr>
          <p:cNvPr id="43" name="Text 40"/>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8 / 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AVANT L’ARCHITECTURE</a:t>
            </a:r>
            <a:endParaRPr lang="en-US" sz="1300" dirty="0"/>
          </a:p>
        </p:txBody>
      </p:sp>
      <p:sp>
        <p:nvSpPr>
          <p:cNvPr id="5" name="Text 3"/>
          <p:cNvSpPr/>
          <p:nvPr/>
        </p:nvSpPr>
        <p:spPr>
          <a:xfrm>
            <a:off x="640080" y="1188720"/>
            <a:ext cx="10908792" cy="713232"/>
          </a:xfrm>
          <a:prstGeom prst="rect">
            <a:avLst/>
          </a:prstGeom>
          <a:noFill/>
          <a:ln/>
        </p:spPr>
        <p:txBody>
          <a:bodyPr wrap="square" lIns="0" tIns="0" rIns="0" bIns="0" rtlCol="0" anchor="ctr"/>
          <a:lstStyle/>
          <a:p>
            <a:pPr indent="0" marL="0">
              <a:buNone/>
            </a:pPr>
            <a:r>
              <a:rPr lang="en-US" sz="3600" b="1" dirty="0">
                <a:solidFill>
                  <a:srgbClr val="1A1A2E"/>
                </a:solidFill>
                <a:latin typeface="Trebuchet MS" pitchFamily="34" charset="0"/>
                <a:ea typeface="Trebuchet MS" pitchFamily="34" charset="-122"/>
                <a:cs typeface="Trebuchet MS" pitchFamily="34" charset="-120"/>
              </a:rPr>
              <a:t>Comment un workflow s’exécute</a:t>
            </a:r>
            <a:endParaRPr lang="en-US" sz="3600" dirty="0"/>
          </a:p>
        </p:txBody>
      </p:sp>
      <p:sp>
        <p:nvSpPr>
          <p:cNvPr id="6" name="Shape 4"/>
          <p:cNvSpPr/>
          <p:nvPr/>
        </p:nvSpPr>
        <p:spPr>
          <a:xfrm>
            <a:off x="640080" y="2103120"/>
            <a:ext cx="10908792" cy="1188720"/>
          </a:xfrm>
          <a:prstGeom prst="roundRect">
            <a:avLst>
              <a:gd name="adj" fmla="val 7692"/>
            </a:avLst>
          </a:prstGeom>
          <a:solidFill>
            <a:srgbClr val="F4F4F6"/>
          </a:solidFill>
          <a:ln/>
        </p:spPr>
      </p:sp>
      <p:sp>
        <p:nvSpPr>
          <p:cNvPr id="7" name="Shape 5"/>
          <p:cNvSpPr/>
          <p:nvPr/>
        </p:nvSpPr>
        <p:spPr>
          <a:xfrm>
            <a:off x="914400" y="2542032"/>
            <a:ext cx="310896" cy="310896"/>
          </a:xfrm>
          <a:prstGeom prst="roundRect">
            <a:avLst>
              <a:gd name="adj" fmla="val 23529"/>
            </a:avLst>
          </a:prstGeom>
          <a:solidFill>
            <a:srgbClr val="EA4B71"/>
          </a:solidFill>
          <a:ln/>
        </p:spPr>
      </p:sp>
      <p:sp>
        <p:nvSpPr>
          <p:cNvPr id="8" name="Shape 6"/>
          <p:cNvSpPr/>
          <p:nvPr/>
        </p:nvSpPr>
        <p:spPr>
          <a:xfrm>
            <a:off x="1106424" y="2656332"/>
            <a:ext cx="82296" cy="82296"/>
          </a:xfrm>
          <a:prstGeom prst="ellipse">
            <a:avLst/>
          </a:prstGeom>
          <a:solidFill>
            <a:srgbClr val="FFFFFF"/>
          </a:solidFill>
          <a:ln/>
        </p:spPr>
      </p:sp>
      <p:sp>
        <p:nvSpPr>
          <p:cNvPr id="9" name="Text 7"/>
          <p:cNvSpPr/>
          <p:nvPr/>
        </p:nvSpPr>
        <p:spPr>
          <a:xfrm>
            <a:off x="1426464" y="2267712"/>
            <a:ext cx="9902952" cy="329184"/>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Dans l’ordre des flèches</a:t>
            </a:r>
            <a:endParaRPr lang="en-US" sz="1700" dirty="0"/>
          </a:p>
        </p:txBody>
      </p:sp>
      <p:sp>
        <p:nvSpPr>
          <p:cNvPr id="10" name="Text 8"/>
          <p:cNvSpPr/>
          <p:nvPr/>
        </p:nvSpPr>
        <p:spPr>
          <a:xfrm>
            <a:off x="1426464" y="2633472"/>
            <a:ext cx="9902952" cy="566928"/>
          </a:xfrm>
          <a:prstGeom prst="rect">
            <a:avLst/>
          </a:prstGeom>
          <a:noFill/>
          <a:ln/>
        </p:spPr>
        <p:txBody>
          <a:bodyPr wrap="square" lIns="0" tIns="0" rIns="0" bIns="0" rtlCol="0" anchor="ctr"/>
          <a:lstStyle/>
          <a:p>
            <a:pPr indent="0" marL="0">
              <a:lnSpc>
                <a:spcPct val="120000"/>
              </a:lnSpc>
              <a:buNone/>
            </a:pPr>
            <a:r>
              <a:rPr lang="en-US" sz="1300" dirty="0">
                <a:solidFill>
                  <a:srgbClr val="5C5C6E"/>
                </a:solidFill>
                <a:latin typeface="Calibri" pitchFamily="34" charset="0"/>
                <a:ea typeface="Calibri" pitchFamily="34" charset="-122"/>
                <a:cs typeface="Calibri" pitchFamily="34" charset="-120"/>
              </a:rPr>
              <a:t>Chaque nœud reçoit la sortie du précédent, et s’exécute dans l’ordre des connexions dessinées sur le canvas.</a:t>
            </a:r>
            <a:endParaRPr lang="en-US" sz="1300" dirty="0"/>
          </a:p>
        </p:txBody>
      </p:sp>
      <p:sp>
        <p:nvSpPr>
          <p:cNvPr id="11" name="Shape 9"/>
          <p:cNvSpPr/>
          <p:nvPr/>
        </p:nvSpPr>
        <p:spPr>
          <a:xfrm>
            <a:off x="640080" y="3493008"/>
            <a:ext cx="10908792" cy="1188720"/>
          </a:xfrm>
          <a:prstGeom prst="roundRect">
            <a:avLst>
              <a:gd name="adj" fmla="val 7692"/>
            </a:avLst>
          </a:prstGeom>
          <a:solidFill>
            <a:srgbClr val="F4F4F6"/>
          </a:solidFill>
          <a:ln/>
        </p:spPr>
      </p:sp>
      <p:sp>
        <p:nvSpPr>
          <p:cNvPr id="12" name="Shape 10"/>
          <p:cNvSpPr/>
          <p:nvPr/>
        </p:nvSpPr>
        <p:spPr>
          <a:xfrm>
            <a:off x="914400" y="3931920"/>
            <a:ext cx="310896" cy="310896"/>
          </a:xfrm>
          <a:prstGeom prst="roundRect">
            <a:avLst>
              <a:gd name="adj" fmla="val 23529"/>
            </a:avLst>
          </a:prstGeom>
          <a:solidFill>
            <a:srgbClr val="EA4B71"/>
          </a:solidFill>
          <a:ln/>
        </p:spPr>
      </p:sp>
      <p:sp>
        <p:nvSpPr>
          <p:cNvPr id="13" name="Shape 11"/>
          <p:cNvSpPr/>
          <p:nvPr/>
        </p:nvSpPr>
        <p:spPr>
          <a:xfrm>
            <a:off x="1106424" y="4046220"/>
            <a:ext cx="82296" cy="82296"/>
          </a:xfrm>
          <a:prstGeom prst="ellipse">
            <a:avLst/>
          </a:prstGeom>
          <a:solidFill>
            <a:srgbClr val="FFFFFF"/>
          </a:solidFill>
          <a:ln/>
        </p:spPr>
      </p:sp>
      <p:sp>
        <p:nvSpPr>
          <p:cNvPr id="14" name="Text 12"/>
          <p:cNvSpPr/>
          <p:nvPr/>
        </p:nvSpPr>
        <p:spPr>
          <a:xfrm>
            <a:off x="1426464" y="3657600"/>
            <a:ext cx="9902952" cy="329184"/>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Les nœuds IF créent des branches</a:t>
            </a:r>
            <a:endParaRPr lang="en-US" sz="1700" dirty="0"/>
          </a:p>
        </p:txBody>
      </p:sp>
      <p:sp>
        <p:nvSpPr>
          <p:cNvPr id="15" name="Text 13"/>
          <p:cNvSpPr/>
          <p:nvPr/>
        </p:nvSpPr>
        <p:spPr>
          <a:xfrm>
            <a:off x="1426464" y="4023360"/>
            <a:ext cx="9902952" cy="566928"/>
          </a:xfrm>
          <a:prstGeom prst="rect">
            <a:avLst/>
          </a:prstGeom>
          <a:noFill/>
          <a:ln/>
        </p:spPr>
        <p:txBody>
          <a:bodyPr wrap="square" lIns="0" tIns="0" rIns="0" bIns="0" rtlCol="0" anchor="ctr"/>
          <a:lstStyle/>
          <a:p>
            <a:pPr indent="0" marL="0">
              <a:lnSpc>
                <a:spcPct val="120000"/>
              </a:lnSpc>
              <a:buNone/>
            </a:pPr>
            <a:r>
              <a:rPr lang="en-US" sz="1300" dirty="0">
                <a:solidFill>
                  <a:srgbClr val="5C5C6E"/>
                </a:solidFill>
                <a:latin typeface="Calibri" pitchFamily="34" charset="0"/>
                <a:ea typeface="Calibri" pitchFamily="34" charset="-122"/>
                <a:cs typeface="Calibri" pitchFamily="34" charset="-120"/>
              </a:rPr>
              <a:t>Un workflow peut suivre un chemin ou un autre selon une condition : vrai d’un côté, faux de l’autre, jamais les deux à la fois.</a:t>
            </a:r>
            <a:endParaRPr lang="en-US" sz="1300" dirty="0"/>
          </a:p>
        </p:txBody>
      </p:sp>
      <p:sp>
        <p:nvSpPr>
          <p:cNvPr id="16" name="Shape 14"/>
          <p:cNvSpPr/>
          <p:nvPr/>
        </p:nvSpPr>
        <p:spPr>
          <a:xfrm>
            <a:off x="640080" y="4882896"/>
            <a:ext cx="10908792" cy="1188720"/>
          </a:xfrm>
          <a:prstGeom prst="roundRect">
            <a:avLst>
              <a:gd name="adj" fmla="val 7692"/>
            </a:avLst>
          </a:prstGeom>
          <a:solidFill>
            <a:srgbClr val="F4F4F6"/>
          </a:solidFill>
          <a:ln/>
        </p:spPr>
      </p:sp>
      <p:sp>
        <p:nvSpPr>
          <p:cNvPr id="17" name="Shape 15"/>
          <p:cNvSpPr/>
          <p:nvPr/>
        </p:nvSpPr>
        <p:spPr>
          <a:xfrm>
            <a:off x="914400" y="5321808"/>
            <a:ext cx="310896" cy="310896"/>
          </a:xfrm>
          <a:prstGeom prst="roundRect">
            <a:avLst>
              <a:gd name="adj" fmla="val 23529"/>
            </a:avLst>
          </a:prstGeom>
          <a:solidFill>
            <a:srgbClr val="EA4B71"/>
          </a:solidFill>
          <a:ln/>
        </p:spPr>
      </p:sp>
      <p:sp>
        <p:nvSpPr>
          <p:cNvPr id="18" name="Shape 16"/>
          <p:cNvSpPr/>
          <p:nvPr/>
        </p:nvSpPr>
        <p:spPr>
          <a:xfrm>
            <a:off x="1106424" y="5436108"/>
            <a:ext cx="82296" cy="82296"/>
          </a:xfrm>
          <a:prstGeom prst="ellipse">
            <a:avLst/>
          </a:prstGeom>
          <a:solidFill>
            <a:srgbClr val="FFFFFF"/>
          </a:solidFill>
          <a:ln/>
        </p:spPr>
      </p:sp>
      <p:sp>
        <p:nvSpPr>
          <p:cNvPr id="19" name="Text 17"/>
          <p:cNvSpPr/>
          <p:nvPr/>
        </p:nvSpPr>
        <p:spPr>
          <a:xfrm>
            <a:off x="1426464" y="5047488"/>
            <a:ext cx="9902952" cy="329184"/>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Chaque passage est une Execution</a:t>
            </a:r>
            <a:endParaRPr lang="en-US" sz="1700" dirty="0"/>
          </a:p>
        </p:txBody>
      </p:sp>
      <p:sp>
        <p:nvSpPr>
          <p:cNvPr id="20" name="Text 18"/>
          <p:cNvSpPr/>
          <p:nvPr/>
        </p:nvSpPr>
        <p:spPr>
          <a:xfrm>
            <a:off x="1426464" y="5413248"/>
            <a:ext cx="9902952" cy="566928"/>
          </a:xfrm>
          <a:prstGeom prst="rect">
            <a:avLst/>
          </a:prstGeom>
          <a:noFill/>
          <a:ln/>
        </p:spPr>
        <p:txBody>
          <a:bodyPr wrap="square" lIns="0" tIns="0" rIns="0" bIns="0" rtlCol="0" anchor="ctr"/>
          <a:lstStyle/>
          <a:p>
            <a:pPr indent="0" marL="0">
              <a:lnSpc>
                <a:spcPct val="120000"/>
              </a:lnSpc>
              <a:buNone/>
            </a:pPr>
            <a:r>
              <a:rPr lang="en-US" sz="1300" dirty="0">
                <a:solidFill>
                  <a:srgbClr val="5C5C6E"/>
                </a:solidFill>
                <a:latin typeface="Calibri" pitchFamily="34" charset="0"/>
                <a:ea typeface="Calibri" pitchFamily="34" charset="-122"/>
                <a:cs typeface="Calibri" pitchFamily="34" charset="-120"/>
              </a:rPr>
              <a:t>Visible dans l’onglet Executions de n8n, nœud par nœud, avec les données exactes à chaque étape : l’outil de diagnostic principal.</a:t>
            </a:r>
            <a:endParaRPr lang="en-US" sz="1300" dirty="0"/>
          </a:p>
        </p:txBody>
      </p:sp>
      <p:sp>
        <p:nvSpPr>
          <p:cNvPr id="22" name="Shape 19"/>
          <p:cNvSpPr/>
          <p:nvPr/>
        </p:nvSpPr>
        <p:spPr>
          <a:xfrm>
            <a:off x="640080" y="6217920"/>
            <a:ext cx="10908792" cy="18288"/>
          </a:xfrm>
          <a:prstGeom prst="rect">
            <a:avLst/>
          </a:prstGeom>
          <a:solidFill>
            <a:srgbClr val="E2E2E8"/>
          </a:solidFill>
          <a:ln/>
        </p:spPr>
      </p:sp>
      <p:sp>
        <p:nvSpPr>
          <p:cNvPr id="23" name="Text 20"/>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Comment ça s’exécute</a:t>
            </a:r>
            <a:endParaRPr lang="en-US" sz="1100" dirty="0"/>
          </a:p>
        </p:txBody>
      </p:sp>
      <p:sp>
        <p:nvSpPr>
          <p:cNvPr id="24" name="Text 21"/>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9 / 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88720"/>
            <a:ext cx="10908792" cy="713232"/>
          </a:xfrm>
          <a:prstGeom prst="rect">
            <a:avLst/>
          </a:prstGeom>
          <a:noFill/>
          <a:ln/>
        </p:spPr>
        <p:txBody>
          <a:bodyPr wrap="square" lIns="0" tIns="0" rIns="0" bIns="0" rtlCol="0" anchor="ctr"/>
          <a:lstStyle/>
          <a:p>
            <a:pPr indent="0" marL="0">
              <a:buNone/>
            </a:pPr>
            <a:r>
              <a:rPr lang="en-US" sz="3600" b="1" dirty="0">
                <a:solidFill>
                  <a:srgbClr val="1A1A2E"/>
                </a:solidFill>
                <a:latin typeface="Trebuchet MS" pitchFamily="34" charset="0"/>
                <a:ea typeface="Trebuchet MS" pitchFamily="34" charset="-122"/>
                <a:cs typeface="Trebuchet MS" pitchFamily="34" charset="-120"/>
              </a:rPr>
              <a:t>Architecture interne de n8n</a:t>
            </a:r>
            <a:endParaRPr lang="en-US" sz="3600" dirty="0"/>
          </a:p>
        </p:txBody>
      </p:sp>
      <p:sp>
        <p:nvSpPr>
          <p:cNvPr id="6" name="Text 4"/>
          <p:cNvSpPr/>
          <p:nvPr/>
        </p:nvSpPr>
        <p:spPr>
          <a:xfrm>
            <a:off x="640080" y="1901952"/>
            <a:ext cx="10908792" cy="457200"/>
          </a:xfrm>
          <a:prstGeom prst="rect">
            <a:avLst/>
          </a:prstGeom>
          <a:noFill/>
          <a:ln/>
        </p:spPr>
        <p:txBody>
          <a:bodyPr wrap="square" lIns="0" tIns="0" rIns="0" bIns="0" rtlCol="0" anchor="ctr"/>
          <a:lstStyle/>
          <a:p>
            <a:pPr indent="0" marL="0">
              <a:buNone/>
            </a:pPr>
            <a:r>
              <a:rPr lang="en-US" sz="1600" dirty="0">
                <a:solidFill>
                  <a:srgbClr val="5C5C6E"/>
                </a:solidFill>
                <a:latin typeface="Calibri" pitchFamily="34" charset="0"/>
                <a:ea typeface="Calibri" pitchFamily="34" charset="-122"/>
                <a:cs typeface="Calibri" pitchFamily="34" charset="-120"/>
              </a:rPr>
              <a:t>Techniquement, n8n est une application Node.js / TypeScript, structurée en plusieurs briques.</a:t>
            </a:r>
            <a:endParaRPr lang="en-US" sz="1600" dirty="0"/>
          </a:p>
        </p:txBody>
      </p:sp>
      <p:sp>
        <p:nvSpPr>
          <p:cNvPr id="7" name="Shape 5"/>
          <p:cNvSpPr/>
          <p:nvPr/>
        </p:nvSpPr>
        <p:spPr>
          <a:xfrm>
            <a:off x="640080" y="2606040"/>
            <a:ext cx="3392424" cy="2286000"/>
          </a:xfrm>
          <a:prstGeom prst="roundRect">
            <a:avLst>
              <a:gd name="adj" fmla="val 4800"/>
            </a:avLst>
          </a:prstGeom>
          <a:solidFill>
            <a:srgbClr val="F4F4F6"/>
          </a:solidFill>
          <a:ln/>
        </p:spPr>
      </p:sp>
      <p:sp>
        <p:nvSpPr>
          <p:cNvPr id="8" name="Text 6"/>
          <p:cNvSpPr/>
          <p:nvPr/>
        </p:nvSpPr>
        <p:spPr>
          <a:xfrm>
            <a:off x="877824" y="2816352"/>
            <a:ext cx="2916936" cy="365760"/>
          </a:xfrm>
          <a:prstGeom prst="rect">
            <a:avLst/>
          </a:prstGeom>
          <a:noFill/>
          <a:ln/>
        </p:spPr>
        <p:txBody>
          <a:bodyPr wrap="square" lIns="0" tIns="0" rIns="0" bIns="0" rtlCol="0" anchor="ctr"/>
          <a:lstStyle/>
          <a:p>
            <a:pPr indent="0" marL="0">
              <a:buNone/>
            </a:pPr>
            <a:r>
              <a:rPr lang="en-US" sz="1800" b="1" dirty="0">
                <a:solidFill>
                  <a:srgbClr val="B8304F"/>
                </a:solidFill>
                <a:latin typeface="Trebuchet MS" pitchFamily="34" charset="0"/>
                <a:ea typeface="Trebuchet MS" pitchFamily="34" charset="-122"/>
                <a:cs typeface="Trebuchet MS" pitchFamily="34" charset="-120"/>
              </a:rPr>
              <a:t>Moteur d’exécution</a:t>
            </a:r>
            <a:endParaRPr lang="en-US" sz="1800" dirty="0"/>
          </a:p>
        </p:txBody>
      </p:sp>
      <p:sp>
        <p:nvSpPr>
          <p:cNvPr id="9" name="Text 7"/>
          <p:cNvSpPr/>
          <p:nvPr/>
        </p:nvSpPr>
        <p:spPr>
          <a:xfrm>
            <a:off x="877824" y="3163824"/>
            <a:ext cx="2916936" cy="274320"/>
          </a:xfrm>
          <a:prstGeom prst="rect">
            <a:avLst/>
          </a:prstGeom>
          <a:noFill/>
          <a:ln/>
        </p:spPr>
        <p:txBody>
          <a:bodyPr wrap="square" lIns="0" tIns="0" rIns="0" bIns="0" rtlCol="0" anchor="ctr"/>
          <a:lstStyle/>
          <a:p>
            <a:pPr indent="0" marL="0">
              <a:buNone/>
            </a:pPr>
            <a:r>
              <a:rPr lang="en-US" sz="1200" i="1" dirty="0">
                <a:solidFill>
                  <a:srgbClr val="5C5C6E"/>
                </a:solidFill>
                <a:latin typeface="Calibri" pitchFamily="34" charset="0"/>
                <a:ea typeface="Calibri" pitchFamily="34" charset="-122"/>
                <a:cs typeface="Calibri" pitchFamily="34" charset="-120"/>
              </a:rPr>
              <a:t>(n8n-core)</a:t>
            </a:r>
            <a:endParaRPr lang="en-US" sz="1200" dirty="0"/>
          </a:p>
        </p:txBody>
      </p:sp>
      <p:sp>
        <p:nvSpPr>
          <p:cNvPr id="10" name="Text 8"/>
          <p:cNvSpPr/>
          <p:nvPr/>
        </p:nvSpPr>
        <p:spPr>
          <a:xfrm>
            <a:off x="877824" y="3566160"/>
            <a:ext cx="2916936" cy="1234440"/>
          </a:xfrm>
          <a:prstGeom prst="rect">
            <a:avLst/>
          </a:prstGeom>
          <a:noFill/>
          <a:ln/>
        </p:spPr>
        <p:txBody>
          <a:bodyPr wrap="square" lIns="0" tIns="0" rIns="0" bIns="0" rtlCol="0" anchor="ctr"/>
          <a:lstStyle/>
          <a:p>
            <a:pPr indent="0" marL="0">
              <a:lnSpc>
                <a:spcPct val="125000"/>
              </a:lnSpc>
              <a:buNone/>
            </a:pPr>
            <a:r>
              <a:rPr lang="en-US" sz="1300" dirty="0">
                <a:solidFill>
                  <a:srgbClr val="1A1A2E"/>
                </a:solidFill>
                <a:latin typeface="Calibri" pitchFamily="34" charset="0"/>
                <a:ea typeface="Calibri" pitchFamily="34" charset="-122"/>
                <a:cs typeface="Calibri" pitchFamily="34" charset="-120"/>
              </a:rPr>
              <a:t>Sait lire un workflow, le JSON qu’on édite directement, et le faire tourner.</a:t>
            </a:r>
            <a:endParaRPr lang="en-US" sz="1300" dirty="0"/>
          </a:p>
        </p:txBody>
      </p:sp>
      <p:sp>
        <p:nvSpPr>
          <p:cNvPr id="11" name="Shape 9"/>
          <p:cNvSpPr/>
          <p:nvPr/>
        </p:nvSpPr>
        <p:spPr>
          <a:xfrm>
            <a:off x="4398264" y="2606040"/>
            <a:ext cx="3392424" cy="2286000"/>
          </a:xfrm>
          <a:prstGeom prst="roundRect">
            <a:avLst>
              <a:gd name="adj" fmla="val 4800"/>
            </a:avLst>
          </a:prstGeom>
          <a:solidFill>
            <a:srgbClr val="F4F4F6"/>
          </a:solidFill>
          <a:ln/>
        </p:spPr>
      </p:sp>
      <p:sp>
        <p:nvSpPr>
          <p:cNvPr id="12" name="Text 10"/>
          <p:cNvSpPr/>
          <p:nvPr/>
        </p:nvSpPr>
        <p:spPr>
          <a:xfrm>
            <a:off x="4636008" y="2816352"/>
            <a:ext cx="2916936" cy="365760"/>
          </a:xfrm>
          <a:prstGeom prst="rect">
            <a:avLst/>
          </a:prstGeom>
          <a:noFill/>
          <a:ln/>
        </p:spPr>
        <p:txBody>
          <a:bodyPr wrap="square" lIns="0" tIns="0" rIns="0" bIns="0" rtlCol="0" anchor="ctr"/>
          <a:lstStyle/>
          <a:p>
            <a:pPr indent="0" marL="0">
              <a:buNone/>
            </a:pPr>
            <a:r>
              <a:rPr lang="en-US" sz="1800" b="1" dirty="0">
                <a:solidFill>
                  <a:srgbClr val="B8304F"/>
                </a:solidFill>
                <a:latin typeface="Trebuchet MS" pitchFamily="34" charset="0"/>
                <a:ea typeface="Trebuchet MS" pitchFamily="34" charset="-122"/>
                <a:cs typeface="Trebuchet MS" pitchFamily="34" charset="-120"/>
              </a:rPr>
              <a:t>Les nœuds</a:t>
            </a:r>
            <a:endParaRPr lang="en-US" sz="1800" dirty="0"/>
          </a:p>
        </p:txBody>
      </p:sp>
      <p:sp>
        <p:nvSpPr>
          <p:cNvPr id="13" name="Text 11"/>
          <p:cNvSpPr/>
          <p:nvPr/>
        </p:nvSpPr>
        <p:spPr>
          <a:xfrm>
            <a:off x="4636008" y="3163824"/>
            <a:ext cx="2916936" cy="274320"/>
          </a:xfrm>
          <a:prstGeom prst="rect">
            <a:avLst/>
          </a:prstGeom>
          <a:noFill/>
          <a:ln/>
        </p:spPr>
        <p:txBody>
          <a:bodyPr wrap="square" lIns="0" tIns="0" rIns="0" bIns="0" rtlCol="0" anchor="ctr"/>
          <a:lstStyle/>
          <a:p>
            <a:pPr indent="0" marL="0">
              <a:buNone/>
            </a:pPr>
            <a:r>
              <a:rPr lang="en-US" sz="1200" i="1" dirty="0">
                <a:solidFill>
                  <a:srgbClr val="5C5C6E"/>
                </a:solidFill>
                <a:latin typeface="Calibri" pitchFamily="34" charset="0"/>
                <a:ea typeface="Calibri" pitchFamily="34" charset="-122"/>
                <a:cs typeface="Calibri" pitchFamily="34" charset="-120"/>
              </a:rPr>
              <a:t>(n8n-nodes-base)</a:t>
            </a:r>
            <a:endParaRPr lang="en-US" sz="1200" dirty="0"/>
          </a:p>
        </p:txBody>
      </p:sp>
      <p:sp>
        <p:nvSpPr>
          <p:cNvPr id="14" name="Text 12"/>
          <p:cNvSpPr/>
          <p:nvPr/>
        </p:nvSpPr>
        <p:spPr>
          <a:xfrm>
            <a:off x="4636008" y="3566160"/>
            <a:ext cx="2916936" cy="1234440"/>
          </a:xfrm>
          <a:prstGeom prst="rect">
            <a:avLst/>
          </a:prstGeom>
          <a:noFill/>
          <a:ln/>
        </p:spPr>
        <p:txBody>
          <a:bodyPr wrap="square" lIns="0" tIns="0" rIns="0" bIns="0" rtlCol="0" anchor="ctr"/>
          <a:lstStyle/>
          <a:p>
            <a:pPr indent="0" marL="0">
              <a:lnSpc>
                <a:spcPct val="125000"/>
              </a:lnSpc>
              <a:buNone/>
            </a:pPr>
            <a:r>
              <a:rPr lang="en-US" sz="1300" dirty="0">
                <a:solidFill>
                  <a:srgbClr val="1A1A2E"/>
                </a:solidFill>
                <a:latin typeface="Calibri" pitchFamily="34" charset="0"/>
                <a:ea typeface="Calibri" pitchFamily="34" charset="-122"/>
                <a:cs typeface="Calibri" pitchFamily="34" charset="-120"/>
              </a:rPr>
              <a:t>Chaque type (Webhook, Code, IF, HTTP Request) est un module avec une fonction execute().</a:t>
            </a:r>
            <a:endParaRPr lang="en-US" sz="1300" dirty="0"/>
          </a:p>
        </p:txBody>
      </p:sp>
      <p:sp>
        <p:nvSpPr>
          <p:cNvPr id="15" name="Shape 13"/>
          <p:cNvSpPr/>
          <p:nvPr/>
        </p:nvSpPr>
        <p:spPr>
          <a:xfrm>
            <a:off x="8156448" y="2606040"/>
            <a:ext cx="3392424" cy="2286000"/>
          </a:xfrm>
          <a:prstGeom prst="roundRect">
            <a:avLst>
              <a:gd name="adj" fmla="val 4800"/>
            </a:avLst>
          </a:prstGeom>
          <a:solidFill>
            <a:srgbClr val="F4F4F6"/>
          </a:solidFill>
          <a:ln/>
        </p:spPr>
      </p:sp>
      <p:sp>
        <p:nvSpPr>
          <p:cNvPr id="16" name="Text 14"/>
          <p:cNvSpPr/>
          <p:nvPr/>
        </p:nvSpPr>
        <p:spPr>
          <a:xfrm>
            <a:off x="8394192" y="2816352"/>
            <a:ext cx="2916936" cy="365760"/>
          </a:xfrm>
          <a:prstGeom prst="rect">
            <a:avLst/>
          </a:prstGeom>
          <a:noFill/>
          <a:ln/>
        </p:spPr>
        <p:txBody>
          <a:bodyPr wrap="square" lIns="0" tIns="0" rIns="0" bIns="0" rtlCol="0" anchor="ctr"/>
          <a:lstStyle/>
          <a:p>
            <a:pPr indent="0" marL="0">
              <a:buNone/>
            </a:pPr>
            <a:r>
              <a:rPr lang="en-US" sz="1800" b="1" dirty="0">
                <a:solidFill>
                  <a:srgbClr val="B8304F"/>
                </a:solidFill>
                <a:latin typeface="Trebuchet MS" pitchFamily="34" charset="0"/>
                <a:ea typeface="Trebuchet MS" pitchFamily="34" charset="-122"/>
                <a:cs typeface="Trebuchet MS" pitchFamily="34" charset="-120"/>
              </a:rPr>
              <a:t>Serveur HTTP</a:t>
            </a:r>
            <a:endParaRPr lang="en-US" sz="1800" dirty="0"/>
          </a:p>
        </p:txBody>
      </p:sp>
      <p:sp>
        <p:nvSpPr>
          <p:cNvPr id="17" name="Text 15"/>
          <p:cNvSpPr/>
          <p:nvPr/>
        </p:nvSpPr>
        <p:spPr>
          <a:xfrm>
            <a:off x="8394192" y="3163824"/>
            <a:ext cx="2916936" cy="274320"/>
          </a:xfrm>
          <a:prstGeom prst="rect">
            <a:avLst/>
          </a:prstGeom>
          <a:noFill/>
          <a:ln/>
        </p:spPr>
        <p:txBody>
          <a:bodyPr wrap="square" lIns="0" tIns="0" rIns="0" bIns="0" rtlCol="0" anchor="ctr"/>
          <a:lstStyle/>
          <a:p>
            <a:pPr indent="0" marL="0">
              <a:buNone/>
            </a:pPr>
            <a:r>
              <a:rPr lang="en-US" sz="1200" i="1" dirty="0">
                <a:solidFill>
                  <a:srgbClr val="5C5C6E"/>
                </a:solidFill>
                <a:latin typeface="Calibri" pitchFamily="34" charset="0"/>
                <a:ea typeface="Calibri" pitchFamily="34" charset="-122"/>
                <a:cs typeface="Calibri" pitchFamily="34" charset="-120"/>
              </a:rPr>
              <a:t>(Express)</a:t>
            </a:r>
            <a:endParaRPr lang="en-US" sz="1200" dirty="0"/>
          </a:p>
        </p:txBody>
      </p:sp>
      <p:sp>
        <p:nvSpPr>
          <p:cNvPr id="18" name="Text 16"/>
          <p:cNvSpPr/>
          <p:nvPr/>
        </p:nvSpPr>
        <p:spPr>
          <a:xfrm>
            <a:off x="8394192" y="3566160"/>
            <a:ext cx="2916936" cy="1234440"/>
          </a:xfrm>
          <a:prstGeom prst="rect">
            <a:avLst/>
          </a:prstGeom>
          <a:noFill/>
          <a:ln/>
        </p:spPr>
        <p:txBody>
          <a:bodyPr wrap="square" lIns="0" tIns="0" rIns="0" bIns="0" rtlCol="0" anchor="ctr"/>
          <a:lstStyle/>
          <a:p>
            <a:pPr indent="0" marL="0">
              <a:lnSpc>
                <a:spcPct val="125000"/>
              </a:lnSpc>
              <a:buNone/>
            </a:pPr>
            <a:r>
              <a:rPr lang="en-US" sz="1300" dirty="0">
                <a:solidFill>
                  <a:srgbClr val="1A1A2E"/>
                </a:solidFill>
                <a:latin typeface="Calibri" pitchFamily="34" charset="0"/>
                <a:ea typeface="Calibri" pitchFamily="34" charset="-122"/>
                <a:cs typeface="Calibri" pitchFamily="34" charset="-120"/>
              </a:rPr>
              <a:t>Sert l’éditeur visuel, expose l’API, écoute les webhooks entrants comme celui de git-sync.</a:t>
            </a:r>
            <a:endParaRPr lang="en-US" sz="1300" dirty="0"/>
          </a:p>
        </p:txBody>
      </p:sp>
      <p:sp>
        <p:nvSpPr>
          <p:cNvPr id="19" name="Shape 17"/>
          <p:cNvSpPr/>
          <p:nvPr/>
        </p:nvSpPr>
        <p:spPr>
          <a:xfrm>
            <a:off x="640080" y="5074920"/>
            <a:ext cx="10908792" cy="914400"/>
          </a:xfrm>
          <a:prstGeom prst="roundRect">
            <a:avLst>
              <a:gd name="adj" fmla="val 10000"/>
            </a:avLst>
          </a:prstGeom>
          <a:solidFill>
            <a:srgbClr val="F4F4F6"/>
          </a:solidFill>
          <a:ln/>
        </p:spPr>
      </p:sp>
      <p:sp>
        <p:nvSpPr>
          <p:cNvPr id="20" name="Shape 18"/>
          <p:cNvSpPr/>
          <p:nvPr/>
        </p:nvSpPr>
        <p:spPr>
          <a:xfrm>
            <a:off x="640080" y="5184648"/>
            <a:ext cx="91440" cy="694944"/>
          </a:xfrm>
          <a:prstGeom prst="rect">
            <a:avLst/>
          </a:prstGeom>
          <a:solidFill>
            <a:srgbClr val="EA4B71"/>
          </a:solidFill>
          <a:ln/>
        </p:spPr>
      </p:sp>
      <p:sp>
        <p:nvSpPr>
          <p:cNvPr id="21" name="Text 19"/>
          <p:cNvSpPr/>
          <p:nvPr/>
        </p:nvSpPr>
        <p:spPr>
          <a:xfrm>
            <a:off x="1097280" y="5257800"/>
            <a:ext cx="10085832" cy="347472"/>
          </a:xfrm>
          <a:prstGeom prst="rect">
            <a:avLst/>
          </a:prstGeom>
          <a:noFill/>
          <a:ln/>
        </p:spPr>
        <p:txBody>
          <a:bodyPr wrap="square" lIns="0" tIns="0" rIns="0" bIns="0" rtlCol="0" anchor="ctr"/>
          <a:lstStyle/>
          <a:p>
            <a:pPr indent="0" marL="0">
              <a:buNone/>
            </a:pPr>
            <a:r>
              <a:rPr lang="en-US" sz="1500" b="1" dirty="0">
                <a:solidFill>
                  <a:srgbClr val="B8304F"/>
                </a:solidFill>
                <a:latin typeface="Trebuchet MS" pitchFamily="34" charset="0"/>
                <a:ea typeface="Trebuchet MS" pitchFamily="34" charset="-122"/>
                <a:cs typeface="Trebuchet MS" pitchFamily="34" charset="-120"/>
              </a:rPr>
              <a:t>Le JSON que tu édites, c’est le workflow</a:t>
            </a:r>
            <a:endParaRPr lang="en-US" sz="1500" dirty="0"/>
          </a:p>
        </p:txBody>
      </p:sp>
      <p:sp>
        <p:nvSpPr>
          <p:cNvPr id="22" name="Text 20"/>
          <p:cNvSpPr/>
          <p:nvPr/>
        </p:nvSpPr>
        <p:spPr>
          <a:xfrm>
            <a:off x="1097280" y="5623560"/>
            <a:ext cx="10085832" cy="182880"/>
          </a:xfrm>
          <a:prstGeom prst="rect">
            <a:avLst/>
          </a:prstGeom>
          <a:noFill/>
          <a:ln/>
        </p:spPr>
        <p:txBody>
          <a:bodyPr wrap="square" lIns="0" tIns="0" rIns="0" bIns="0" rtlCol="0" anchor="ctr"/>
          <a:lstStyle/>
          <a:p>
            <a:pPr indent="0" marL="0">
              <a:lnSpc>
                <a:spcPct val="120000"/>
              </a:lnSpc>
              <a:buNone/>
            </a:pPr>
            <a:r>
              <a:rPr lang="en-US" sz="1250" dirty="0">
                <a:solidFill>
                  <a:srgbClr val="1A1A2E"/>
                </a:solidFill>
                <a:latin typeface="Calibri" pitchFamily="34" charset="0"/>
                <a:ea typeface="Calibri" pitchFamily="34" charset="-122"/>
                <a:cs typeface="Calibri" pitchFamily="34" charset="-120"/>
              </a:rPr>
              <a:t>Pas de couche cachée : ce qu’on modifie dans workflows/git-linear-sync.json est exactement ce que le moteur execute.</a:t>
            </a:r>
            <a:endParaRPr lang="en-US" sz="1250" dirty="0"/>
          </a:p>
        </p:txBody>
      </p:sp>
      <p:sp>
        <p:nvSpPr>
          <p:cNvPr id="24" name="Shape 21"/>
          <p:cNvSpPr/>
          <p:nvPr/>
        </p:nvSpPr>
        <p:spPr>
          <a:xfrm>
            <a:off x="640080" y="6217920"/>
            <a:ext cx="10908792" cy="18288"/>
          </a:xfrm>
          <a:prstGeom prst="rect">
            <a:avLst/>
          </a:prstGeom>
          <a:solidFill>
            <a:srgbClr val="E2E2E8"/>
          </a:solidFill>
          <a:ln/>
        </p:spPr>
      </p:sp>
      <p:sp>
        <p:nvSpPr>
          <p:cNvPr id="25" name="Text 22"/>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Architecture interne</a:t>
            </a:r>
            <a:endParaRPr lang="en-US" sz="1100" dirty="0"/>
          </a:p>
        </p:txBody>
      </p:sp>
      <p:sp>
        <p:nvSpPr>
          <p:cNvPr id="26" name="Text 23"/>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10 / 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43000"/>
            <a:ext cx="10908792" cy="548640"/>
          </a:xfrm>
          <a:prstGeom prst="rect">
            <a:avLst/>
          </a:prstGeom>
          <a:noFill/>
          <a:ln/>
        </p:spPr>
        <p:txBody>
          <a:bodyPr wrap="square" lIns="0" tIns="0" rIns="0" bIns="0" rtlCol="0" anchor="ctr"/>
          <a:lstStyle/>
          <a:p>
            <a:pPr indent="0" marL="0">
              <a:buNone/>
            </a:pPr>
            <a:r>
              <a:rPr lang="en-US" sz="3000" b="1" dirty="0">
                <a:solidFill>
                  <a:srgbClr val="1A1A2E"/>
                </a:solidFill>
                <a:latin typeface="Trebuchet MS" pitchFamily="34" charset="0"/>
                <a:ea typeface="Trebuchet MS" pitchFamily="34" charset="-122"/>
                <a:cs typeface="Trebuchet MS" pitchFamily="34" charset="-120"/>
              </a:rPr>
              <a:t>Le format JSON d’un workflow</a:t>
            </a:r>
            <a:endParaRPr lang="en-US" sz="3000" dirty="0"/>
          </a:p>
        </p:txBody>
      </p:sp>
      <p:sp>
        <p:nvSpPr>
          <p:cNvPr id="6" name="Text 4"/>
          <p:cNvSpPr/>
          <p:nvPr/>
        </p:nvSpPr>
        <p:spPr>
          <a:xfrm>
            <a:off x="640080" y="1719072"/>
            <a:ext cx="10908792" cy="411480"/>
          </a:xfrm>
          <a:prstGeom prst="rect">
            <a:avLst/>
          </a:prstGeom>
          <a:noFill/>
          <a:ln/>
        </p:spPr>
        <p:txBody>
          <a:bodyPr wrap="square" lIns="0" tIns="0" rIns="0" bIns="0" rtlCol="0" anchor="ctr"/>
          <a:lstStyle/>
          <a:p>
            <a:pPr indent="0" marL="0">
              <a:buNone/>
            </a:pPr>
            <a:r>
              <a:rPr lang="en-US" sz="1400" dirty="0">
                <a:solidFill>
                  <a:srgbClr val="5C5C6E"/>
                </a:solidFill>
                <a:latin typeface="Calibri" pitchFamily="34" charset="0"/>
                <a:ea typeface="Calibri" pitchFamily="34" charset="-122"/>
                <a:cs typeface="Calibri" pitchFamily="34" charset="-120"/>
              </a:rPr>
              <a:t>Pas de couche cachée : ce qu’on édite dans workflows/git-linear-sync.json est exactement ce que le moteur exécute.</a:t>
            </a:r>
            <a:endParaRPr lang="en-US" sz="1400" dirty="0"/>
          </a:p>
        </p:txBody>
      </p:sp>
      <p:sp>
        <p:nvSpPr>
          <p:cNvPr id="7" name="Shape 5"/>
          <p:cNvSpPr/>
          <p:nvPr/>
        </p:nvSpPr>
        <p:spPr>
          <a:xfrm>
            <a:off x="640080" y="2212848"/>
            <a:ext cx="10908792" cy="2423160"/>
          </a:xfrm>
          <a:prstGeom prst="roundRect">
            <a:avLst>
              <a:gd name="adj" fmla="val 3774"/>
            </a:avLst>
          </a:prstGeom>
          <a:solidFill>
            <a:srgbClr val="101330"/>
          </a:solidFill>
          <a:ln/>
        </p:spPr>
      </p:sp>
      <p:sp>
        <p:nvSpPr>
          <p:cNvPr id="8" name="Text 6"/>
          <p:cNvSpPr/>
          <p:nvPr/>
        </p:nvSpPr>
        <p:spPr>
          <a:xfrm>
            <a:off x="914400" y="2359152"/>
            <a:ext cx="10360152" cy="2148840"/>
          </a:xfrm>
          <a:prstGeom prst="rect">
            <a:avLst/>
          </a:prstGeom>
          <a:noFill/>
          <a:ln/>
        </p:spPr>
        <p:txBody>
          <a:bodyPr wrap="square" lIns="0" tIns="0" rIns="0" bIns="0" rtlCol="0" anchor="ctr"/>
          <a:lstStyle/>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"nodes":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 "name": "Webhook", "type": "n8n-nodes-base.webhook",</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"parameters": { "httpMethod": "POST", "path": "git-sync" }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 "name": "Analyser le contexte", "type": "n8n-nodes-base.code",</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"parameters": { "jsCode": "..." }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"connections":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"Webhook": { "main": [[{ "node": "Analyser le contexte" }]]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E8E8F0"/>
                </a:solidFill>
                <a:latin typeface="Courier New" pitchFamily="34" charset="0"/>
                <a:ea typeface="Courier New" pitchFamily="34" charset="-122"/>
                <a:cs typeface="Courier New" pitchFamily="34" charset="-120"/>
              </a:rPr>
              <a:t>}</a:t>
            </a:r>
            <a:endParaRPr lang="en-US" sz="1100" dirty="0"/>
          </a:p>
        </p:txBody>
      </p:sp>
      <p:sp>
        <p:nvSpPr>
          <p:cNvPr id="9" name="Text 7"/>
          <p:cNvSpPr/>
          <p:nvPr/>
        </p:nvSpPr>
        <p:spPr>
          <a:xfrm>
            <a:off x="640080" y="4773168"/>
            <a:ext cx="2020824" cy="256032"/>
          </a:xfrm>
          <a:prstGeom prst="rect">
            <a:avLst/>
          </a:prstGeom>
          <a:noFill/>
          <a:ln/>
        </p:spPr>
        <p:txBody>
          <a:bodyPr wrap="square" lIns="0" tIns="0" rIns="0" bIns="0" rtlCol="0" anchor="ctr"/>
          <a:lstStyle/>
          <a:p>
            <a:pPr indent="0" marL="0">
              <a:buNone/>
            </a:pPr>
            <a:r>
              <a:rPr lang="en-US" sz="1250" b="1" dirty="0">
                <a:solidFill>
                  <a:srgbClr val="B8304F"/>
                </a:solidFill>
                <a:latin typeface="Courier New" pitchFamily="34" charset="0"/>
                <a:ea typeface="Courier New" pitchFamily="34" charset="-122"/>
                <a:cs typeface="Courier New" pitchFamily="34" charset="-120"/>
              </a:rPr>
              <a:t>nodes</a:t>
            </a:r>
            <a:endParaRPr lang="en-US" sz="1250" dirty="0"/>
          </a:p>
        </p:txBody>
      </p:sp>
      <p:sp>
        <p:nvSpPr>
          <p:cNvPr id="10" name="Text 8"/>
          <p:cNvSpPr/>
          <p:nvPr/>
        </p:nvSpPr>
        <p:spPr>
          <a:xfrm>
            <a:off x="640080" y="5047488"/>
            <a:ext cx="2020824" cy="777240"/>
          </a:xfrm>
          <a:prstGeom prst="rect">
            <a:avLst/>
          </a:prstGeom>
          <a:noFill/>
          <a:ln/>
        </p:spPr>
        <p:txBody>
          <a:bodyPr wrap="square" lIns="0" tIns="0" rIns="0" bIns="0" rtlCol="0" anchor="ctr"/>
          <a:lstStyle/>
          <a:p>
            <a:pPr indent="0" marL="0">
              <a:lnSpc>
                <a:spcPct val="115000"/>
              </a:lnSpc>
              <a:buNone/>
            </a:pPr>
            <a:r>
              <a:rPr lang="en-US" sz="1050" dirty="0">
                <a:solidFill>
                  <a:srgbClr val="5C5C6E"/>
                </a:solidFill>
                <a:latin typeface="Calibri" pitchFamily="34" charset="0"/>
                <a:ea typeface="Calibri" pitchFamily="34" charset="-122"/>
                <a:cs typeface="Calibri" pitchFamily="34" charset="-120"/>
              </a:rPr>
              <a:t>tableau, un objet par nœud sur le canvas</a:t>
            </a:r>
            <a:endParaRPr lang="en-US" sz="1050" dirty="0"/>
          </a:p>
        </p:txBody>
      </p:sp>
      <p:sp>
        <p:nvSpPr>
          <p:cNvPr id="11" name="Text 9"/>
          <p:cNvSpPr/>
          <p:nvPr/>
        </p:nvSpPr>
        <p:spPr>
          <a:xfrm>
            <a:off x="2862072" y="4773168"/>
            <a:ext cx="2020824" cy="256032"/>
          </a:xfrm>
          <a:prstGeom prst="rect">
            <a:avLst/>
          </a:prstGeom>
          <a:noFill/>
          <a:ln/>
        </p:spPr>
        <p:txBody>
          <a:bodyPr wrap="square" lIns="0" tIns="0" rIns="0" bIns="0" rtlCol="0" anchor="ctr"/>
          <a:lstStyle/>
          <a:p>
            <a:pPr indent="0" marL="0">
              <a:buNone/>
            </a:pPr>
            <a:r>
              <a:rPr lang="en-US" sz="1250" b="1" dirty="0">
                <a:solidFill>
                  <a:srgbClr val="B8304F"/>
                </a:solidFill>
                <a:latin typeface="Courier New" pitchFamily="34" charset="0"/>
                <a:ea typeface="Courier New" pitchFamily="34" charset="-122"/>
                <a:cs typeface="Courier New" pitchFamily="34" charset="-120"/>
              </a:rPr>
              <a:t>name</a:t>
            </a:r>
            <a:endParaRPr lang="en-US" sz="1250" dirty="0"/>
          </a:p>
        </p:txBody>
      </p:sp>
      <p:sp>
        <p:nvSpPr>
          <p:cNvPr id="12" name="Text 10"/>
          <p:cNvSpPr/>
          <p:nvPr/>
        </p:nvSpPr>
        <p:spPr>
          <a:xfrm>
            <a:off x="2862072" y="5047488"/>
            <a:ext cx="2020824" cy="777240"/>
          </a:xfrm>
          <a:prstGeom prst="rect">
            <a:avLst/>
          </a:prstGeom>
          <a:noFill/>
          <a:ln/>
        </p:spPr>
        <p:txBody>
          <a:bodyPr wrap="square" lIns="0" tIns="0" rIns="0" bIns="0" rtlCol="0" anchor="ctr"/>
          <a:lstStyle/>
          <a:p>
            <a:pPr indent="0" marL="0">
              <a:lnSpc>
                <a:spcPct val="115000"/>
              </a:lnSpc>
              <a:buNone/>
            </a:pPr>
            <a:r>
              <a:rPr lang="en-US" sz="1050" dirty="0">
                <a:solidFill>
                  <a:srgbClr val="5C5C6E"/>
                </a:solidFill>
                <a:latin typeface="Calibri" pitchFamily="34" charset="0"/>
                <a:ea typeface="Calibri" pitchFamily="34" charset="-122"/>
                <a:cs typeface="Calibri" pitchFamily="34" charset="-120"/>
              </a:rPr>
              <a:t>le nom affiché, utilisé par connections</a:t>
            </a:r>
            <a:endParaRPr lang="en-US" sz="1050" dirty="0"/>
          </a:p>
        </p:txBody>
      </p:sp>
      <p:sp>
        <p:nvSpPr>
          <p:cNvPr id="13" name="Text 11"/>
          <p:cNvSpPr/>
          <p:nvPr/>
        </p:nvSpPr>
        <p:spPr>
          <a:xfrm>
            <a:off x="5084064" y="4773168"/>
            <a:ext cx="2020824" cy="256032"/>
          </a:xfrm>
          <a:prstGeom prst="rect">
            <a:avLst/>
          </a:prstGeom>
          <a:noFill/>
          <a:ln/>
        </p:spPr>
        <p:txBody>
          <a:bodyPr wrap="square" lIns="0" tIns="0" rIns="0" bIns="0" rtlCol="0" anchor="ctr"/>
          <a:lstStyle/>
          <a:p>
            <a:pPr indent="0" marL="0">
              <a:buNone/>
            </a:pPr>
            <a:r>
              <a:rPr lang="en-US" sz="1250" b="1" dirty="0">
                <a:solidFill>
                  <a:srgbClr val="B8304F"/>
                </a:solidFill>
                <a:latin typeface="Courier New" pitchFamily="34" charset="0"/>
                <a:ea typeface="Courier New" pitchFamily="34" charset="-122"/>
                <a:cs typeface="Courier New" pitchFamily="34" charset="-120"/>
              </a:rPr>
              <a:t>type</a:t>
            </a:r>
            <a:endParaRPr lang="en-US" sz="1250" dirty="0"/>
          </a:p>
        </p:txBody>
      </p:sp>
      <p:sp>
        <p:nvSpPr>
          <p:cNvPr id="14" name="Text 12"/>
          <p:cNvSpPr/>
          <p:nvPr/>
        </p:nvSpPr>
        <p:spPr>
          <a:xfrm>
            <a:off x="5084064" y="5047488"/>
            <a:ext cx="2020824" cy="777240"/>
          </a:xfrm>
          <a:prstGeom prst="rect">
            <a:avLst/>
          </a:prstGeom>
          <a:noFill/>
          <a:ln/>
        </p:spPr>
        <p:txBody>
          <a:bodyPr wrap="square" lIns="0" tIns="0" rIns="0" bIns="0" rtlCol="0" anchor="ctr"/>
          <a:lstStyle/>
          <a:p>
            <a:pPr indent="0" marL="0">
              <a:lnSpc>
                <a:spcPct val="115000"/>
              </a:lnSpc>
              <a:buNone/>
            </a:pPr>
            <a:r>
              <a:rPr lang="en-US" sz="1050" dirty="0">
                <a:solidFill>
                  <a:srgbClr val="5C5C6E"/>
                </a:solidFill>
                <a:latin typeface="Calibri" pitchFamily="34" charset="0"/>
                <a:ea typeface="Calibri" pitchFamily="34" charset="-122"/>
                <a:cs typeface="Calibri" pitchFamily="34" charset="-120"/>
              </a:rPr>
              <a:t>le genre de nœud : webhook, code, if...</a:t>
            </a:r>
            <a:endParaRPr lang="en-US" sz="1050" dirty="0"/>
          </a:p>
        </p:txBody>
      </p:sp>
      <p:sp>
        <p:nvSpPr>
          <p:cNvPr id="15" name="Text 13"/>
          <p:cNvSpPr/>
          <p:nvPr/>
        </p:nvSpPr>
        <p:spPr>
          <a:xfrm>
            <a:off x="7306056" y="4773168"/>
            <a:ext cx="2020824" cy="256032"/>
          </a:xfrm>
          <a:prstGeom prst="rect">
            <a:avLst/>
          </a:prstGeom>
          <a:noFill/>
          <a:ln/>
        </p:spPr>
        <p:txBody>
          <a:bodyPr wrap="square" lIns="0" tIns="0" rIns="0" bIns="0" rtlCol="0" anchor="ctr"/>
          <a:lstStyle/>
          <a:p>
            <a:pPr indent="0" marL="0">
              <a:buNone/>
            </a:pPr>
            <a:r>
              <a:rPr lang="en-US" sz="1250" b="1" dirty="0">
                <a:solidFill>
                  <a:srgbClr val="B8304F"/>
                </a:solidFill>
                <a:latin typeface="Courier New" pitchFamily="34" charset="0"/>
                <a:ea typeface="Courier New" pitchFamily="34" charset="-122"/>
                <a:cs typeface="Courier New" pitchFamily="34" charset="-120"/>
              </a:rPr>
              <a:t>parameters</a:t>
            </a:r>
            <a:endParaRPr lang="en-US" sz="1250" dirty="0"/>
          </a:p>
        </p:txBody>
      </p:sp>
      <p:sp>
        <p:nvSpPr>
          <p:cNvPr id="16" name="Text 14"/>
          <p:cNvSpPr/>
          <p:nvPr/>
        </p:nvSpPr>
        <p:spPr>
          <a:xfrm>
            <a:off x="7306056" y="5047488"/>
            <a:ext cx="2020824" cy="777240"/>
          </a:xfrm>
          <a:prstGeom prst="rect">
            <a:avLst/>
          </a:prstGeom>
          <a:noFill/>
          <a:ln/>
        </p:spPr>
        <p:txBody>
          <a:bodyPr wrap="square" lIns="0" tIns="0" rIns="0" bIns="0" rtlCol="0" anchor="ctr"/>
          <a:lstStyle/>
          <a:p>
            <a:pPr indent="0" marL="0">
              <a:lnSpc>
                <a:spcPct val="115000"/>
              </a:lnSpc>
              <a:buNone/>
            </a:pPr>
            <a:r>
              <a:rPr lang="en-US" sz="1050" dirty="0">
                <a:solidFill>
                  <a:srgbClr val="5C5C6E"/>
                </a:solidFill>
                <a:latin typeface="Calibri" pitchFamily="34" charset="0"/>
                <a:ea typeface="Calibri" pitchFamily="34" charset="-122"/>
                <a:cs typeface="Calibri" pitchFamily="34" charset="-120"/>
              </a:rPr>
              <a:t>la config propre à ce nœud</a:t>
            </a:r>
            <a:endParaRPr lang="en-US" sz="1050" dirty="0"/>
          </a:p>
        </p:txBody>
      </p:sp>
      <p:sp>
        <p:nvSpPr>
          <p:cNvPr id="17" name="Text 15"/>
          <p:cNvSpPr/>
          <p:nvPr/>
        </p:nvSpPr>
        <p:spPr>
          <a:xfrm>
            <a:off x="9528048" y="4773168"/>
            <a:ext cx="2020824" cy="256032"/>
          </a:xfrm>
          <a:prstGeom prst="rect">
            <a:avLst/>
          </a:prstGeom>
          <a:noFill/>
          <a:ln/>
        </p:spPr>
        <p:txBody>
          <a:bodyPr wrap="square" lIns="0" tIns="0" rIns="0" bIns="0" rtlCol="0" anchor="ctr"/>
          <a:lstStyle/>
          <a:p>
            <a:pPr indent="0" marL="0">
              <a:buNone/>
            </a:pPr>
            <a:r>
              <a:rPr lang="en-US" sz="1250" b="1" dirty="0">
                <a:solidFill>
                  <a:srgbClr val="B8304F"/>
                </a:solidFill>
                <a:latin typeface="Courier New" pitchFamily="34" charset="0"/>
                <a:ea typeface="Courier New" pitchFamily="34" charset="-122"/>
                <a:cs typeface="Courier New" pitchFamily="34" charset="-120"/>
              </a:rPr>
              <a:t>connections</a:t>
            </a:r>
            <a:endParaRPr lang="en-US" sz="1250" dirty="0"/>
          </a:p>
        </p:txBody>
      </p:sp>
      <p:sp>
        <p:nvSpPr>
          <p:cNvPr id="18" name="Text 16"/>
          <p:cNvSpPr/>
          <p:nvPr/>
        </p:nvSpPr>
        <p:spPr>
          <a:xfrm>
            <a:off x="9528048" y="5047488"/>
            <a:ext cx="2020824" cy="777240"/>
          </a:xfrm>
          <a:prstGeom prst="rect">
            <a:avLst/>
          </a:prstGeom>
          <a:noFill/>
          <a:ln/>
        </p:spPr>
        <p:txBody>
          <a:bodyPr wrap="square" lIns="0" tIns="0" rIns="0" bIns="0" rtlCol="0" anchor="ctr"/>
          <a:lstStyle/>
          <a:p>
            <a:pPr indent="0" marL="0">
              <a:lnSpc>
                <a:spcPct val="115000"/>
              </a:lnSpc>
              <a:buNone/>
            </a:pPr>
            <a:r>
              <a:rPr lang="en-US" sz="1050" dirty="0">
                <a:solidFill>
                  <a:srgbClr val="5C5C6E"/>
                </a:solidFill>
                <a:latin typeface="Calibri" pitchFamily="34" charset="0"/>
                <a:ea typeface="Calibri" pitchFamily="34" charset="-122"/>
                <a:cs typeface="Calibri" pitchFamily="34" charset="-120"/>
              </a:rPr>
              <a:t>les flèches entre les nœuds</a:t>
            </a:r>
            <a:endParaRPr lang="en-US" sz="1050" dirty="0"/>
          </a:p>
        </p:txBody>
      </p:sp>
      <p:sp>
        <p:nvSpPr>
          <p:cNvPr id="20" name="Shape 17"/>
          <p:cNvSpPr/>
          <p:nvPr/>
        </p:nvSpPr>
        <p:spPr>
          <a:xfrm>
            <a:off x="640080" y="6217920"/>
            <a:ext cx="10908792" cy="18288"/>
          </a:xfrm>
          <a:prstGeom prst="rect">
            <a:avLst/>
          </a:prstGeom>
          <a:solidFill>
            <a:srgbClr val="E2E2E8"/>
          </a:solidFill>
          <a:ln/>
        </p:spPr>
      </p:sp>
      <p:sp>
        <p:nvSpPr>
          <p:cNvPr id="21" name="Text 18"/>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Le format JSON</a:t>
            </a:r>
            <a:endParaRPr lang="en-US" sz="1100" dirty="0"/>
          </a:p>
        </p:txBody>
      </p:sp>
      <p:sp>
        <p:nvSpPr>
          <p:cNvPr id="22" name="Text 19"/>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11 / 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88720"/>
            <a:ext cx="10908792" cy="640080"/>
          </a:xfrm>
          <a:prstGeom prst="rect">
            <a:avLst/>
          </a:prstGeom>
          <a:noFill/>
          <a:ln/>
        </p:spPr>
        <p:txBody>
          <a:bodyPr wrap="square" lIns="0" tIns="0" rIns="0" bIns="0" rtlCol="0" anchor="ctr"/>
          <a:lstStyle/>
          <a:p>
            <a:pPr indent="0" marL="0">
              <a:buNone/>
            </a:pPr>
            <a:r>
              <a:rPr lang="en-US" sz="3000" b="1" dirty="0">
                <a:solidFill>
                  <a:srgbClr val="1A1A2E"/>
                </a:solidFill>
                <a:latin typeface="Trebuchet MS" pitchFamily="34" charset="0"/>
                <a:ea typeface="Trebuchet MS" pitchFamily="34" charset="-122"/>
                <a:cs typeface="Trebuchet MS" pitchFamily="34" charset="-120"/>
              </a:rPr>
              <a:t>Du webhook à la réponse, étape par étape</a:t>
            </a:r>
            <a:endParaRPr lang="en-US" sz="3000" dirty="0"/>
          </a:p>
        </p:txBody>
      </p:sp>
      <p:sp>
        <p:nvSpPr>
          <p:cNvPr id="6" name="Shape 4"/>
          <p:cNvSpPr/>
          <p:nvPr/>
        </p:nvSpPr>
        <p:spPr>
          <a:xfrm>
            <a:off x="640080" y="2020824"/>
            <a:ext cx="310896" cy="310896"/>
          </a:xfrm>
          <a:prstGeom prst="ellipse">
            <a:avLst/>
          </a:prstGeom>
          <a:solidFill>
            <a:srgbClr val="B8304F"/>
          </a:solidFill>
          <a:ln/>
        </p:spPr>
      </p:sp>
      <p:sp>
        <p:nvSpPr>
          <p:cNvPr id="7" name="Text 5"/>
          <p:cNvSpPr/>
          <p:nvPr/>
        </p:nvSpPr>
        <p:spPr>
          <a:xfrm>
            <a:off x="640080" y="202082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8" name="Text 6"/>
          <p:cNvSpPr/>
          <p:nvPr/>
        </p:nvSpPr>
        <p:spPr>
          <a:xfrm>
            <a:off x="1115568" y="1993392"/>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Réception</a:t>
            </a:r>
            <a:endParaRPr lang="en-US" sz="1400" dirty="0"/>
          </a:p>
        </p:txBody>
      </p:sp>
      <p:sp>
        <p:nvSpPr>
          <p:cNvPr id="9" name="Text 7"/>
          <p:cNvSpPr/>
          <p:nvPr/>
        </p:nvSpPr>
        <p:spPr>
          <a:xfrm>
            <a:off x="3611880" y="1993392"/>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 serveur HTTP reçoit le POST de git-sync sur /webhook/git-sync</a:t>
            </a:r>
            <a:endParaRPr lang="en-US" sz="1300" dirty="0"/>
          </a:p>
        </p:txBody>
      </p:sp>
      <p:sp>
        <p:nvSpPr>
          <p:cNvPr id="10" name="Shape 8"/>
          <p:cNvSpPr/>
          <p:nvPr/>
        </p:nvSpPr>
        <p:spPr>
          <a:xfrm>
            <a:off x="790956" y="2532888"/>
            <a:ext cx="10973" cy="91440"/>
          </a:xfrm>
          <a:prstGeom prst="rect">
            <a:avLst/>
          </a:prstGeom>
          <a:solidFill>
            <a:srgbClr val="D2D2DC"/>
          </a:solidFill>
          <a:ln/>
        </p:spPr>
      </p:sp>
      <p:sp>
        <p:nvSpPr>
          <p:cNvPr id="11" name="Shape 9"/>
          <p:cNvSpPr/>
          <p:nvPr/>
        </p:nvSpPr>
        <p:spPr>
          <a:xfrm>
            <a:off x="640080" y="2624328"/>
            <a:ext cx="310896" cy="310896"/>
          </a:xfrm>
          <a:prstGeom prst="ellipse">
            <a:avLst/>
          </a:prstGeom>
          <a:solidFill>
            <a:srgbClr val="B8304F"/>
          </a:solidFill>
          <a:ln/>
        </p:spPr>
      </p:sp>
      <p:sp>
        <p:nvSpPr>
          <p:cNvPr id="12" name="Text 10"/>
          <p:cNvSpPr/>
          <p:nvPr/>
        </p:nvSpPr>
        <p:spPr>
          <a:xfrm>
            <a:off x="640080" y="26243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3" name="Text 11"/>
          <p:cNvSpPr/>
          <p:nvPr/>
        </p:nvSpPr>
        <p:spPr>
          <a:xfrm>
            <a:off x="1115568" y="2596896"/>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Association</a:t>
            </a:r>
            <a:endParaRPr lang="en-US" sz="1400" dirty="0"/>
          </a:p>
        </p:txBody>
      </p:sp>
      <p:sp>
        <p:nvSpPr>
          <p:cNvPr id="14" name="Text 12"/>
          <p:cNvSpPr/>
          <p:nvPr/>
        </p:nvSpPr>
        <p:spPr>
          <a:xfrm>
            <a:off x="3611880" y="2596896"/>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il retrouve le workflow lié à ce chemin, démarre une exécution</a:t>
            </a:r>
            <a:endParaRPr lang="en-US" sz="1300" dirty="0"/>
          </a:p>
        </p:txBody>
      </p:sp>
      <p:sp>
        <p:nvSpPr>
          <p:cNvPr id="15" name="Shape 13"/>
          <p:cNvSpPr/>
          <p:nvPr/>
        </p:nvSpPr>
        <p:spPr>
          <a:xfrm>
            <a:off x="790956" y="3136392"/>
            <a:ext cx="10973" cy="91440"/>
          </a:xfrm>
          <a:prstGeom prst="rect">
            <a:avLst/>
          </a:prstGeom>
          <a:solidFill>
            <a:srgbClr val="D2D2DC"/>
          </a:solidFill>
          <a:ln/>
        </p:spPr>
      </p:sp>
      <p:sp>
        <p:nvSpPr>
          <p:cNvPr id="16" name="Shape 14"/>
          <p:cNvSpPr/>
          <p:nvPr/>
        </p:nvSpPr>
        <p:spPr>
          <a:xfrm>
            <a:off x="640080" y="3227832"/>
            <a:ext cx="310896" cy="310896"/>
          </a:xfrm>
          <a:prstGeom prst="ellipse">
            <a:avLst/>
          </a:prstGeom>
          <a:solidFill>
            <a:srgbClr val="B8304F"/>
          </a:solidFill>
          <a:ln/>
        </p:spPr>
      </p:sp>
      <p:sp>
        <p:nvSpPr>
          <p:cNvPr id="17" name="Text 15"/>
          <p:cNvSpPr/>
          <p:nvPr/>
        </p:nvSpPr>
        <p:spPr>
          <a:xfrm>
            <a:off x="640080" y="322783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8" name="Text 16"/>
          <p:cNvSpPr/>
          <p:nvPr/>
        </p:nvSpPr>
        <p:spPr>
          <a:xfrm>
            <a:off x="1115568" y="3200400"/>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Parcours du graphe</a:t>
            </a:r>
            <a:endParaRPr lang="en-US" sz="1400" dirty="0"/>
          </a:p>
        </p:txBody>
      </p:sp>
      <p:sp>
        <p:nvSpPr>
          <p:cNvPr id="19" name="Text 17"/>
          <p:cNvSpPr/>
          <p:nvPr/>
        </p:nvSpPr>
        <p:spPr>
          <a:xfrm>
            <a:off x="3611880" y="3200400"/>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 moteur suit les connections, nœud par nœud</a:t>
            </a:r>
            <a:endParaRPr lang="en-US" sz="1300" dirty="0"/>
          </a:p>
        </p:txBody>
      </p:sp>
      <p:sp>
        <p:nvSpPr>
          <p:cNvPr id="20" name="Shape 18"/>
          <p:cNvSpPr/>
          <p:nvPr/>
        </p:nvSpPr>
        <p:spPr>
          <a:xfrm>
            <a:off x="790956" y="3739896"/>
            <a:ext cx="10973" cy="91440"/>
          </a:xfrm>
          <a:prstGeom prst="rect">
            <a:avLst/>
          </a:prstGeom>
          <a:solidFill>
            <a:srgbClr val="D2D2DC"/>
          </a:solidFill>
          <a:ln/>
        </p:spPr>
      </p:sp>
      <p:sp>
        <p:nvSpPr>
          <p:cNvPr id="21" name="Shape 19"/>
          <p:cNvSpPr/>
          <p:nvPr/>
        </p:nvSpPr>
        <p:spPr>
          <a:xfrm>
            <a:off x="640080" y="3831336"/>
            <a:ext cx="310896" cy="310896"/>
          </a:xfrm>
          <a:prstGeom prst="ellipse">
            <a:avLst/>
          </a:prstGeom>
          <a:solidFill>
            <a:srgbClr val="B8304F"/>
          </a:solidFill>
          <a:ln/>
        </p:spPr>
      </p:sp>
      <p:sp>
        <p:nvSpPr>
          <p:cNvPr id="22" name="Text 20"/>
          <p:cNvSpPr/>
          <p:nvPr/>
        </p:nvSpPr>
        <p:spPr>
          <a:xfrm>
            <a:off x="640080" y="383133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3" name="Text 21"/>
          <p:cNvSpPr/>
          <p:nvPr/>
        </p:nvSpPr>
        <p:spPr>
          <a:xfrm>
            <a:off x="1115568" y="3803904"/>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Format commun</a:t>
            </a:r>
            <a:endParaRPr lang="en-US" sz="1400" dirty="0"/>
          </a:p>
        </p:txBody>
      </p:sp>
      <p:sp>
        <p:nvSpPr>
          <p:cNvPr id="24" name="Text 22"/>
          <p:cNvSpPr/>
          <p:nvPr/>
        </p:nvSpPr>
        <p:spPr>
          <a:xfrm>
            <a:off x="3611880" y="3803904"/>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chaque nœud reçoit et renvoie un tableau [{ json: {...} }]</a:t>
            </a:r>
            <a:endParaRPr lang="en-US" sz="1300" dirty="0"/>
          </a:p>
        </p:txBody>
      </p:sp>
      <p:sp>
        <p:nvSpPr>
          <p:cNvPr id="25" name="Shape 23"/>
          <p:cNvSpPr/>
          <p:nvPr/>
        </p:nvSpPr>
        <p:spPr>
          <a:xfrm>
            <a:off x="790956" y="4343400"/>
            <a:ext cx="10973" cy="91440"/>
          </a:xfrm>
          <a:prstGeom prst="rect">
            <a:avLst/>
          </a:prstGeom>
          <a:solidFill>
            <a:srgbClr val="D2D2DC"/>
          </a:solidFill>
          <a:ln/>
        </p:spPr>
      </p:sp>
      <p:sp>
        <p:nvSpPr>
          <p:cNvPr id="26" name="Shape 24"/>
          <p:cNvSpPr/>
          <p:nvPr/>
        </p:nvSpPr>
        <p:spPr>
          <a:xfrm>
            <a:off x="640080" y="4434840"/>
            <a:ext cx="310896" cy="310896"/>
          </a:xfrm>
          <a:prstGeom prst="ellipse">
            <a:avLst/>
          </a:prstGeom>
          <a:solidFill>
            <a:srgbClr val="B8304F"/>
          </a:solidFill>
          <a:ln/>
        </p:spPr>
      </p:sp>
      <p:sp>
        <p:nvSpPr>
          <p:cNvPr id="27" name="Text 25"/>
          <p:cNvSpPr/>
          <p:nvPr/>
        </p:nvSpPr>
        <p:spPr>
          <a:xfrm>
            <a:off x="640080" y="443484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8" name="Text 26"/>
          <p:cNvSpPr/>
          <p:nvPr/>
        </p:nvSpPr>
        <p:spPr>
          <a:xfrm>
            <a:off x="1115568" y="4407408"/>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Branches IF</a:t>
            </a:r>
            <a:endParaRPr lang="en-US" sz="1400" dirty="0"/>
          </a:p>
        </p:txBody>
      </p:sp>
      <p:sp>
        <p:nvSpPr>
          <p:cNvPr id="29" name="Text 27"/>
          <p:cNvSpPr/>
          <p:nvPr/>
        </p:nvSpPr>
        <p:spPr>
          <a:xfrm>
            <a:off x="3611880" y="4407408"/>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sortie 0 = vrai, sortie 1 = faux : détermine la suite</a:t>
            </a:r>
            <a:endParaRPr lang="en-US" sz="1300" dirty="0"/>
          </a:p>
        </p:txBody>
      </p:sp>
      <p:sp>
        <p:nvSpPr>
          <p:cNvPr id="30" name="Shape 28"/>
          <p:cNvSpPr/>
          <p:nvPr/>
        </p:nvSpPr>
        <p:spPr>
          <a:xfrm>
            <a:off x="790956" y="4946904"/>
            <a:ext cx="10973" cy="91440"/>
          </a:xfrm>
          <a:prstGeom prst="rect">
            <a:avLst/>
          </a:prstGeom>
          <a:solidFill>
            <a:srgbClr val="D2D2DC"/>
          </a:solidFill>
          <a:ln/>
        </p:spPr>
      </p:sp>
      <p:sp>
        <p:nvSpPr>
          <p:cNvPr id="31" name="Shape 29"/>
          <p:cNvSpPr/>
          <p:nvPr/>
        </p:nvSpPr>
        <p:spPr>
          <a:xfrm>
            <a:off x="640080" y="5038344"/>
            <a:ext cx="310896" cy="310896"/>
          </a:xfrm>
          <a:prstGeom prst="ellipse">
            <a:avLst/>
          </a:prstGeom>
          <a:solidFill>
            <a:srgbClr val="B8304F"/>
          </a:solidFill>
          <a:ln/>
        </p:spPr>
      </p:sp>
      <p:sp>
        <p:nvSpPr>
          <p:cNvPr id="32" name="Text 30"/>
          <p:cNvSpPr/>
          <p:nvPr/>
        </p:nvSpPr>
        <p:spPr>
          <a:xfrm>
            <a:off x="640080" y="503834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sp>
        <p:nvSpPr>
          <p:cNvPr id="33" name="Text 31"/>
          <p:cNvSpPr/>
          <p:nvPr/>
        </p:nvSpPr>
        <p:spPr>
          <a:xfrm>
            <a:off x="1115568" y="5010912"/>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Réponse</a:t>
            </a:r>
            <a:endParaRPr lang="en-US" sz="1400" dirty="0"/>
          </a:p>
        </p:txBody>
      </p:sp>
      <p:sp>
        <p:nvSpPr>
          <p:cNvPr id="34" name="Text 32"/>
          <p:cNvSpPr/>
          <p:nvPr/>
        </p:nvSpPr>
        <p:spPr>
          <a:xfrm>
            <a:off x="3611880" y="5010912"/>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 nœud Respond to Webhook renvoie la réponse HTTP</a:t>
            </a:r>
            <a:endParaRPr lang="en-US" sz="1300" dirty="0"/>
          </a:p>
        </p:txBody>
      </p:sp>
      <p:sp>
        <p:nvSpPr>
          <p:cNvPr id="35" name="Shape 33"/>
          <p:cNvSpPr/>
          <p:nvPr/>
        </p:nvSpPr>
        <p:spPr>
          <a:xfrm>
            <a:off x="790956" y="5550408"/>
            <a:ext cx="10973" cy="91440"/>
          </a:xfrm>
          <a:prstGeom prst="rect">
            <a:avLst/>
          </a:prstGeom>
          <a:solidFill>
            <a:srgbClr val="D2D2DC"/>
          </a:solidFill>
          <a:ln/>
        </p:spPr>
      </p:sp>
      <p:sp>
        <p:nvSpPr>
          <p:cNvPr id="36" name="Shape 34"/>
          <p:cNvSpPr/>
          <p:nvPr/>
        </p:nvSpPr>
        <p:spPr>
          <a:xfrm>
            <a:off x="640080" y="5641848"/>
            <a:ext cx="310896" cy="310896"/>
          </a:xfrm>
          <a:prstGeom prst="ellipse">
            <a:avLst/>
          </a:prstGeom>
          <a:solidFill>
            <a:srgbClr val="B8304F"/>
          </a:solidFill>
          <a:ln/>
        </p:spPr>
      </p:sp>
      <p:sp>
        <p:nvSpPr>
          <p:cNvPr id="37" name="Text 35"/>
          <p:cNvSpPr/>
          <p:nvPr/>
        </p:nvSpPr>
        <p:spPr>
          <a:xfrm>
            <a:off x="640080" y="56418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7</a:t>
            </a:r>
            <a:endParaRPr lang="en-US" sz="1400" dirty="0"/>
          </a:p>
        </p:txBody>
      </p:sp>
      <p:sp>
        <p:nvSpPr>
          <p:cNvPr id="38" name="Text 36"/>
          <p:cNvSpPr/>
          <p:nvPr/>
        </p:nvSpPr>
        <p:spPr>
          <a:xfrm>
            <a:off x="1115568" y="5614416"/>
            <a:ext cx="2377440" cy="512064"/>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Traçabilité</a:t>
            </a:r>
            <a:endParaRPr lang="en-US" sz="1400" dirty="0"/>
          </a:p>
        </p:txBody>
      </p:sp>
      <p:sp>
        <p:nvSpPr>
          <p:cNvPr id="39" name="Text 37"/>
          <p:cNvSpPr/>
          <p:nvPr/>
        </p:nvSpPr>
        <p:spPr>
          <a:xfrm>
            <a:off x="3611880" y="5614416"/>
            <a:ext cx="7936992"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tout est sauvegardé, visible dans l’onglet Executions</a:t>
            </a:r>
            <a:endParaRPr lang="en-US" sz="1300" dirty="0"/>
          </a:p>
        </p:txBody>
      </p:sp>
      <p:sp>
        <p:nvSpPr>
          <p:cNvPr id="41" name="Shape 38"/>
          <p:cNvSpPr/>
          <p:nvPr/>
        </p:nvSpPr>
        <p:spPr>
          <a:xfrm>
            <a:off x="640080" y="6217920"/>
            <a:ext cx="10908792" cy="18288"/>
          </a:xfrm>
          <a:prstGeom prst="rect">
            <a:avLst/>
          </a:prstGeom>
          <a:solidFill>
            <a:srgbClr val="E2E2E8"/>
          </a:solidFill>
          <a:ln/>
        </p:spPr>
      </p:sp>
      <p:sp>
        <p:nvSpPr>
          <p:cNvPr id="42" name="Text 39"/>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Du webhook à la réponse</a:t>
            </a:r>
            <a:endParaRPr lang="en-US" sz="1100" dirty="0"/>
          </a:p>
        </p:txBody>
      </p:sp>
      <p:sp>
        <p:nvSpPr>
          <p:cNvPr id="43" name="Text 40"/>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12 / 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88720"/>
            <a:ext cx="10908792" cy="640080"/>
          </a:xfrm>
          <a:prstGeom prst="rect">
            <a:avLst/>
          </a:prstGeom>
          <a:noFill/>
          <a:ln/>
        </p:spPr>
        <p:txBody>
          <a:bodyPr wrap="square" lIns="0" tIns="0" rIns="0" bIns="0" rtlCol="0" anchor="ctr"/>
          <a:lstStyle/>
          <a:p>
            <a:pPr indent="0" marL="0">
              <a:buNone/>
            </a:pPr>
            <a:r>
              <a:rPr lang="en-US" sz="3600" b="1" dirty="0">
                <a:solidFill>
                  <a:srgbClr val="1A1A2E"/>
                </a:solidFill>
                <a:latin typeface="Trebuchet MS" pitchFamily="34" charset="0"/>
                <a:ea typeface="Trebuchet MS" pitchFamily="34" charset="-122"/>
                <a:cs typeface="Trebuchet MS" pitchFamily="34" charset="-120"/>
              </a:rPr>
              <a:t>n8n et Postgres</a:t>
            </a:r>
            <a:endParaRPr lang="en-US" sz="3600" dirty="0"/>
          </a:p>
        </p:txBody>
      </p:sp>
      <p:sp>
        <p:nvSpPr>
          <p:cNvPr id="6" name="Text 4"/>
          <p:cNvSpPr/>
          <p:nvPr/>
        </p:nvSpPr>
        <p:spPr>
          <a:xfrm>
            <a:off x="640080" y="1901952"/>
            <a:ext cx="10908792" cy="457200"/>
          </a:xfrm>
          <a:prstGeom prst="rect">
            <a:avLst/>
          </a:prstGeom>
          <a:noFill/>
          <a:ln/>
        </p:spPr>
        <p:txBody>
          <a:bodyPr wrap="square" lIns="0" tIns="0" rIns="0" bIns="0" rtlCol="0" anchor="ctr"/>
          <a:lstStyle/>
          <a:p>
            <a:pPr indent="0" marL="0">
              <a:buNone/>
            </a:pPr>
            <a:r>
              <a:rPr lang="en-US" sz="1600" dirty="0">
                <a:solidFill>
                  <a:srgbClr val="5C5C6E"/>
                </a:solidFill>
                <a:latin typeface="Calibri" pitchFamily="34" charset="0"/>
                <a:ea typeface="Calibri" pitchFamily="34" charset="-122"/>
                <a:cs typeface="Calibri" pitchFamily="34" charset="-120"/>
              </a:rPr>
              <a:t>n8n utilise un ORM (TypeORM), une bibliothèque qui traduit du code en requêtes SQL, pour parler à Postgres.</a:t>
            </a:r>
            <a:endParaRPr lang="en-US" sz="1600" dirty="0"/>
          </a:p>
        </p:txBody>
      </p:sp>
      <p:sp>
        <p:nvSpPr>
          <p:cNvPr id="7" name="Shape 5"/>
          <p:cNvSpPr/>
          <p:nvPr/>
        </p:nvSpPr>
        <p:spPr>
          <a:xfrm>
            <a:off x="640080" y="2651760"/>
            <a:ext cx="3291840" cy="1005840"/>
          </a:xfrm>
          <a:prstGeom prst="roundRect">
            <a:avLst>
              <a:gd name="adj" fmla="val 9091"/>
            </a:avLst>
          </a:prstGeom>
          <a:solidFill>
            <a:srgbClr val="B8304F"/>
          </a:solidFill>
          <a:ln/>
        </p:spPr>
      </p:sp>
      <p:sp>
        <p:nvSpPr>
          <p:cNvPr id="8" name="Text 6"/>
          <p:cNvSpPr/>
          <p:nvPr/>
        </p:nvSpPr>
        <p:spPr>
          <a:xfrm>
            <a:off x="914400" y="2816352"/>
            <a:ext cx="2743200" cy="4114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n8n</a:t>
            </a:r>
            <a:endParaRPr lang="en-US" sz="2200" dirty="0"/>
          </a:p>
        </p:txBody>
      </p:sp>
      <p:sp>
        <p:nvSpPr>
          <p:cNvPr id="9" name="Text 7"/>
          <p:cNvSpPr/>
          <p:nvPr/>
        </p:nvSpPr>
        <p:spPr>
          <a:xfrm>
            <a:off x="914400" y="3246120"/>
            <a:ext cx="2743200" cy="320040"/>
          </a:xfrm>
          <a:prstGeom prst="rect">
            <a:avLst/>
          </a:prstGeom>
          <a:noFill/>
          <a:ln/>
        </p:spPr>
        <p:txBody>
          <a:bodyPr wrap="square" lIns="0" tIns="0" rIns="0" bIns="0" rtlCol="0" anchor="ctr"/>
          <a:lstStyle/>
          <a:p>
            <a:pPr indent="0" marL="0">
              <a:buNone/>
            </a:pPr>
            <a:r>
              <a:rPr lang="en-US" sz="1250" dirty="0">
                <a:solidFill>
                  <a:srgbClr val="FFD9E2"/>
                </a:solidFill>
                <a:latin typeface="Calibri" pitchFamily="34" charset="0"/>
                <a:ea typeface="Calibri" pitchFamily="34" charset="-122"/>
                <a:cs typeface="Calibri" pitchFamily="34" charset="-120"/>
              </a:rPr>
              <a:t>conteneur Docker</a:t>
            </a:r>
            <a:endParaRPr lang="en-US" sz="1250" dirty="0"/>
          </a:p>
        </p:txBody>
      </p:sp>
      <p:sp>
        <p:nvSpPr>
          <p:cNvPr id="10" name="Shape 8"/>
          <p:cNvSpPr/>
          <p:nvPr/>
        </p:nvSpPr>
        <p:spPr>
          <a:xfrm>
            <a:off x="8257032" y="2651760"/>
            <a:ext cx="3291840" cy="1005840"/>
          </a:xfrm>
          <a:prstGeom prst="roundRect">
            <a:avLst>
              <a:gd name="adj" fmla="val 9091"/>
            </a:avLst>
          </a:prstGeom>
          <a:solidFill>
            <a:srgbClr val="101330"/>
          </a:solidFill>
          <a:ln/>
        </p:spPr>
      </p:sp>
      <p:sp>
        <p:nvSpPr>
          <p:cNvPr id="11" name="Text 9"/>
          <p:cNvSpPr/>
          <p:nvPr/>
        </p:nvSpPr>
        <p:spPr>
          <a:xfrm>
            <a:off x="8531352" y="2816352"/>
            <a:ext cx="2743200" cy="4114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postgres</a:t>
            </a:r>
            <a:endParaRPr lang="en-US" sz="2200" dirty="0"/>
          </a:p>
        </p:txBody>
      </p:sp>
      <p:sp>
        <p:nvSpPr>
          <p:cNvPr id="12" name="Text 10"/>
          <p:cNvSpPr/>
          <p:nvPr/>
        </p:nvSpPr>
        <p:spPr>
          <a:xfrm>
            <a:off x="8531352" y="3246120"/>
            <a:ext cx="2743200" cy="320040"/>
          </a:xfrm>
          <a:prstGeom prst="rect">
            <a:avLst/>
          </a:prstGeom>
          <a:noFill/>
          <a:ln/>
        </p:spPr>
        <p:txBody>
          <a:bodyPr wrap="square" lIns="0" tIns="0" rIns="0" bIns="0" rtlCol="0" anchor="ctr"/>
          <a:lstStyle/>
          <a:p>
            <a:pPr indent="0" marL="0">
              <a:buNone/>
            </a:pPr>
            <a:r>
              <a:rPr lang="en-US" sz="1250" dirty="0">
                <a:solidFill>
                  <a:srgbClr val="C9CAE0"/>
                </a:solidFill>
                <a:latin typeface="Calibri" pitchFamily="34" charset="0"/>
                <a:ea typeface="Calibri" pitchFamily="34" charset="-122"/>
                <a:cs typeface="Calibri" pitchFamily="34" charset="-120"/>
              </a:rPr>
              <a:t>conteneur Docker</a:t>
            </a:r>
            <a:endParaRPr lang="en-US" sz="1250" dirty="0"/>
          </a:p>
        </p:txBody>
      </p:sp>
      <p:sp>
        <p:nvSpPr>
          <p:cNvPr id="13" name="Shape 11"/>
          <p:cNvSpPr/>
          <p:nvPr/>
        </p:nvSpPr>
        <p:spPr>
          <a:xfrm>
            <a:off x="4023360" y="3136392"/>
            <a:ext cx="4142232" cy="27432"/>
          </a:xfrm>
          <a:prstGeom prst="rect">
            <a:avLst/>
          </a:prstGeom>
          <a:solidFill>
            <a:srgbClr val="EA4B71"/>
          </a:solidFill>
          <a:ln/>
        </p:spPr>
      </p:sp>
      <p:sp>
        <p:nvSpPr>
          <p:cNvPr id="14" name="Text 12"/>
          <p:cNvSpPr/>
          <p:nvPr/>
        </p:nvSpPr>
        <p:spPr>
          <a:xfrm>
            <a:off x="4023360" y="2304288"/>
            <a:ext cx="4142232" cy="320040"/>
          </a:xfrm>
          <a:prstGeom prst="rect">
            <a:avLst/>
          </a:prstGeom>
          <a:noFill/>
          <a:ln/>
        </p:spPr>
        <p:txBody>
          <a:bodyPr wrap="square" lIns="0" tIns="0" rIns="0" bIns="0" rtlCol="0" anchor="ctr"/>
          <a:lstStyle/>
          <a:p>
            <a:pPr algn="ctr" indent="0" marL="0">
              <a:buNone/>
            </a:pPr>
            <a:r>
              <a:rPr lang="en-US" sz="1150" i="1" dirty="0">
                <a:solidFill>
                  <a:srgbClr val="5C5C6E"/>
                </a:solidFill>
                <a:latin typeface="Calibri" pitchFamily="34" charset="0"/>
                <a:ea typeface="Calibri" pitchFamily="34" charset="-122"/>
                <a:cs typeface="Calibri" pitchFamily="34" charset="-120"/>
              </a:rPr>
              <a:t>DNS interne Docker : "postgres"</a:t>
            </a:r>
            <a:endParaRPr lang="en-US" sz="1150" dirty="0"/>
          </a:p>
        </p:txBody>
      </p:sp>
      <p:sp>
        <p:nvSpPr>
          <p:cNvPr id="15" name="Shape 13"/>
          <p:cNvSpPr/>
          <p:nvPr/>
        </p:nvSpPr>
        <p:spPr>
          <a:xfrm>
            <a:off x="640080" y="4151376"/>
            <a:ext cx="201168" cy="201168"/>
          </a:xfrm>
          <a:prstGeom prst="roundRect">
            <a:avLst>
              <a:gd name="adj" fmla="val 36364"/>
            </a:avLst>
          </a:prstGeom>
          <a:solidFill>
            <a:srgbClr val="EA4B71"/>
          </a:solidFill>
          <a:ln/>
        </p:spPr>
      </p:sp>
      <p:sp>
        <p:nvSpPr>
          <p:cNvPr id="16" name="Shape 14"/>
          <p:cNvSpPr/>
          <p:nvPr/>
        </p:nvSpPr>
        <p:spPr>
          <a:xfrm>
            <a:off x="722376" y="4210812"/>
            <a:ext cx="82296" cy="82296"/>
          </a:xfrm>
          <a:prstGeom prst="ellipse">
            <a:avLst/>
          </a:prstGeom>
          <a:solidFill>
            <a:srgbClr val="FFFFFF"/>
          </a:solidFill>
          <a:ln/>
        </p:spPr>
      </p:sp>
      <p:sp>
        <p:nvSpPr>
          <p:cNvPr id="17" name="Text 15"/>
          <p:cNvSpPr/>
          <p:nvPr/>
        </p:nvSpPr>
        <p:spPr>
          <a:xfrm>
            <a:off x="1024128" y="4114800"/>
            <a:ext cx="10524744"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docker-compose.yml fixe DB_POSTGRESDB_HOST=postgres, DB_POSTGRESDB_PORT=5432, etc.</a:t>
            </a:r>
            <a:endParaRPr lang="en-US" sz="1300" dirty="0"/>
          </a:p>
        </p:txBody>
      </p:sp>
      <p:sp>
        <p:nvSpPr>
          <p:cNvPr id="18" name="Shape 16"/>
          <p:cNvSpPr/>
          <p:nvPr/>
        </p:nvSpPr>
        <p:spPr>
          <a:xfrm>
            <a:off x="640080" y="4626864"/>
            <a:ext cx="201168" cy="201168"/>
          </a:xfrm>
          <a:prstGeom prst="roundRect">
            <a:avLst>
              <a:gd name="adj" fmla="val 36364"/>
            </a:avLst>
          </a:prstGeom>
          <a:solidFill>
            <a:srgbClr val="EA4B71"/>
          </a:solidFill>
          <a:ln/>
        </p:spPr>
      </p:sp>
      <p:sp>
        <p:nvSpPr>
          <p:cNvPr id="19" name="Shape 17"/>
          <p:cNvSpPr/>
          <p:nvPr/>
        </p:nvSpPr>
        <p:spPr>
          <a:xfrm>
            <a:off x="722376" y="4686300"/>
            <a:ext cx="82296" cy="82296"/>
          </a:xfrm>
          <a:prstGeom prst="ellipse">
            <a:avLst/>
          </a:prstGeom>
          <a:solidFill>
            <a:srgbClr val="FFFFFF"/>
          </a:solidFill>
          <a:ln/>
        </p:spPr>
      </p:sp>
      <p:sp>
        <p:nvSpPr>
          <p:cNvPr id="20" name="Text 18"/>
          <p:cNvSpPr/>
          <p:nvPr/>
        </p:nvSpPr>
        <p:spPr>
          <a:xfrm>
            <a:off x="1024128" y="4590288"/>
            <a:ext cx="10524744"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 postgres » n’est pas une adresse réseau classique : c’est le nom du service Docker, résolu automatiquement.</a:t>
            </a:r>
            <a:endParaRPr lang="en-US" sz="1300" dirty="0"/>
          </a:p>
        </p:txBody>
      </p:sp>
      <p:sp>
        <p:nvSpPr>
          <p:cNvPr id="21" name="Shape 19"/>
          <p:cNvSpPr/>
          <p:nvPr/>
        </p:nvSpPr>
        <p:spPr>
          <a:xfrm>
            <a:off x="640080" y="5102352"/>
            <a:ext cx="201168" cy="201168"/>
          </a:xfrm>
          <a:prstGeom prst="roundRect">
            <a:avLst>
              <a:gd name="adj" fmla="val 36364"/>
            </a:avLst>
          </a:prstGeom>
          <a:solidFill>
            <a:srgbClr val="EA4B71"/>
          </a:solidFill>
          <a:ln/>
        </p:spPr>
      </p:sp>
      <p:sp>
        <p:nvSpPr>
          <p:cNvPr id="22" name="Shape 20"/>
          <p:cNvSpPr/>
          <p:nvPr/>
        </p:nvSpPr>
        <p:spPr>
          <a:xfrm>
            <a:off x="722376" y="5161788"/>
            <a:ext cx="82296" cy="82296"/>
          </a:xfrm>
          <a:prstGeom prst="ellipse">
            <a:avLst/>
          </a:prstGeom>
          <a:solidFill>
            <a:srgbClr val="FFFFFF"/>
          </a:solidFill>
          <a:ln/>
        </p:spPr>
      </p:sp>
      <p:sp>
        <p:nvSpPr>
          <p:cNvPr id="23" name="Text 21"/>
          <p:cNvSpPr/>
          <p:nvPr/>
        </p:nvSpPr>
        <p:spPr>
          <a:xfrm>
            <a:off x="1024128" y="5065776"/>
            <a:ext cx="10524744"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Les deux conteneurs se parlent directement sur le réseau Docker, jamais via localhost ni la machine hôte.</a:t>
            </a:r>
            <a:endParaRPr lang="en-US" sz="1300" dirty="0"/>
          </a:p>
        </p:txBody>
      </p:sp>
      <p:sp>
        <p:nvSpPr>
          <p:cNvPr id="24" name="Shape 22"/>
          <p:cNvSpPr/>
          <p:nvPr/>
        </p:nvSpPr>
        <p:spPr>
          <a:xfrm>
            <a:off x="640080" y="5577840"/>
            <a:ext cx="201168" cy="201168"/>
          </a:xfrm>
          <a:prstGeom prst="roundRect">
            <a:avLst>
              <a:gd name="adj" fmla="val 36364"/>
            </a:avLst>
          </a:prstGeom>
          <a:solidFill>
            <a:srgbClr val="EA4B71"/>
          </a:solidFill>
          <a:ln/>
        </p:spPr>
      </p:sp>
      <p:sp>
        <p:nvSpPr>
          <p:cNvPr id="25" name="Shape 23"/>
          <p:cNvSpPr/>
          <p:nvPr/>
        </p:nvSpPr>
        <p:spPr>
          <a:xfrm>
            <a:off x="722376" y="5637276"/>
            <a:ext cx="82296" cy="82296"/>
          </a:xfrm>
          <a:prstGeom prst="ellipse">
            <a:avLst/>
          </a:prstGeom>
          <a:solidFill>
            <a:srgbClr val="FFFFFF"/>
          </a:solidFill>
          <a:ln/>
        </p:spPr>
      </p:sp>
      <p:sp>
        <p:nvSpPr>
          <p:cNvPr id="26" name="Text 24"/>
          <p:cNvSpPr/>
          <p:nvPr/>
        </p:nvSpPr>
        <p:spPr>
          <a:xfrm>
            <a:off x="1024128" y="5541264"/>
            <a:ext cx="10524744" cy="4572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Chaque action (sauvegarder un workflow, enregistrer une exécution, lire une credential) devient une requête SQL.</a:t>
            </a:r>
            <a:endParaRPr lang="en-US" sz="1300" dirty="0"/>
          </a:p>
        </p:txBody>
      </p:sp>
      <p:sp>
        <p:nvSpPr>
          <p:cNvPr id="28" name="Shape 25"/>
          <p:cNvSpPr/>
          <p:nvPr/>
        </p:nvSpPr>
        <p:spPr>
          <a:xfrm>
            <a:off x="640080" y="6217920"/>
            <a:ext cx="10908792" cy="18288"/>
          </a:xfrm>
          <a:prstGeom prst="rect">
            <a:avLst/>
          </a:prstGeom>
          <a:solidFill>
            <a:srgbClr val="E2E2E8"/>
          </a:solidFill>
          <a:ln/>
        </p:spPr>
      </p:sp>
      <p:sp>
        <p:nvSpPr>
          <p:cNvPr id="29" name="Text 26"/>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n8n et Postgres</a:t>
            </a:r>
            <a:endParaRPr lang="en-US" sz="1100" dirty="0"/>
          </a:p>
        </p:txBody>
      </p:sp>
      <p:sp>
        <p:nvSpPr>
          <p:cNvPr id="30" name="Text 27"/>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13 / 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88720"/>
            <a:ext cx="10908792" cy="640080"/>
          </a:xfrm>
          <a:prstGeom prst="rect">
            <a:avLst/>
          </a:prstGeom>
          <a:noFill/>
          <a:ln/>
        </p:spPr>
        <p:txBody>
          <a:bodyPr wrap="square" lIns="0" tIns="0" rIns="0" bIns="0" rtlCol="0" anchor="ctr"/>
          <a:lstStyle/>
          <a:p>
            <a:pPr indent="0" marL="0">
              <a:buNone/>
            </a:pPr>
            <a:r>
              <a:rPr lang="en-US" sz="3600" b="1" dirty="0">
                <a:solidFill>
                  <a:srgbClr val="1A1A2E"/>
                </a:solidFill>
                <a:latin typeface="Trebuchet MS" pitchFamily="34" charset="0"/>
                <a:ea typeface="Trebuchet MS" pitchFamily="34" charset="-122"/>
                <a:cs typeface="Trebuchet MS" pitchFamily="34" charset="-120"/>
              </a:rPr>
              <a:t>Les états d’un nœud</a:t>
            </a:r>
            <a:endParaRPr lang="en-US" sz="3600" dirty="0"/>
          </a:p>
        </p:txBody>
      </p:sp>
      <p:sp>
        <p:nvSpPr>
          <p:cNvPr id="6" name="Text 4"/>
          <p:cNvSpPr/>
          <p:nvPr/>
        </p:nvSpPr>
        <p:spPr>
          <a:xfrm>
            <a:off x="640080" y="1901952"/>
            <a:ext cx="5486400" cy="274320"/>
          </a:xfrm>
          <a:prstGeom prst="rect">
            <a:avLst/>
          </a:prstGeom>
          <a:noFill/>
          <a:ln/>
        </p:spPr>
        <p:txBody>
          <a:bodyPr wrap="square" lIns="0" tIns="0" rIns="0" bIns="0" rtlCol="0" anchor="ctr"/>
          <a:lstStyle/>
          <a:p>
            <a:pPr indent="0" marL="0">
              <a:buNone/>
            </a:pPr>
            <a:r>
              <a:rPr lang="en-US" sz="1200" b="1" spc="300" kern="0" dirty="0">
                <a:solidFill>
                  <a:srgbClr val="5C5C6E"/>
                </a:solidFill>
                <a:latin typeface="Calibri" pitchFamily="34" charset="0"/>
                <a:ea typeface="Calibri" pitchFamily="34" charset="-122"/>
                <a:cs typeface="Calibri" pitchFamily="34" charset="-120"/>
              </a:rPr>
              <a:t>AVANT L’EXÉCUTION</a:t>
            </a:r>
            <a:endParaRPr lang="en-US" sz="1200" dirty="0"/>
          </a:p>
        </p:txBody>
      </p:sp>
      <p:sp>
        <p:nvSpPr>
          <p:cNvPr id="7" name="Shape 5"/>
          <p:cNvSpPr/>
          <p:nvPr/>
        </p:nvSpPr>
        <p:spPr>
          <a:xfrm>
            <a:off x="640080" y="2212848"/>
            <a:ext cx="5271516" cy="1051560"/>
          </a:xfrm>
          <a:prstGeom prst="roundRect">
            <a:avLst>
              <a:gd name="adj" fmla="val 8696"/>
            </a:avLst>
          </a:prstGeom>
          <a:solidFill>
            <a:srgbClr val="B8304F"/>
          </a:solidFill>
          <a:ln/>
        </p:spPr>
      </p:sp>
      <p:sp>
        <p:nvSpPr>
          <p:cNvPr id="8" name="Text 6"/>
          <p:cNvSpPr/>
          <p:nvPr/>
        </p:nvSpPr>
        <p:spPr>
          <a:xfrm>
            <a:off x="859536" y="2340864"/>
            <a:ext cx="4832604" cy="310896"/>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Actif</a:t>
            </a:r>
            <a:endParaRPr lang="en-US" sz="1700" dirty="0"/>
          </a:p>
        </p:txBody>
      </p:sp>
      <p:sp>
        <p:nvSpPr>
          <p:cNvPr id="9" name="Text 7"/>
          <p:cNvSpPr/>
          <p:nvPr/>
        </p:nvSpPr>
        <p:spPr>
          <a:xfrm>
            <a:off x="859536" y="2651760"/>
            <a:ext cx="4832604" cy="548640"/>
          </a:xfrm>
          <a:prstGeom prst="rect">
            <a:avLst/>
          </a:prstGeom>
          <a:noFill/>
          <a:ln/>
        </p:spPr>
        <p:txBody>
          <a:bodyPr wrap="square" lIns="0" tIns="0" rIns="0" bIns="0"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fait partie du workflow, s’exécute normalement à chaque passage</a:t>
            </a:r>
            <a:endParaRPr lang="en-US" sz="1200" dirty="0"/>
          </a:p>
        </p:txBody>
      </p:sp>
      <p:sp>
        <p:nvSpPr>
          <p:cNvPr id="10" name="Shape 8"/>
          <p:cNvSpPr/>
          <p:nvPr/>
        </p:nvSpPr>
        <p:spPr>
          <a:xfrm>
            <a:off x="6277356" y="2212848"/>
            <a:ext cx="5271516" cy="1051560"/>
          </a:xfrm>
          <a:prstGeom prst="roundRect">
            <a:avLst>
              <a:gd name="adj" fmla="val 8696"/>
            </a:avLst>
          </a:prstGeom>
          <a:solidFill>
            <a:srgbClr val="9AA0A6"/>
          </a:solidFill>
          <a:ln/>
        </p:spPr>
      </p:sp>
      <p:sp>
        <p:nvSpPr>
          <p:cNvPr id="11" name="Text 9"/>
          <p:cNvSpPr/>
          <p:nvPr/>
        </p:nvSpPr>
        <p:spPr>
          <a:xfrm>
            <a:off x="6496812" y="2340864"/>
            <a:ext cx="4832604" cy="310896"/>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Désactivé</a:t>
            </a:r>
            <a:endParaRPr lang="en-US" sz="1700" dirty="0"/>
          </a:p>
        </p:txBody>
      </p:sp>
      <p:sp>
        <p:nvSpPr>
          <p:cNvPr id="12" name="Text 10"/>
          <p:cNvSpPr/>
          <p:nvPr/>
        </p:nvSpPr>
        <p:spPr>
          <a:xfrm>
            <a:off x="6496812" y="2651760"/>
            <a:ext cx="4832604" cy="548640"/>
          </a:xfrm>
          <a:prstGeom prst="rect">
            <a:avLst/>
          </a:prstGeom>
          <a:noFill/>
          <a:ln/>
        </p:spPr>
        <p:txBody>
          <a:bodyPr wrap="square" lIns="0" tIns="0" rIns="0" bIns="0"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ignoré par le moteur : ses données d’entrée passent telles quelles au nœud suivant, sans exécuter son code</a:t>
            </a:r>
            <a:endParaRPr lang="en-US" sz="1200" dirty="0"/>
          </a:p>
        </p:txBody>
      </p:sp>
      <p:sp>
        <p:nvSpPr>
          <p:cNvPr id="13" name="Text 11"/>
          <p:cNvSpPr/>
          <p:nvPr/>
        </p:nvSpPr>
        <p:spPr>
          <a:xfrm>
            <a:off x="640080" y="3520440"/>
            <a:ext cx="7315200" cy="274320"/>
          </a:xfrm>
          <a:prstGeom prst="rect">
            <a:avLst/>
          </a:prstGeom>
          <a:noFill/>
          <a:ln/>
        </p:spPr>
        <p:txBody>
          <a:bodyPr wrap="square" lIns="0" tIns="0" rIns="0" bIns="0" rtlCol="0" anchor="ctr"/>
          <a:lstStyle/>
          <a:p>
            <a:pPr indent="0" marL="0">
              <a:buNone/>
            </a:pPr>
            <a:r>
              <a:rPr lang="en-US" sz="1200" b="1" spc="300" kern="0" dirty="0">
                <a:solidFill>
                  <a:srgbClr val="5C5C6E"/>
                </a:solidFill>
                <a:latin typeface="Calibri" pitchFamily="34" charset="0"/>
                <a:ea typeface="Calibri" pitchFamily="34" charset="-122"/>
                <a:cs typeface="Calibri" pitchFamily="34" charset="-120"/>
              </a:rPr>
              <a:t>APRÈS UNE EXÉCUTION (ONGLET EXECUTIONS)</a:t>
            </a:r>
            <a:endParaRPr lang="en-US" sz="1200" dirty="0"/>
          </a:p>
        </p:txBody>
      </p:sp>
      <p:sp>
        <p:nvSpPr>
          <p:cNvPr id="14" name="Shape 12"/>
          <p:cNvSpPr/>
          <p:nvPr/>
        </p:nvSpPr>
        <p:spPr>
          <a:xfrm>
            <a:off x="640080" y="3840480"/>
            <a:ext cx="3453384" cy="1371600"/>
          </a:xfrm>
          <a:prstGeom prst="roundRect">
            <a:avLst>
              <a:gd name="adj" fmla="val 6667"/>
            </a:avLst>
          </a:prstGeom>
          <a:solidFill>
            <a:srgbClr val="F4F4F6"/>
          </a:solidFill>
          <a:ln/>
        </p:spPr>
      </p:sp>
      <p:sp>
        <p:nvSpPr>
          <p:cNvPr id="15" name="Shape 13"/>
          <p:cNvSpPr/>
          <p:nvPr/>
        </p:nvSpPr>
        <p:spPr>
          <a:xfrm>
            <a:off x="859536" y="4023360"/>
            <a:ext cx="274320" cy="274320"/>
          </a:xfrm>
          <a:prstGeom prst="ellipse">
            <a:avLst/>
          </a:prstGeom>
          <a:solidFill>
            <a:srgbClr val="2ECC71"/>
          </a:solidFill>
          <a:ln/>
        </p:spPr>
      </p:sp>
      <p:sp>
        <p:nvSpPr>
          <p:cNvPr id="16" name="Text 14"/>
          <p:cNvSpPr/>
          <p:nvPr/>
        </p:nvSpPr>
        <p:spPr>
          <a:xfrm>
            <a:off x="1243584" y="4023360"/>
            <a:ext cx="2630424" cy="274320"/>
          </a:xfrm>
          <a:prstGeom prst="rect">
            <a:avLst/>
          </a:prstGeom>
          <a:noFill/>
          <a:ln/>
        </p:spPr>
        <p:txBody>
          <a:bodyPr wrap="square" lIns="0" tIns="0" rIns="0" bIns="0" rtlCol="0" anchor="ctr"/>
          <a:lstStyle/>
          <a:p>
            <a:pPr indent="0" marL="0">
              <a:buNone/>
            </a:pPr>
            <a:r>
              <a:rPr lang="en-US" sz="1500" b="1" dirty="0">
                <a:solidFill>
                  <a:srgbClr val="1A1A2E"/>
                </a:solidFill>
                <a:latin typeface="Trebuchet MS" pitchFamily="34" charset="0"/>
                <a:ea typeface="Trebuchet MS" pitchFamily="34" charset="-122"/>
                <a:cs typeface="Trebuchet MS" pitchFamily="34" charset="-120"/>
              </a:rPr>
              <a:t>Succès</a:t>
            </a:r>
            <a:endParaRPr lang="en-US" sz="1500" dirty="0"/>
          </a:p>
        </p:txBody>
      </p:sp>
      <p:sp>
        <p:nvSpPr>
          <p:cNvPr id="17" name="Text 15"/>
          <p:cNvSpPr/>
          <p:nvPr/>
        </p:nvSpPr>
        <p:spPr>
          <a:xfrm>
            <a:off x="859536" y="4434840"/>
            <a:ext cx="3014472" cy="685800"/>
          </a:xfrm>
          <a:prstGeom prst="rect">
            <a:avLst/>
          </a:prstGeom>
          <a:noFill/>
          <a:ln/>
        </p:spPr>
        <p:txBody>
          <a:bodyPr wrap="square" lIns="0" tIns="0" rIns="0" bIns="0" rtlCol="0" anchor="ctr"/>
          <a:lstStyle/>
          <a:p>
            <a:pPr indent="0" marL="0">
              <a:lnSpc>
                <a:spcPct val="120000"/>
              </a:lnSpc>
              <a:buNone/>
            </a:pPr>
            <a:r>
              <a:rPr lang="en-US" sz="1200" dirty="0">
                <a:solidFill>
                  <a:srgbClr val="5C5C6E"/>
                </a:solidFill>
                <a:latin typeface="Calibri" pitchFamily="34" charset="0"/>
                <a:ea typeface="Calibri" pitchFamily="34" charset="-122"/>
                <a:cs typeface="Calibri" pitchFamily="34" charset="-120"/>
              </a:rPr>
              <a:t>le nœud a tourné et renvoyé ses données</a:t>
            </a:r>
            <a:endParaRPr lang="en-US" sz="1200" dirty="0"/>
          </a:p>
        </p:txBody>
      </p:sp>
      <p:sp>
        <p:nvSpPr>
          <p:cNvPr id="18" name="Shape 16"/>
          <p:cNvSpPr/>
          <p:nvPr/>
        </p:nvSpPr>
        <p:spPr>
          <a:xfrm>
            <a:off x="4367784" y="3840480"/>
            <a:ext cx="3453384" cy="1371600"/>
          </a:xfrm>
          <a:prstGeom prst="roundRect">
            <a:avLst>
              <a:gd name="adj" fmla="val 6667"/>
            </a:avLst>
          </a:prstGeom>
          <a:solidFill>
            <a:srgbClr val="F4F4F6"/>
          </a:solidFill>
          <a:ln/>
        </p:spPr>
      </p:sp>
      <p:sp>
        <p:nvSpPr>
          <p:cNvPr id="19" name="Shape 17"/>
          <p:cNvSpPr/>
          <p:nvPr/>
        </p:nvSpPr>
        <p:spPr>
          <a:xfrm>
            <a:off x="4587240" y="4023360"/>
            <a:ext cx="274320" cy="274320"/>
          </a:xfrm>
          <a:prstGeom prst="ellipse">
            <a:avLst/>
          </a:prstGeom>
          <a:solidFill>
            <a:srgbClr val="E74C3C"/>
          </a:solidFill>
          <a:ln/>
        </p:spPr>
      </p:sp>
      <p:sp>
        <p:nvSpPr>
          <p:cNvPr id="20" name="Text 18"/>
          <p:cNvSpPr/>
          <p:nvPr/>
        </p:nvSpPr>
        <p:spPr>
          <a:xfrm>
            <a:off x="4971288" y="4023360"/>
            <a:ext cx="2630424" cy="274320"/>
          </a:xfrm>
          <a:prstGeom prst="rect">
            <a:avLst/>
          </a:prstGeom>
          <a:noFill/>
          <a:ln/>
        </p:spPr>
        <p:txBody>
          <a:bodyPr wrap="square" lIns="0" tIns="0" rIns="0" bIns="0" rtlCol="0" anchor="ctr"/>
          <a:lstStyle/>
          <a:p>
            <a:pPr indent="0" marL="0">
              <a:buNone/>
            </a:pPr>
            <a:r>
              <a:rPr lang="en-US" sz="1500" b="1" dirty="0">
                <a:solidFill>
                  <a:srgbClr val="1A1A2E"/>
                </a:solidFill>
                <a:latin typeface="Trebuchet MS" pitchFamily="34" charset="0"/>
                <a:ea typeface="Trebuchet MS" pitchFamily="34" charset="-122"/>
                <a:cs typeface="Trebuchet MS" pitchFamily="34" charset="-120"/>
              </a:rPr>
              <a:t>Erreur</a:t>
            </a:r>
            <a:endParaRPr lang="en-US" sz="1500" dirty="0"/>
          </a:p>
        </p:txBody>
      </p:sp>
      <p:sp>
        <p:nvSpPr>
          <p:cNvPr id="21" name="Text 19"/>
          <p:cNvSpPr/>
          <p:nvPr/>
        </p:nvSpPr>
        <p:spPr>
          <a:xfrm>
            <a:off x="4587240" y="4434840"/>
            <a:ext cx="3014472" cy="685800"/>
          </a:xfrm>
          <a:prstGeom prst="rect">
            <a:avLst/>
          </a:prstGeom>
          <a:noFill/>
          <a:ln/>
        </p:spPr>
        <p:txBody>
          <a:bodyPr wrap="square" lIns="0" tIns="0" rIns="0" bIns="0" rtlCol="0" anchor="ctr"/>
          <a:lstStyle/>
          <a:p>
            <a:pPr indent="0" marL="0">
              <a:lnSpc>
                <a:spcPct val="120000"/>
              </a:lnSpc>
              <a:buNone/>
            </a:pPr>
            <a:r>
              <a:rPr lang="en-US" sz="1200" dirty="0">
                <a:solidFill>
                  <a:srgbClr val="5C5C6E"/>
                </a:solidFill>
                <a:latin typeface="Calibri" pitchFamily="34" charset="0"/>
                <a:ea typeface="Calibri" pitchFamily="34" charset="-122"/>
                <a:cs typeface="Calibri" pitchFamily="34" charset="-120"/>
              </a:rPr>
              <a:t>le nœud a planté, l’exécution s’arrête là</a:t>
            </a:r>
            <a:endParaRPr lang="en-US" sz="1200" dirty="0"/>
          </a:p>
        </p:txBody>
      </p:sp>
      <p:sp>
        <p:nvSpPr>
          <p:cNvPr id="22" name="Shape 20"/>
          <p:cNvSpPr/>
          <p:nvPr/>
        </p:nvSpPr>
        <p:spPr>
          <a:xfrm>
            <a:off x="8095488" y="3840480"/>
            <a:ext cx="3453384" cy="1371600"/>
          </a:xfrm>
          <a:prstGeom prst="roundRect">
            <a:avLst>
              <a:gd name="adj" fmla="val 6667"/>
            </a:avLst>
          </a:prstGeom>
          <a:solidFill>
            <a:srgbClr val="F4F4F6"/>
          </a:solidFill>
          <a:ln/>
        </p:spPr>
      </p:sp>
      <p:sp>
        <p:nvSpPr>
          <p:cNvPr id="23" name="Shape 21"/>
          <p:cNvSpPr/>
          <p:nvPr/>
        </p:nvSpPr>
        <p:spPr>
          <a:xfrm>
            <a:off x="8314944" y="4023360"/>
            <a:ext cx="274320" cy="274320"/>
          </a:xfrm>
          <a:prstGeom prst="ellipse">
            <a:avLst/>
          </a:prstGeom>
          <a:solidFill>
            <a:srgbClr val="9AA0A6"/>
          </a:solidFill>
          <a:ln/>
        </p:spPr>
      </p:sp>
      <p:sp>
        <p:nvSpPr>
          <p:cNvPr id="24" name="Text 22"/>
          <p:cNvSpPr/>
          <p:nvPr/>
        </p:nvSpPr>
        <p:spPr>
          <a:xfrm>
            <a:off x="8698992" y="4023360"/>
            <a:ext cx="2630424" cy="274320"/>
          </a:xfrm>
          <a:prstGeom prst="rect">
            <a:avLst/>
          </a:prstGeom>
          <a:noFill/>
          <a:ln/>
        </p:spPr>
        <p:txBody>
          <a:bodyPr wrap="square" lIns="0" tIns="0" rIns="0" bIns="0" rtlCol="0" anchor="ctr"/>
          <a:lstStyle/>
          <a:p>
            <a:pPr indent="0" marL="0">
              <a:buNone/>
            </a:pPr>
            <a:r>
              <a:rPr lang="en-US" sz="1500" b="1" dirty="0">
                <a:solidFill>
                  <a:srgbClr val="1A1A2E"/>
                </a:solidFill>
                <a:latin typeface="Trebuchet MS" pitchFamily="34" charset="0"/>
                <a:ea typeface="Trebuchet MS" pitchFamily="34" charset="-122"/>
                <a:cs typeface="Trebuchet MS" pitchFamily="34" charset="-120"/>
              </a:rPr>
              <a:t>Non atteint</a:t>
            </a:r>
            <a:endParaRPr lang="en-US" sz="1500" dirty="0"/>
          </a:p>
        </p:txBody>
      </p:sp>
      <p:sp>
        <p:nvSpPr>
          <p:cNvPr id="25" name="Text 23"/>
          <p:cNvSpPr/>
          <p:nvPr/>
        </p:nvSpPr>
        <p:spPr>
          <a:xfrm>
            <a:off x="8314944" y="4434840"/>
            <a:ext cx="3014472" cy="685800"/>
          </a:xfrm>
          <a:prstGeom prst="rect">
            <a:avLst/>
          </a:prstGeom>
          <a:noFill/>
          <a:ln/>
        </p:spPr>
        <p:txBody>
          <a:bodyPr wrap="square" lIns="0" tIns="0" rIns="0" bIns="0" rtlCol="0" anchor="ctr"/>
          <a:lstStyle/>
          <a:p>
            <a:pPr indent="0" marL="0">
              <a:lnSpc>
                <a:spcPct val="120000"/>
              </a:lnSpc>
              <a:buNone/>
            </a:pPr>
            <a:r>
              <a:rPr lang="en-US" sz="1200" dirty="0">
                <a:solidFill>
                  <a:srgbClr val="5C5C6E"/>
                </a:solidFill>
                <a:latin typeface="Calibri" pitchFamily="34" charset="0"/>
                <a:ea typeface="Calibri" pitchFamily="34" charset="-122"/>
                <a:cs typeface="Calibri" pitchFamily="34" charset="-120"/>
              </a:rPr>
              <a:t>branche IF non prise, ou nœud désactivé</a:t>
            </a:r>
            <a:endParaRPr lang="en-US" sz="1200" dirty="0"/>
          </a:p>
        </p:txBody>
      </p:sp>
      <p:sp>
        <p:nvSpPr>
          <p:cNvPr id="26" name="Shape 24"/>
          <p:cNvSpPr/>
          <p:nvPr/>
        </p:nvSpPr>
        <p:spPr>
          <a:xfrm>
            <a:off x="640080" y="5440680"/>
            <a:ext cx="10908792" cy="685800"/>
          </a:xfrm>
          <a:prstGeom prst="roundRect">
            <a:avLst>
              <a:gd name="adj" fmla="val 13333"/>
            </a:avLst>
          </a:prstGeom>
          <a:solidFill>
            <a:srgbClr val="F4F4F6"/>
          </a:solidFill>
          <a:ln/>
        </p:spPr>
      </p:sp>
      <p:sp>
        <p:nvSpPr>
          <p:cNvPr id="27" name="Shape 25"/>
          <p:cNvSpPr/>
          <p:nvPr/>
        </p:nvSpPr>
        <p:spPr>
          <a:xfrm>
            <a:off x="640080" y="5550408"/>
            <a:ext cx="91440" cy="466344"/>
          </a:xfrm>
          <a:prstGeom prst="rect">
            <a:avLst/>
          </a:prstGeom>
          <a:solidFill>
            <a:srgbClr val="EA4B71"/>
          </a:solidFill>
          <a:ln/>
        </p:spPr>
      </p:sp>
      <p:sp>
        <p:nvSpPr>
          <p:cNvPr id="28" name="Text 26"/>
          <p:cNvSpPr/>
          <p:nvPr/>
        </p:nvSpPr>
        <p:spPr>
          <a:xfrm>
            <a:off x="1097280" y="5623560"/>
            <a:ext cx="10085832" cy="347472"/>
          </a:xfrm>
          <a:prstGeom prst="rect">
            <a:avLst/>
          </a:prstGeom>
          <a:noFill/>
          <a:ln/>
        </p:spPr>
        <p:txBody>
          <a:bodyPr wrap="square" lIns="0" tIns="0" rIns="0" bIns="0" rtlCol="0" anchor="ctr"/>
          <a:lstStyle/>
          <a:p>
            <a:pPr indent="0" marL="0">
              <a:buNone/>
            </a:pPr>
            <a:r>
              <a:rPr lang="en-US" sz="1400" b="1" dirty="0">
                <a:solidFill>
                  <a:srgbClr val="B8304F"/>
                </a:solidFill>
                <a:latin typeface="Trebuchet MS" pitchFamily="34" charset="0"/>
                <a:ea typeface="Trebuchet MS" pitchFamily="34" charset="-122"/>
                <a:cs typeface="Trebuchet MS" pitchFamily="34" charset="-120"/>
              </a:rPr>
              <a:t>Le piège vécu en direct</a:t>
            </a:r>
            <a:endParaRPr lang="en-US" sz="1400" dirty="0"/>
          </a:p>
        </p:txBody>
      </p:sp>
      <p:sp>
        <p:nvSpPr>
          <p:cNvPr id="29" name="Text 27"/>
          <p:cNvSpPr/>
          <p:nvPr/>
        </p:nvSpPr>
        <p:spPr>
          <a:xfrm>
            <a:off x="1097280" y="5989320"/>
            <a:ext cx="10085832" cy="-45720"/>
          </a:xfrm>
          <a:prstGeom prst="rect">
            <a:avLst/>
          </a:prstGeom>
          <a:noFill/>
          <a:ln/>
        </p:spPr>
        <p:txBody>
          <a:bodyPr wrap="square" lIns="0" tIns="0" rIns="0" bIns="0" rtlCol="0" anchor="ctr"/>
          <a:lstStyle/>
          <a:p>
            <a:pPr indent="0" marL="0">
              <a:lnSpc>
                <a:spcPct val="120000"/>
              </a:lnSpc>
              <a:buNone/>
            </a:pPr>
            <a:r>
              <a:rPr lang="en-US" sz="1150" dirty="0">
                <a:solidFill>
                  <a:srgbClr val="1A1A2E"/>
                </a:solidFill>
                <a:latin typeface="Calibri" pitchFamily="34" charset="0"/>
                <a:ea typeface="Calibri" pitchFamily="34" charset="-122"/>
                <a:cs typeface="Calibri" pitchFamily="34" charset="-120"/>
              </a:rPr>
              <a:t>Claude · Rapprochement désactivé → Décider reçoit des données qu’il n’attend pas → erreur. Un nœud désactivé en amont peut casser un nœud en aval.</a:t>
            </a:r>
            <a:endParaRPr lang="en-US" sz="1150" dirty="0"/>
          </a:p>
        </p:txBody>
      </p:sp>
      <p:sp>
        <p:nvSpPr>
          <p:cNvPr id="31" name="Shape 28"/>
          <p:cNvSpPr/>
          <p:nvPr/>
        </p:nvSpPr>
        <p:spPr>
          <a:xfrm>
            <a:off x="640080" y="6217920"/>
            <a:ext cx="10908792" cy="18288"/>
          </a:xfrm>
          <a:prstGeom prst="rect">
            <a:avLst/>
          </a:prstGeom>
          <a:solidFill>
            <a:srgbClr val="E2E2E8"/>
          </a:solidFill>
          <a:ln/>
        </p:spPr>
      </p:sp>
      <p:sp>
        <p:nvSpPr>
          <p:cNvPr id="32" name="Text 29"/>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Les états d’un nœud</a:t>
            </a:r>
            <a:endParaRPr lang="en-US" sz="1100" dirty="0"/>
          </a:p>
        </p:txBody>
      </p:sp>
      <p:sp>
        <p:nvSpPr>
          <p:cNvPr id="33" name="Text 30"/>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14 / 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15568"/>
            <a:ext cx="10908792" cy="502920"/>
          </a:xfrm>
          <a:prstGeom prst="rect">
            <a:avLst/>
          </a:prstGeom>
          <a:noFill/>
          <a:ln/>
        </p:spPr>
        <p:txBody>
          <a:bodyPr wrap="square" lIns="0" tIns="0" rIns="0" bIns="0" rtlCol="0" anchor="ctr"/>
          <a:lstStyle/>
          <a:p>
            <a:pPr indent="0" marL="0">
              <a:buNone/>
            </a:pPr>
            <a:r>
              <a:rPr lang="en-US" sz="2800" b="1" dirty="0">
                <a:solidFill>
                  <a:srgbClr val="1A1A2E"/>
                </a:solidFill>
                <a:latin typeface="Trebuchet MS" pitchFamily="34" charset="0"/>
                <a:ea typeface="Trebuchet MS" pitchFamily="34" charset="-122"/>
                <a:cs typeface="Trebuchet MS" pitchFamily="34" charset="-120"/>
              </a:rPr>
              <a:t>Les nœuds du workflow (1/2)</a:t>
            </a:r>
            <a:endParaRPr lang="en-US" sz="2800" dirty="0"/>
          </a:p>
        </p:txBody>
      </p:sp>
      <p:sp>
        <p:nvSpPr>
          <p:cNvPr id="6" name="Shape 4"/>
          <p:cNvSpPr/>
          <p:nvPr/>
        </p:nvSpPr>
        <p:spPr>
          <a:xfrm>
            <a:off x="640080" y="1792224"/>
            <a:ext cx="237744" cy="237744"/>
          </a:xfrm>
          <a:prstGeom prst="ellipse">
            <a:avLst/>
          </a:prstGeom>
          <a:solidFill>
            <a:srgbClr val="B8304F"/>
          </a:solidFill>
          <a:ln/>
        </p:spPr>
      </p:sp>
      <p:sp>
        <p:nvSpPr>
          <p:cNvPr id="7" name="Text 5"/>
          <p:cNvSpPr/>
          <p:nvPr/>
        </p:nvSpPr>
        <p:spPr>
          <a:xfrm>
            <a:off x="640080" y="179222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a:t>
            </a:r>
            <a:endParaRPr lang="en-US" sz="1050" dirty="0"/>
          </a:p>
        </p:txBody>
      </p:sp>
      <p:sp>
        <p:nvSpPr>
          <p:cNvPr id="8" name="Text 6"/>
          <p:cNvSpPr/>
          <p:nvPr/>
        </p:nvSpPr>
        <p:spPr>
          <a:xfrm>
            <a:off x="1024128" y="1755648"/>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Webhook</a:t>
            </a:r>
            <a:endParaRPr lang="en-US" sz="1250" dirty="0"/>
          </a:p>
        </p:txBody>
      </p:sp>
      <p:sp>
        <p:nvSpPr>
          <p:cNvPr id="9" name="Text 7"/>
          <p:cNvSpPr/>
          <p:nvPr/>
        </p:nvSpPr>
        <p:spPr>
          <a:xfrm>
            <a:off x="4480560" y="1755648"/>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reçoit l’appel POST de git-sync, déclenche l’exécution</a:t>
            </a:r>
            <a:endParaRPr lang="en-US" sz="1150" dirty="0"/>
          </a:p>
        </p:txBody>
      </p:sp>
      <p:sp>
        <p:nvSpPr>
          <p:cNvPr id="10" name="Shape 8"/>
          <p:cNvSpPr/>
          <p:nvPr/>
        </p:nvSpPr>
        <p:spPr>
          <a:xfrm>
            <a:off x="640080" y="2194560"/>
            <a:ext cx="237744" cy="237744"/>
          </a:xfrm>
          <a:prstGeom prst="ellipse">
            <a:avLst/>
          </a:prstGeom>
          <a:solidFill>
            <a:srgbClr val="B8304F"/>
          </a:solidFill>
          <a:ln/>
        </p:spPr>
      </p:sp>
      <p:sp>
        <p:nvSpPr>
          <p:cNvPr id="11" name="Text 9"/>
          <p:cNvSpPr/>
          <p:nvPr/>
        </p:nvSpPr>
        <p:spPr>
          <a:xfrm>
            <a:off x="640080" y="2194560"/>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2</a:t>
            </a:r>
            <a:endParaRPr lang="en-US" sz="1050" dirty="0"/>
          </a:p>
        </p:txBody>
      </p:sp>
      <p:sp>
        <p:nvSpPr>
          <p:cNvPr id="12" name="Text 10"/>
          <p:cNvSpPr/>
          <p:nvPr/>
        </p:nvSpPr>
        <p:spPr>
          <a:xfrm>
            <a:off x="1024128" y="2157984"/>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Analyser le contexte</a:t>
            </a:r>
            <a:endParaRPr lang="en-US" sz="1250" dirty="0"/>
          </a:p>
        </p:txBody>
      </p:sp>
      <p:sp>
        <p:nvSpPr>
          <p:cNvPr id="13" name="Text 11"/>
          <p:cNvSpPr/>
          <p:nvPr/>
        </p:nvSpPr>
        <p:spPr>
          <a:xfrm>
            <a:off x="4480560" y="2157984"/>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extrait branche/commits, cherche un identifiant PAR-X</a:t>
            </a:r>
            <a:endParaRPr lang="en-US" sz="1150" dirty="0"/>
          </a:p>
        </p:txBody>
      </p:sp>
      <p:sp>
        <p:nvSpPr>
          <p:cNvPr id="14" name="Shape 12"/>
          <p:cNvSpPr/>
          <p:nvPr/>
        </p:nvSpPr>
        <p:spPr>
          <a:xfrm>
            <a:off x="640080" y="2596896"/>
            <a:ext cx="237744" cy="237744"/>
          </a:xfrm>
          <a:prstGeom prst="ellipse">
            <a:avLst/>
          </a:prstGeom>
          <a:solidFill>
            <a:srgbClr val="B8304F"/>
          </a:solidFill>
          <a:ln/>
        </p:spPr>
      </p:sp>
      <p:sp>
        <p:nvSpPr>
          <p:cNvPr id="15" name="Text 13"/>
          <p:cNvSpPr/>
          <p:nvPr/>
        </p:nvSpPr>
        <p:spPr>
          <a:xfrm>
            <a:off x="640080" y="259689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3</a:t>
            </a:r>
            <a:endParaRPr lang="en-US" sz="1050" dirty="0"/>
          </a:p>
        </p:txBody>
      </p:sp>
      <p:sp>
        <p:nvSpPr>
          <p:cNvPr id="16" name="Text 14"/>
          <p:cNvSpPr/>
          <p:nvPr/>
        </p:nvSpPr>
        <p:spPr>
          <a:xfrm>
            <a:off x="1024128" y="2560320"/>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Référence trouvée ?</a:t>
            </a:r>
            <a:endParaRPr lang="en-US" sz="1250" dirty="0"/>
          </a:p>
        </p:txBody>
      </p:sp>
      <p:sp>
        <p:nvSpPr>
          <p:cNvPr id="17" name="Text 15"/>
          <p:cNvSpPr/>
          <p:nvPr/>
        </p:nvSpPr>
        <p:spPr>
          <a:xfrm>
            <a:off x="4480560" y="2560320"/>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IF : un identifiant de ticket a-t-il été trouvé ?</a:t>
            </a:r>
            <a:endParaRPr lang="en-US" sz="1150" dirty="0"/>
          </a:p>
        </p:txBody>
      </p:sp>
      <p:sp>
        <p:nvSpPr>
          <p:cNvPr id="18" name="Shape 16"/>
          <p:cNvSpPr/>
          <p:nvPr/>
        </p:nvSpPr>
        <p:spPr>
          <a:xfrm>
            <a:off x="640080" y="2999232"/>
            <a:ext cx="237744" cy="237744"/>
          </a:xfrm>
          <a:prstGeom prst="ellipse">
            <a:avLst/>
          </a:prstGeom>
          <a:solidFill>
            <a:srgbClr val="B8304F"/>
          </a:solidFill>
          <a:ln/>
        </p:spPr>
      </p:sp>
      <p:sp>
        <p:nvSpPr>
          <p:cNvPr id="19" name="Text 17"/>
          <p:cNvSpPr/>
          <p:nvPr/>
        </p:nvSpPr>
        <p:spPr>
          <a:xfrm>
            <a:off x="640080" y="2999232"/>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4</a:t>
            </a:r>
            <a:endParaRPr lang="en-US" sz="1050" dirty="0"/>
          </a:p>
        </p:txBody>
      </p:sp>
      <p:sp>
        <p:nvSpPr>
          <p:cNvPr id="20" name="Text 18"/>
          <p:cNvSpPr/>
          <p:nvPr/>
        </p:nvSpPr>
        <p:spPr>
          <a:xfrm>
            <a:off x="1024128" y="2962656"/>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Ticket par référence</a:t>
            </a:r>
            <a:endParaRPr lang="en-US" sz="1250" dirty="0"/>
          </a:p>
        </p:txBody>
      </p:sp>
      <p:sp>
        <p:nvSpPr>
          <p:cNvPr id="21" name="Text 19"/>
          <p:cNvSpPr/>
          <p:nvPr/>
        </p:nvSpPr>
        <p:spPr>
          <a:xfrm>
            <a:off x="4480560" y="2962656"/>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récupère le ticket par son numéro exact</a:t>
            </a:r>
            <a:endParaRPr lang="en-US" sz="1150" dirty="0"/>
          </a:p>
        </p:txBody>
      </p:sp>
      <p:sp>
        <p:nvSpPr>
          <p:cNvPr id="22" name="Shape 20"/>
          <p:cNvSpPr/>
          <p:nvPr/>
        </p:nvSpPr>
        <p:spPr>
          <a:xfrm>
            <a:off x="640080" y="3401568"/>
            <a:ext cx="237744" cy="237744"/>
          </a:xfrm>
          <a:prstGeom prst="ellipse">
            <a:avLst/>
          </a:prstGeom>
          <a:solidFill>
            <a:srgbClr val="B8304F"/>
          </a:solidFill>
          <a:ln/>
        </p:spPr>
      </p:sp>
      <p:sp>
        <p:nvSpPr>
          <p:cNvPr id="23" name="Text 21"/>
          <p:cNvSpPr/>
          <p:nvPr/>
        </p:nvSpPr>
        <p:spPr>
          <a:xfrm>
            <a:off x="640080" y="3401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5</a:t>
            </a:r>
            <a:endParaRPr lang="en-US" sz="1050" dirty="0"/>
          </a:p>
        </p:txBody>
      </p:sp>
      <p:sp>
        <p:nvSpPr>
          <p:cNvPr id="24" name="Text 22"/>
          <p:cNvSpPr/>
          <p:nvPr/>
        </p:nvSpPr>
        <p:spPr>
          <a:xfrm>
            <a:off x="1024128" y="3364992"/>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Contexte équipe</a:t>
            </a:r>
            <a:endParaRPr lang="en-US" sz="1250" dirty="0"/>
          </a:p>
        </p:txBody>
      </p:sp>
      <p:sp>
        <p:nvSpPr>
          <p:cNvPr id="25" name="Text 23"/>
          <p:cNvSpPr/>
          <p:nvPr/>
        </p:nvSpPr>
        <p:spPr>
          <a:xfrm>
            <a:off x="4480560" y="3364992"/>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 les tickets ouverts de l’équipe</a:t>
            </a:r>
            <a:endParaRPr lang="en-US" sz="1150" dirty="0"/>
          </a:p>
        </p:txBody>
      </p:sp>
      <p:sp>
        <p:nvSpPr>
          <p:cNvPr id="26" name="Shape 24"/>
          <p:cNvSpPr/>
          <p:nvPr/>
        </p:nvSpPr>
        <p:spPr>
          <a:xfrm>
            <a:off x="640080" y="3803904"/>
            <a:ext cx="237744" cy="237744"/>
          </a:xfrm>
          <a:prstGeom prst="ellipse">
            <a:avLst/>
          </a:prstGeom>
          <a:solidFill>
            <a:srgbClr val="B8304F"/>
          </a:solidFill>
          <a:ln/>
        </p:spPr>
      </p:sp>
      <p:sp>
        <p:nvSpPr>
          <p:cNvPr id="27" name="Text 25"/>
          <p:cNvSpPr/>
          <p:nvPr/>
        </p:nvSpPr>
        <p:spPr>
          <a:xfrm>
            <a:off x="640080" y="380390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6</a:t>
            </a:r>
            <a:endParaRPr lang="en-US" sz="1050" dirty="0"/>
          </a:p>
        </p:txBody>
      </p:sp>
      <p:sp>
        <p:nvSpPr>
          <p:cNvPr id="28" name="Text 26"/>
          <p:cNvSpPr/>
          <p:nvPr/>
        </p:nvSpPr>
        <p:spPr>
          <a:xfrm>
            <a:off x="1024128" y="3767328"/>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Préparer l’appel IA</a:t>
            </a:r>
            <a:endParaRPr lang="en-US" sz="1250" dirty="0"/>
          </a:p>
        </p:txBody>
      </p:sp>
      <p:sp>
        <p:nvSpPr>
          <p:cNvPr id="29" name="Text 27"/>
          <p:cNvSpPr/>
          <p:nvPr/>
        </p:nvSpPr>
        <p:spPr>
          <a:xfrm>
            <a:off x="4480560" y="3767328"/>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construit le prompt à envoyer à Claude</a:t>
            </a:r>
            <a:endParaRPr lang="en-US" sz="1150" dirty="0"/>
          </a:p>
        </p:txBody>
      </p:sp>
      <p:sp>
        <p:nvSpPr>
          <p:cNvPr id="30" name="Shape 28"/>
          <p:cNvSpPr/>
          <p:nvPr/>
        </p:nvSpPr>
        <p:spPr>
          <a:xfrm>
            <a:off x="640080" y="4206240"/>
            <a:ext cx="237744" cy="237744"/>
          </a:xfrm>
          <a:prstGeom prst="ellipse">
            <a:avLst/>
          </a:prstGeom>
          <a:solidFill>
            <a:srgbClr val="B8304F"/>
          </a:solidFill>
          <a:ln/>
        </p:spPr>
      </p:sp>
      <p:sp>
        <p:nvSpPr>
          <p:cNvPr id="31" name="Text 29"/>
          <p:cNvSpPr/>
          <p:nvPr/>
        </p:nvSpPr>
        <p:spPr>
          <a:xfrm>
            <a:off x="640080" y="4206240"/>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7</a:t>
            </a:r>
            <a:endParaRPr lang="en-US" sz="1050" dirty="0"/>
          </a:p>
        </p:txBody>
      </p:sp>
      <p:sp>
        <p:nvSpPr>
          <p:cNvPr id="32" name="Text 30"/>
          <p:cNvSpPr/>
          <p:nvPr/>
        </p:nvSpPr>
        <p:spPr>
          <a:xfrm>
            <a:off x="1024128" y="4169664"/>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Claude · Rapprochement</a:t>
            </a:r>
            <a:endParaRPr lang="en-US" sz="1250" dirty="0"/>
          </a:p>
        </p:txBody>
      </p:sp>
      <p:sp>
        <p:nvSpPr>
          <p:cNvPr id="33" name="Text 31"/>
          <p:cNvSpPr/>
          <p:nvPr/>
        </p:nvSpPr>
        <p:spPr>
          <a:xfrm>
            <a:off x="4480560" y="4169664"/>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demande à Claude de deviner le bon ticket</a:t>
            </a:r>
            <a:endParaRPr lang="en-US" sz="1150" dirty="0"/>
          </a:p>
        </p:txBody>
      </p:sp>
      <p:sp>
        <p:nvSpPr>
          <p:cNvPr id="34" name="Shape 32"/>
          <p:cNvSpPr/>
          <p:nvPr/>
        </p:nvSpPr>
        <p:spPr>
          <a:xfrm>
            <a:off x="640080" y="4608576"/>
            <a:ext cx="237744" cy="237744"/>
          </a:xfrm>
          <a:prstGeom prst="ellipse">
            <a:avLst/>
          </a:prstGeom>
          <a:solidFill>
            <a:srgbClr val="B8304F"/>
          </a:solidFill>
          <a:ln/>
        </p:spPr>
      </p:sp>
      <p:sp>
        <p:nvSpPr>
          <p:cNvPr id="35" name="Text 33"/>
          <p:cNvSpPr/>
          <p:nvPr/>
        </p:nvSpPr>
        <p:spPr>
          <a:xfrm>
            <a:off x="640080" y="460857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8</a:t>
            </a:r>
            <a:endParaRPr lang="en-US" sz="1050" dirty="0"/>
          </a:p>
        </p:txBody>
      </p:sp>
      <p:sp>
        <p:nvSpPr>
          <p:cNvPr id="36" name="Text 34"/>
          <p:cNvSpPr/>
          <p:nvPr/>
        </p:nvSpPr>
        <p:spPr>
          <a:xfrm>
            <a:off x="1024128" y="4572000"/>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Décider</a:t>
            </a:r>
            <a:endParaRPr lang="en-US" sz="1250" dirty="0"/>
          </a:p>
        </p:txBody>
      </p:sp>
      <p:sp>
        <p:nvSpPr>
          <p:cNvPr id="37" name="Text 35"/>
          <p:cNvSpPr/>
          <p:nvPr/>
        </p:nvSpPr>
        <p:spPr>
          <a:xfrm>
            <a:off x="4480560" y="4572000"/>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lit la réponse de Claude, applique le seuil 0,7</a:t>
            </a:r>
            <a:endParaRPr lang="en-US" sz="1150" dirty="0"/>
          </a:p>
        </p:txBody>
      </p:sp>
      <p:sp>
        <p:nvSpPr>
          <p:cNvPr id="38" name="Shape 36"/>
          <p:cNvSpPr/>
          <p:nvPr/>
        </p:nvSpPr>
        <p:spPr>
          <a:xfrm>
            <a:off x="640080" y="5010912"/>
            <a:ext cx="237744" cy="237744"/>
          </a:xfrm>
          <a:prstGeom prst="ellipse">
            <a:avLst/>
          </a:prstGeom>
          <a:solidFill>
            <a:srgbClr val="B8304F"/>
          </a:solidFill>
          <a:ln/>
        </p:spPr>
      </p:sp>
      <p:sp>
        <p:nvSpPr>
          <p:cNvPr id="39" name="Text 37"/>
          <p:cNvSpPr/>
          <p:nvPr/>
        </p:nvSpPr>
        <p:spPr>
          <a:xfrm>
            <a:off x="640080" y="5010912"/>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9</a:t>
            </a:r>
            <a:endParaRPr lang="en-US" sz="1050" dirty="0"/>
          </a:p>
        </p:txBody>
      </p:sp>
      <p:sp>
        <p:nvSpPr>
          <p:cNvPr id="40" name="Text 38"/>
          <p:cNvSpPr/>
          <p:nvPr/>
        </p:nvSpPr>
        <p:spPr>
          <a:xfrm>
            <a:off x="1024128" y="4974336"/>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Correspondance sûre ?</a:t>
            </a:r>
            <a:endParaRPr lang="en-US" sz="1250" dirty="0"/>
          </a:p>
        </p:txBody>
      </p:sp>
      <p:sp>
        <p:nvSpPr>
          <p:cNvPr id="41" name="Text 39"/>
          <p:cNvSpPr/>
          <p:nvPr/>
        </p:nvSpPr>
        <p:spPr>
          <a:xfrm>
            <a:off x="4480560" y="4974336"/>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IF : la confiance dépasse-t-elle le seuil ?</a:t>
            </a:r>
            <a:endParaRPr lang="en-US" sz="1150" dirty="0"/>
          </a:p>
        </p:txBody>
      </p:sp>
      <p:sp>
        <p:nvSpPr>
          <p:cNvPr id="42" name="Shape 40"/>
          <p:cNvSpPr/>
          <p:nvPr/>
        </p:nvSpPr>
        <p:spPr>
          <a:xfrm>
            <a:off x="640080" y="5413248"/>
            <a:ext cx="237744" cy="237744"/>
          </a:xfrm>
          <a:prstGeom prst="ellipse">
            <a:avLst/>
          </a:prstGeom>
          <a:solidFill>
            <a:srgbClr val="B8304F"/>
          </a:solidFill>
          <a:ln/>
        </p:spPr>
      </p:sp>
      <p:sp>
        <p:nvSpPr>
          <p:cNvPr id="43" name="Text 41"/>
          <p:cNvSpPr/>
          <p:nvPr/>
        </p:nvSpPr>
        <p:spPr>
          <a:xfrm>
            <a:off x="640080" y="54132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10</a:t>
            </a:r>
            <a:endParaRPr lang="en-US" sz="1050" dirty="0"/>
          </a:p>
        </p:txBody>
      </p:sp>
      <p:sp>
        <p:nvSpPr>
          <p:cNvPr id="44" name="Text 42"/>
          <p:cNvSpPr/>
          <p:nvPr/>
        </p:nvSpPr>
        <p:spPr>
          <a:xfrm>
            <a:off x="1024128" y="5376672"/>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Créer le ticket</a:t>
            </a:r>
            <a:endParaRPr lang="en-US" sz="1250" dirty="0"/>
          </a:p>
        </p:txBody>
      </p:sp>
      <p:sp>
        <p:nvSpPr>
          <p:cNvPr id="45" name="Text 43"/>
          <p:cNvSpPr/>
          <p:nvPr/>
        </p:nvSpPr>
        <p:spPr>
          <a:xfrm>
            <a:off x="4480560" y="5376672"/>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crée un ticket si rien ne correspond</a:t>
            </a:r>
            <a:endParaRPr lang="en-US" sz="1150" dirty="0"/>
          </a:p>
        </p:txBody>
      </p:sp>
      <p:sp>
        <p:nvSpPr>
          <p:cNvPr id="46" name="Shape 44"/>
          <p:cNvSpPr/>
          <p:nvPr/>
        </p:nvSpPr>
        <p:spPr>
          <a:xfrm>
            <a:off x="640080" y="5815584"/>
            <a:ext cx="237744" cy="237744"/>
          </a:xfrm>
          <a:prstGeom prst="ellipse">
            <a:avLst/>
          </a:prstGeom>
          <a:solidFill>
            <a:srgbClr val="B8304F"/>
          </a:solidFill>
          <a:ln/>
        </p:spPr>
      </p:sp>
      <p:sp>
        <p:nvSpPr>
          <p:cNvPr id="47" name="Text 45"/>
          <p:cNvSpPr/>
          <p:nvPr/>
        </p:nvSpPr>
        <p:spPr>
          <a:xfrm>
            <a:off x="640080" y="581558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11</a:t>
            </a:r>
            <a:endParaRPr lang="en-US" sz="1050" dirty="0"/>
          </a:p>
        </p:txBody>
      </p:sp>
      <p:sp>
        <p:nvSpPr>
          <p:cNvPr id="48" name="Text 46"/>
          <p:cNvSpPr/>
          <p:nvPr/>
        </p:nvSpPr>
        <p:spPr>
          <a:xfrm>
            <a:off x="1024128" y="5779008"/>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Normaliser le ticket</a:t>
            </a:r>
            <a:endParaRPr lang="en-US" sz="1250" dirty="0"/>
          </a:p>
        </p:txBody>
      </p:sp>
      <p:sp>
        <p:nvSpPr>
          <p:cNvPr id="49" name="Text 47"/>
          <p:cNvSpPr/>
          <p:nvPr/>
        </p:nvSpPr>
        <p:spPr>
          <a:xfrm>
            <a:off x="4480560" y="5779008"/>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unifie les 3 chemins en un seul format</a:t>
            </a:r>
            <a:endParaRPr lang="en-US" sz="1150" dirty="0"/>
          </a:p>
        </p:txBody>
      </p:sp>
      <p:sp>
        <p:nvSpPr>
          <p:cNvPr id="51" name="Shape 48"/>
          <p:cNvSpPr/>
          <p:nvPr/>
        </p:nvSpPr>
        <p:spPr>
          <a:xfrm>
            <a:off x="640080" y="6217920"/>
            <a:ext cx="10908792" cy="18288"/>
          </a:xfrm>
          <a:prstGeom prst="rect">
            <a:avLst/>
          </a:prstGeom>
          <a:solidFill>
            <a:srgbClr val="E2E2E8"/>
          </a:solidFill>
          <a:ln/>
        </p:spPr>
      </p:sp>
      <p:sp>
        <p:nvSpPr>
          <p:cNvPr id="52" name="Text 49"/>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Les nœuds du workflow</a:t>
            </a:r>
            <a:endParaRPr lang="en-US" sz="1100" dirty="0"/>
          </a:p>
        </p:txBody>
      </p:sp>
      <p:sp>
        <p:nvSpPr>
          <p:cNvPr id="53" name="Text 50"/>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15 / 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POUR ALLER PLUS LOIN</a:t>
            </a:r>
            <a:endParaRPr lang="en-US" sz="1300" dirty="0"/>
          </a:p>
        </p:txBody>
      </p:sp>
      <p:sp>
        <p:nvSpPr>
          <p:cNvPr id="5" name="Text 3"/>
          <p:cNvSpPr/>
          <p:nvPr/>
        </p:nvSpPr>
        <p:spPr>
          <a:xfrm>
            <a:off x="640080" y="1115568"/>
            <a:ext cx="10908792" cy="502920"/>
          </a:xfrm>
          <a:prstGeom prst="rect">
            <a:avLst/>
          </a:prstGeom>
          <a:noFill/>
          <a:ln/>
        </p:spPr>
        <p:txBody>
          <a:bodyPr wrap="square" lIns="0" tIns="0" rIns="0" bIns="0" rtlCol="0" anchor="ctr"/>
          <a:lstStyle/>
          <a:p>
            <a:pPr indent="0" marL="0">
              <a:buNone/>
            </a:pPr>
            <a:r>
              <a:rPr lang="en-US" sz="2800" b="1" dirty="0">
                <a:solidFill>
                  <a:srgbClr val="1A1A2E"/>
                </a:solidFill>
                <a:latin typeface="Trebuchet MS" pitchFamily="34" charset="0"/>
                <a:ea typeface="Trebuchet MS" pitchFamily="34" charset="-122"/>
                <a:cs typeface="Trebuchet MS" pitchFamily="34" charset="-120"/>
              </a:rPr>
              <a:t>Les nœuds du workflow (2/2)</a:t>
            </a:r>
            <a:endParaRPr lang="en-US" sz="2800" dirty="0"/>
          </a:p>
        </p:txBody>
      </p:sp>
      <p:sp>
        <p:nvSpPr>
          <p:cNvPr id="6" name="Shape 4"/>
          <p:cNvSpPr/>
          <p:nvPr/>
        </p:nvSpPr>
        <p:spPr>
          <a:xfrm>
            <a:off x="640080" y="1792224"/>
            <a:ext cx="237744" cy="237744"/>
          </a:xfrm>
          <a:prstGeom prst="ellipse">
            <a:avLst/>
          </a:prstGeom>
          <a:solidFill>
            <a:srgbClr val="B8304F"/>
          </a:solidFill>
          <a:ln/>
        </p:spPr>
      </p:sp>
      <p:sp>
        <p:nvSpPr>
          <p:cNvPr id="7" name="Text 5"/>
          <p:cNvSpPr/>
          <p:nvPr/>
        </p:nvSpPr>
        <p:spPr>
          <a:xfrm>
            <a:off x="640080" y="179222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12</a:t>
            </a:r>
            <a:endParaRPr lang="en-US" sz="1050" dirty="0"/>
          </a:p>
        </p:txBody>
      </p:sp>
      <p:sp>
        <p:nvSpPr>
          <p:cNvPr id="8" name="Text 6"/>
          <p:cNvSpPr/>
          <p:nvPr/>
        </p:nvSpPr>
        <p:spPr>
          <a:xfrm>
            <a:off x="1024128" y="1755648"/>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État In Progress</a:t>
            </a:r>
            <a:endParaRPr lang="en-US" sz="1250" dirty="0"/>
          </a:p>
        </p:txBody>
      </p:sp>
      <p:sp>
        <p:nvSpPr>
          <p:cNvPr id="9" name="Text 7"/>
          <p:cNvSpPr/>
          <p:nvPr/>
        </p:nvSpPr>
        <p:spPr>
          <a:xfrm>
            <a:off x="4480560" y="1755648"/>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récupère l’identifiant de l’état In Progress</a:t>
            </a:r>
            <a:endParaRPr lang="en-US" sz="1150" dirty="0"/>
          </a:p>
        </p:txBody>
      </p:sp>
      <p:sp>
        <p:nvSpPr>
          <p:cNvPr id="10" name="Shape 8"/>
          <p:cNvSpPr/>
          <p:nvPr/>
        </p:nvSpPr>
        <p:spPr>
          <a:xfrm>
            <a:off x="640080" y="2194560"/>
            <a:ext cx="237744" cy="237744"/>
          </a:xfrm>
          <a:prstGeom prst="ellipse">
            <a:avLst/>
          </a:prstGeom>
          <a:solidFill>
            <a:srgbClr val="B8304F"/>
          </a:solidFill>
          <a:ln/>
        </p:spPr>
      </p:sp>
      <p:sp>
        <p:nvSpPr>
          <p:cNvPr id="11" name="Text 9"/>
          <p:cNvSpPr/>
          <p:nvPr/>
        </p:nvSpPr>
        <p:spPr>
          <a:xfrm>
            <a:off x="640080" y="2194560"/>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13</a:t>
            </a:r>
            <a:endParaRPr lang="en-US" sz="1050" dirty="0"/>
          </a:p>
        </p:txBody>
      </p:sp>
      <p:sp>
        <p:nvSpPr>
          <p:cNvPr id="12" name="Text 10"/>
          <p:cNvSpPr/>
          <p:nvPr/>
        </p:nvSpPr>
        <p:spPr>
          <a:xfrm>
            <a:off x="1024128" y="2157984"/>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Passer en In Progress</a:t>
            </a:r>
            <a:endParaRPr lang="en-US" sz="1250" dirty="0"/>
          </a:p>
        </p:txBody>
      </p:sp>
      <p:sp>
        <p:nvSpPr>
          <p:cNvPr id="13" name="Text 11"/>
          <p:cNvSpPr/>
          <p:nvPr/>
        </p:nvSpPr>
        <p:spPr>
          <a:xfrm>
            <a:off x="4480560" y="2157984"/>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change le statut du ticket</a:t>
            </a:r>
            <a:endParaRPr lang="en-US" sz="1150" dirty="0"/>
          </a:p>
        </p:txBody>
      </p:sp>
      <p:sp>
        <p:nvSpPr>
          <p:cNvPr id="14" name="Shape 12"/>
          <p:cNvSpPr/>
          <p:nvPr/>
        </p:nvSpPr>
        <p:spPr>
          <a:xfrm>
            <a:off x="640080" y="2596896"/>
            <a:ext cx="237744" cy="237744"/>
          </a:xfrm>
          <a:prstGeom prst="ellipse">
            <a:avLst/>
          </a:prstGeom>
          <a:solidFill>
            <a:srgbClr val="B8304F"/>
          </a:solidFill>
          <a:ln/>
        </p:spPr>
      </p:sp>
      <p:sp>
        <p:nvSpPr>
          <p:cNvPr id="15" name="Text 13"/>
          <p:cNvSpPr/>
          <p:nvPr/>
        </p:nvSpPr>
        <p:spPr>
          <a:xfrm>
            <a:off x="640080" y="259689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14</a:t>
            </a:r>
            <a:endParaRPr lang="en-US" sz="1050" dirty="0"/>
          </a:p>
        </p:txBody>
      </p:sp>
      <p:sp>
        <p:nvSpPr>
          <p:cNvPr id="16" name="Text 14"/>
          <p:cNvSpPr/>
          <p:nvPr/>
        </p:nvSpPr>
        <p:spPr>
          <a:xfrm>
            <a:off x="1024128" y="2560320"/>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Ajouter le commentaire</a:t>
            </a:r>
            <a:endParaRPr lang="en-US" sz="1250" dirty="0"/>
          </a:p>
        </p:txBody>
      </p:sp>
      <p:sp>
        <p:nvSpPr>
          <p:cNvPr id="17" name="Text 15"/>
          <p:cNvSpPr/>
          <p:nvPr/>
        </p:nvSpPr>
        <p:spPr>
          <a:xfrm>
            <a:off x="4480560" y="2560320"/>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poste le commentaire listant les commits</a:t>
            </a:r>
            <a:endParaRPr lang="en-US" sz="1150" dirty="0"/>
          </a:p>
        </p:txBody>
      </p:sp>
      <p:sp>
        <p:nvSpPr>
          <p:cNvPr id="18" name="Shape 16"/>
          <p:cNvSpPr/>
          <p:nvPr/>
        </p:nvSpPr>
        <p:spPr>
          <a:xfrm>
            <a:off x="640080" y="2999232"/>
            <a:ext cx="237744" cy="237744"/>
          </a:xfrm>
          <a:prstGeom prst="ellipse">
            <a:avLst/>
          </a:prstGeom>
          <a:solidFill>
            <a:srgbClr val="B8304F"/>
          </a:solidFill>
          <a:ln/>
        </p:spPr>
      </p:sp>
      <p:sp>
        <p:nvSpPr>
          <p:cNvPr id="19" name="Text 17"/>
          <p:cNvSpPr/>
          <p:nvPr/>
        </p:nvSpPr>
        <p:spPr>
          <a:xfrm>
            <a:off x="640080" y="2999232"/>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15</a:t>
            </a:r>
            <a:endParaRPr lang="en-US" sz="1050" dirty="0"/>
          </a:p>
        </p:txBody>
      </p:sp>
      <p:sp>
        <p:nvSpPr>
          <p:cNvPr id="20" name="Text 18"/>
          <p:cNvSpPr/>
          <p:nvPr/>
        </p:nvSpPr>
        <p:spPr>
          <a:xfrm>
            <a:off x="1024128" y="2962656"/>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Réponse</a:t>
            </a:r>
            <a:endParaRPr lang="en-US" sz="1250" dirty="0"/>
          </a:p>
        </p:txBody>
      </p:sp>
      <p:sp>
        <p:nvSpPr>
          <p:cNvPr id="21" name="Text 19"/>
          <p:cNvSpPr/>
          <p:nvPr/>
        </p:nvSpPr>
        <p:spPr>
          <a:xfrm>
            <a:off x="4480560" y="2962656"/>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renvoie la réponse HTTP à git-sync</a:t>
            </a:r>
            <a:endParaRPr lang="en-US" sz="1150" dirty="0"/>
          </a:p>
        </p:txBody>
      </p:sp>
      <p:sp>
        <p:nvSpPr>
          <p:cNvPr id="22" name="Shape 20"/>
          <p:cNvSpPr/>
          <p:nvPr/>
        </p:nvSpPr>
        <p:spPr>
          <a:xfrm>
            <a:off x="640080" y="3401568"/>
            <a:ext cx="237744" cy="237744"/>
          </a:xfrm>
          <a:prstGeom prst="ellipse">
            <a:avLst/>
          </a:prstGeom>
          <a:solidFill>
            <a:srgbClr val="B8304F"/>
          </a:solidFill>
          <a:ln/>
        </p:spPr>
      </p:sp>
      <p:sp>
        <p:nvSpPr>
          <p:cNvPr id="23" name="Text 21"/>
          <p:cNvSpPr/>
          <p:nvPr/>
        </p:nvSpPr>
        <p:spPr>
          <a:xfrm>
            <a:off x="640080" y="3401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16</a:t>
            </a:r>
            <a:endParaRPr lang="en-US" sz="1050" dirty="0"/>
          </a:p>
        </p:txBody>
      </p:sp>
      <p:sp>
        <p:nvSpPr>
          <p:cNvPr id="24" name="Text 22"/>
          <p:cNvSpPr/>
          <p:nvPr/>
        </p:nvSpPr>
        <p:spPr>
          <a:xfrm>
            <a:off x="1024128" y="3364992"/>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Mot-clé Done présent ?</a:t>
            </a:r>
            <a:endParaRPr lang="en-US" sz="1250" dirty="0"/>
          </a:p>
        </p:txBody>
      </p:sp>
      <p:sp>
        <p:nvSpPr>
          <p:cNvPr id="25" name="Text 23"/>
          <p:cNvSpPr/>
          <p:nvPr/>
        </p:nvSpPr>
        <p:spPr>
          <a:xfrm>
            <a:off x="4480560" y="3364992"/>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IF : closes-all est-il dans un commit ?</a:t>
            </a:r>
            <a:endParaRPr lang="en-US" sz="1150" dirty="0"/>
          </a:p>
        </p:txBody>
      </p:sp>
      <p:sp>
        <p:nvSpPr>
          <p:cNvPr id="26" name="Shape 24"/>
          <p:cNvSpPr/>
          <p:nvPr/>
        </p:nvSpPr>
        <p:spPr>
          <a:xfrm>
            <a:off x="640080" y="3803904"/>
            <a:ext cx="237744" cy="237744"/>
          </a:xfrm>
          <a:prstGeom prst="ellipse">
            <a:avLst/>
          </a:prstGeom>
          <a:solidFill>
            <a:srgbClr val="B8304F"/>
          </a:solidFill>
          <a:ln/>
        </p:spPr>
      </p:sp>
      <p:sp>
        <p:nvSpPr>
          <p:cNvPr id="27" name="Text 25"/>
          <p:cNvSpPr/>
          <p:nvPr/>
        </p:nvSpPr>
        <p:spPr>
          <a:xfrm>
            <a:off x="640080" y="380390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17</a:t>
            </a:r>
            <a:endParaRPr lang="en-US" sz="1050" dirty="0"/>
          </a:p>
        </p:txBody>
      </p:sp>
      <p:sp>
        <p:nvSpPr>
          <p:cNvPr id="28" name="Text 26"/>
          <p:cNvSpPr/>
          <p:nvPr/>
        </p:nvSpPr>
        <p:spPr>
          <a:xfrm>
            <a:off x="1024128" y="3767328"/>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Décider Done (tests réels)</a:t>
            </a:r>
            <a:endParaRPr lang="en-US" sz="1250" dirty="0"/>
          </a:p>
        </p:txBody>
      </p:sp>
      <p:sp>
        <p:nvSpPr>
          <p:cNvPr id="29" name="Text 27"/>
          <p:cNvSpPr/>
          <p:nvPr/>
        </p:nvSpPr>
        <p:spPr>
          <a:xfrm>
            <a:off x="4480560" y="3767328"/>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lit testResults, décide si tout est passé</a:t>
            </a:r>
            <a:endParaRPr lang="en-US" sz="1150" dirty="0"/>
          </a:p>
        </p:txBody>
      </p:sp>
      <p:sp>
        <p:nvSpPr>
          <p:cNvPr id="30" name="Shape 28"/>
          <p:cNvSpPr/>
          <p:nvPr/>
        </p:nvSpPr>
        <p:spPr>
          <a:xfrm>
            <a:off x="640080" y="4206240"/>
            <a:ext cx="237744" cy="237744"/>
          </a:xfrm>
          <a:prstGeom prst="ellipse">
            <a:avLst/>
          </a:prstGeom>
          <a:solidFill>
            <a:srgbClr val="B8304F"/>
          </a:solidFill>
          <a:ln/>
        </p:spPr>
      </p:sp>
      <p:sp>
        <p:nvSpPr>
          <p:cNvPr id="31" name="Text 29"/>
          <p:cNvSpPr/>
          <p:nvPr/>
        </p:nvSpPr>
        <p:spPr>
          <a:xfrm>
            <a:off x="640080" y="4206240"/>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18</a:t>
            </a:r>
            <a:endParaRPr lang="en-US" sz="1050" dirty="0"/>
          </a:p>
        </p:txBody>
      </p:sp>
      <p:sp>
        <p:nvSpPr>
          <p:cNvPr id="32" name="Text 30"/>
          <p:cNvSpPr/>
          <p:nvPr/>
        </p:nvSpPr>
        <p:spPr>
          <a:xfrm>
            <a:off x="1024128" y="4169664"/>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Tous les tests passent ?</a:t>
            </a:r>
            <a:endParaRPr lang="en-US" sz="1250" dirty="0"/>
          </a:p>
        </p:txBody>
      </p:sp>
      <p:sp>
        <p:nvSpPr>
          <p:cNvPr id="33" name="Text 31"/>
          <p:cNvSpPr/>
          <p:nvPr/>
        </p:nvSpPr>
        <p:spPr>
          <a:xfrm>
            <a:off x="4480560" y="4169664"/>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IF : le résultat des tests est-il au complet ?</a:t>
            </a:r>
            <a:endParaRPr lang="en-US" sz="1150" dirty="0"/>
          </a:p>
        </p:txBody>
      </p:sp>
      <p:sp>
        <p:nvSpPr>
          <p:cNvPr id="34" name="Shape 32"/>
          <p:cNvSpPr/>
          <p:nvPr/>
        </p:nvSpPr>
        <p:spPr>
          <a:xfrm>
            <a:off x="640080" y="4608576"/>
            <a:ext cx="237744" cy="237744"/>
          </a:xfrm>
          <a:prstGeom prst="ellipse">
            <a:avLst/>
          </a:prstGeom>
          <a:solidFill>
            <a:srgbClr val="B8304F"/>
          </a:solidFill>
          <a:ln/>
        </p:spPr>
      </p:sp>
      <p:sp>
        <p:nvSpPr>
          <p:cNvPr id="35" name="Text 33"/>
          <p:cNvSpPr/>
          <p:nvPr/>
        </p:nvSpPr>
        <p:spPr>
          <a:xfrm>
            <a:off x="640080" y="460857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19</a:t>
            </a:r>
            <a:endParaRPr lang="en-US" sz="1050" dirty="0"/>
          </a:p>
        </p:txBody>
      </p:sp>
      <p:sp>
        <p:nvSpPr>
          <p:cNvPr id="36" name="Text 34"/>
          <p:cNvSpPr/>
          <p:nvPr/>
        </p:nvSpPr>
        <p:spPr>
          <a:xfrm>
            <a:off x="1024128" y="4572000"/>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État Done</a:t>
            </a:r>
            <a:endParaRPr lang="en-US" sz="1250" dirty="0"/>
          </a:p>
        </p:txBody>
      </p:sp>
      <p:sp>
        <p:nvSpPr>
          <p:cNvPr id="37" name="Text 35"/>
          <p:cNvSpPr/>
          <p:nvPr/>
        </p:nvSpPr>
        <p:spPr>
          <a:xfrm>
            <a:off x="4480560" y="4572000"/>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récupère l’identifiant de l’état Done</a:t>
            </a:r>
            <a:endParaRPr lang="en-US" sz="1150" dirty="0"/>
          </a:p>
        </p:txBody>
      </p:sp>
      <p:sp>
        <p:nvSpPr>
          <p:cNvPr id="38" name="Shape 36"/>
          <p:cNvSpPr/>
          <p:nvPr/>
        </p:nvSpPr>
        <p:spPr>
          <a:xfrm>
            <a:off x="640080" y="5010912"/>
            <a:ext cx="237744" cy="237744"/>
          </a:xfrm>
          <a:prstGeom prst="ellipse">
            <a:avLst/>
          </a:prstGeom>
          <a:solidFill>
            <a:srgbClr val="B8304F"/>
          </a:solidFill>
          <a:ln/>
        </p:spPr>
      </p:sp>
      <p:sp>
        <p:nvSpPr>
          <p:cNvPr id="39" name="Text 37"/>
          <p:cNvSpPr/>
          <p:nvPr/>
        </p:nvSpPr>
        <p:spPr>
          <a:xfrm>
            <a:off x="640080" y="5010912"/>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20</a:t>
            </a:r>
            <a:endParaRPr lang="en-US" sz="1050" dirty="0"/>
          </a:p>
        </p:txBody>
      </p:sp>
      <p:sp>
        <p:nvSpPr>
          <p:cNvPr id="40" name="Text 38"/>
          <p:cNvSpPr/>
          <p:nvPr/>
        </p:nvSpPr>
        <p:spPr>
          <a:xfrm>
            <a:off x="1024128" y="4974336"/>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Passer en Done</a:t>
            </a:r>
            <a:endParaRPr lang="en-US" sz="1250" dirty="0"/>
          </a:p>
        </p:txBody>
      </p:sp>
      <p:sp>
        <p:nvSpPr>
          <p:cNvPr id="41" name="Text 39"/>
          <p:cNvSpPr/>
          <p:nvPr/>
        </p:nvSpPr>
        <p:spPr>
          <a:xfrm>
            <a:off x="4480560" y="4974336"/>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change le statut du ticket en Done</a:t>
            </a:r>
            <a:endParaRPr lang="en-US" sz="1150" dirty="0"/>
          </a:p>
        </p:txBody>
      </p:sp>
      <p:sp>
        <p:nvSpPr>
          <p:cNvPr id="42" name="Shape 40"/>
          <p:cNvSpPr/>
          <p:nvPr/>
        </p:nvSpPr>
        <p:spPr>
          <a:xfrm>
            <a:off x="640080" y="5413248"/>
            <a:ext cx="237744" cy="237744"/>
          </a:xfrm>
          <a:prstGeom prst="ellipse">
            <a:avLst/>
          </a:prstGeom>
          <a:solidFill>
            <a:srgbClr val="B8304F"/>
          </a:solidFill>
          <a:ln/>
        </p:spPr>
      </p:sp>
      <p:sp>
        <p:nvSpPr>
          <p:cNvPr id="43" name="Text 41"/>
          <p:cNvSpPr/>
          <p:nvPr/>
        </p:nvSpPr>
        <p:spPr>
          <a:xfrm>
            <a:off x="640080" y="54132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Trebuchet MS" pitchFamily="34" charset="0"/>
                <a:ea typeface="Trebuchet MS" pitchFamily="34" charset="-122"/>
                <a:cs typeface="Trebuchet MS" pitchFamily="34" charset="-120"/>
              </a:rPr>
              <a:t>21</a:t>
            </a:r>
            <a:endParaRPr lang="en-US" sz="1050" dirty="0"/>
          </a:p>
        </p:txBody>
      </p:sp>
      <p:sp>
        <p:nvSpPr>
          <p:cNvPr id="44" name="Text 42"/>
          <p:cNvSpPr/>
          <p:nvPr/>
        </p:nvSpPr>
        <p:spPr>
          <a:xfrm>
            <a:off x="1024128" y="5376672"/>
            <a:ext cx="3383280" cy="402336"/>
          </a:xfrm>
          <a:prstGeom prst="rect">
            <a:avLst/>
          </a:prstGeom>
          <a:noFill/>
          <a:ln/>
        </p:spPr>
        <p:txBody>
          <a:bodyPr wrap="square" lIns="0" tIns="0" rIns="0" bIns="0" rtlCol="0" anchor="ctr"/>
          <a:lstStyle/>
          <a:p>
            <a:pPr indent="0" marL="0">
              <a:buNone/>
            </a:pPr>
            <a:r>
              <a:rPr lang="en-US" sz="1250" b="1" dirty="0">
                <a:solidFill>
                  <a:srgbClr val="B8304F"/>
                </a:solidFill>
                <a:latin typeface="Trebuchet MS" pitchFamily="34" charset="0"/>
                <a:ea typeface="Trebuchet MS" pitchFamily="34" charset="-122"/>
                <a:cs typeface="Trebuchet MS" pitchFamily="34" charset="-120"/>
              </a:rPr>
              <a:t>Linear · Commentaire Done</a:t>
            </a:r>
            <a:endParaRPr lang="en-US" sz="1250" dirty="0"/>
          </a:p>
        </p:txBody>
      </p:sp>
      <p:sp>
        <p:nvSpPr>
          <p:cNvPr id="45" name="Text 43"/>
          <p:cNvSpPr/>
          <p:nvPr/>
        </p:nvSpPr>
        <p:spPr>
          <a:xfrm>
            <a:off x="4480560" y="5376672"/>
            <a:ext cx="7068312" cy="40233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poste le récapitulatif des tests</a:t>
            </a:r>
            <a:endParaRPr lang="en-US" sz="1150" dirty="0"/>
          </a:p>
        </p:txBody>
      </p:sp>
      <p:sp>
        <p:nvSpPr>
          <p:cNvPr id="47" name="Shape 44"/>
          <p:cNvSpPr/>
          <p:nvPr/>
        </p:nvSpPr>
        <p:spPr>
          <a:xfrm>
            <a:off x="640080" y="6217920"/>
            <a:ext cx="10908792" cy="18288"/>
          </a:xfrm>
          <a:prstGeom prst="rect">
            <a:avLst/>
          </a:prstGeom>
          <a:solidFill>
            <a:srgbClr val="E2E2E8"/>
          </a:solidFill>
          <a:ln/>
        </p:spPr>
      </p:sp>
      <p:sp>
        <p:nvSpPr>
          <p:cNvPr id="48" name="Text 45"/>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Les nœuds du workflow</a:t>
            </a:r>
            <a:endParaRPr lang="en-US" sz="1100" dirty="0"/>
          </a:p>
        </p:txBody>
      </p:sp>
      <p:sp>
        <p:nvSpPr>
          <p:cNvPr id="49" name="Text 46"/>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16 / 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CE QUI TOURNE DERRIÈRE</a:t>
            </a:r>
            <a:endParaRPr lang="en-US" sz="1300" dirty="0"/>
          </a:p>
        </p:txBody>
      </p:sp>
      <p:sp>
        <p:nvSpPr>
          <p:cNvPr id="5" name="Text 3"/>
          <p:cNvSpPr/>
          <p:nvPr/>
        </p:nvSpPr>
        <p:spPr>
          <a:xfrm>
            <a:off x="640080" y="1115568"/>
            <a:ext cx="10908792" cy="603504"/>
          </a:xfrm>
          <a:prstGeom prst="rect">
            <a:avLst/>
          </a:prstGeom>
          <a:noFill/>
          <a:ln/>
        </p:spPr>
        <p:txBody>
          <a:bodyPr wrap="square" lIns="0" tIns="0" rIns="0" bIns="0" rtlCol="0" anchor="ctr"/>
          <a:lstStyle/>
          <a:p>
            <a:pPr indent="0" marL="0">
              <a:buNone/>
            </a:pPr>
            <a:r>
              <a:rPr lang="en-US" sz="3600" b="1" dirty="0">
                <a:solidFill>
                  <a:srgbClr val="1A1A2E"/>
                </a:solidFill>
                <a:latin typeface="Trebuchet MS" pitchFamily="34" charset="0"/>
                <a:ea typeface="Trebuchet MS" pitchFamily="34" charset="-122"/>
                <a:cs typeface="Trebuchet MS" pitchFamily="34" charset="-120"/>
              </a:rPr>
              <a:t>Les acteurs, de bout en bout</a:t>
            </a:r>
            <a:endParaRPr lang="en-US" sz="3600" dirty="0"/>
          </a:p>
        </p:txBody>
      </p:sp>
      <p:sp>
        <p:nvSpPr>
          <p:cNvPr id="6" name="Shape 4"/>
          <p:cNvSpPr/>
          <p:nvPr/>
        </p:nvSpPr>
        <p:spPr>
          <a:xfrm>
            <a:off x="640080" y="1810512"/>
            <a:ext cx="1998878" cy="1417320"/>
          </a:xfrm>
          <a:prstGeom prst="roundRect">
            <a:avLst>
              <a:gd name="adj" fmla="val 7742"/>
            </a:avLst>
          </a:prstGeom>
          <a:solidFill>
            <a:srgbClr val="F4F4F6"/>
          </a:solidFill>
          <a:ln/>
        </p:spPr>
      </p:sp>
      <p:sp>
        <p:nvSpPr>
          <p:cNvPr id="7" name="Text 5"/>
          <p:cNvSpPr/>
          <p:nvPr/>
        </p:nvSpPr>
        <p:spPr>
          <a:xfrm>
            <a:off x="804672" y="1975104"/>
            <a:ext cx="1669694" cy="365760"/>
          </a:xfrm>
          <a:prstGeom prst="rect">
            <a:avLst/>
          </a:prstGeom>
          <a:noFill/>
          <a:ln/>
        </p:spPr>
        <p:txBody>
          <a:bodyPr wrap="square" lIns="0" tIns="0" rIns="0" bIns="0"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Développeur</a:t>
            </a:r>
            <a:endParaRPr lang="en-US" sz="1800" dirty="0"/>
          </a:p>
        </p:txBody>
      </p:sp>
      <p:sp>
        <p:nvSpPr>
          <p:cNvPr id="8" name="Text 6"/>
          <p:cNvSpPr/>
          <p:nvPr/>
        </p:nvSpPr>
        <p:spPr>
          <a:xfrm>
            <a:off x="804672" y="2359152"/>
            <a:ext cx="1669694" cy="822960"/>
          </a:xfrm>
          <a:prstGeom prst="rect">
            <a:avLst/>
          </a:prstGeom>
          <a:noFill/>
          <a:ln/>
        </p:spPr>
        <p:txBody>
          <a:bodyPr wrap="square" lIns="0" tIns="0" rIns="0" bIns="0" rtlCol="0" anchor="ctr"/>
          <a:lstStyle/>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Ecrit le code, commite</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 closes-all si le</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ticket est termine)</a:t>
            </a:r>
            <a:endParaRPr lang="en-US" sz="1150" dirty="0"/>
          </a:p>
        </p:txBody>
      </p:sp>
      <p:sp>
        <p:nvSpPr>
          <p:cNvPr id="9" name="Shape 7"/>
          <p:cNvSpPr/>
          <p:nvPr/>
        </p:nvSpPr>
        <p:spPr>
          <a:xfrm>
            <a:off x="2675534" y="2502713"/>
            <a:ext cx="155448" cy="32004"/>
          </a:xfrm>
          <a:prstGeom prst="rect">
            <a:avLst/>
          </a:prstGeom>
          <a:solidFill>
            <a:srgbClr val="EA4B71"/>
          </a:solidFill>
          <a:ln/>
        </p:spPr>
      </p:sp>
      <p:sp>
        <p:nvSpPr>
          <p:cNvPr id="10" name="Shape 8"/>
          <p:cNvSpPr/>
          <p:nvPr/>
        </p:nvSpPr>
        <p:spPr>
          <a:xfrm>
            <a:off x="2867558" y="1810512"/>
            <a:ext cx="1998878" cy="1417320"/>
          </a:xfrm>
          <a:prstGeom prst="roundRect">
            <a:avLst>
              <a:gd name="adj" fmla="val 7742"/>
            </a:avLst>
          </a:prstGeom>
          <a:solidFill>
            <a:srgbClr val="F4F4F6"/>
          </a:solidFill>
          <a:ln/>
        </p:spPr>
      </p:sp>
      <p:sp>
        <p:nvSpPr>
          <p:cNvPr id="11" name="Text 9"/>
          <p:cNvSpPr/>
          <p:nvPr/>
        </p:nvSpPr>
        <p:spPr>
          <a:xfrm>
            <a:off x="3032150" y="1975104"/>
            <a:ext cx="1669694" cy="365760"/>
          </a:xfrm>
          <a:prstGeom prst="rect">
            <a:avLst/>
          </a:prstGeom>
          <a:noFill/>
          <a:ln/>
        </p:spPr>
        <p:txBody>
          <a:bodyPr wrap="square" lIns="0" tIns="0" rIns="0" bIns="0"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git-sync</a:t>
            </a:r>
            <a:endParaRPr lang="en-US" sz="1800" dirty="0"/>
          </a:p>
        </p:txBody>
      </p:sp>
      <p:sp>
        <p:nvSpPr>
          <p:cNvPr id="12" name="Text 10"/>
          <p:cNvSpPr/>
          <p:nvPr/>
        </p:nvSpPr>
        <p:spPr>
          <a:xfrm>
            <a:off x="3032150" y="2359152"/>
            <a:ext cx="1669694" cy="822960"/>
          </a:xfrm>
          <a:prstGeom prst="rect">
            <a:avLst/>
          </a:prstGeom>
          <a:noFill/>
          <a:ln/>
        </p:spPr>
        <p:txBody>
          <a:bodyPr wrap="square" lIns="0" tIns="0" rIns="0" bIns="0" rtlCol="0" anchor="ctr"/>
          <a:lstStyle/>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Lit les commits, lance</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les tests en local si besoin,</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envoie tout a n8n</a:t>
            </a:r>
            <a:endParaRPr lang="en-US" sz="1150" dirty="0"/>
          </a:p>
        </p:txBody>
      </p:sp>
      <p:sp>
        <p:nvSpPr>
          <p:cNvPr id="13" name="Shape 11"/>
          <p:cNvSpPr/>
          <p:nvPr/>
        </p:nvSpPr>
        <p:spPr>
          <a:xfrm>
            <a:off x="4903013" y="2502713"/>
            <a:ext cx="155448" cy="32004"/>
          </a:xfrm>
          <a:prstGeom prst="rect">
            <a:avLst/>
          </a:prstGeom>
          <a:solidFill>
            <a:srgbClr val="EA4B71"/>
          </a:solidFill>
          <a:ln/>
        </p:spPr>
      </p:sp>
      <p:sp>
        <p:nvSpPr>
          <p:cNvPr id="14" name="Shape 12"/>
          <p:cNvSpPr/>
          <p:nvPr/>
        </p:nvSpPr>
        <p:spPr>
          <a:xfrm>
            <a:off x="5095037" y="1810512"/>
            <a:ext cx="1998878" cy="1417320"/>
          </a:xfrm>
          <a:prstGeom prst="roundRect">
            <a:avLst>
              <a:gd name="adj" fmla="val 7742"/>
            </a:avLst>
          </a:prstGeom>
          <a:solidFill>
            <a:srgbClr val="B8304F"/>
          </a:solidFill>
          <a:ln/>
        </p:spPr>
      </p:sp>
      <p:sp>
        <p:nvSpPr>
          <p:cNvPr id="15" name="Text 13"/>
          <p:cNvSpPr/>
          <p:nvPr/>
        </p:nvSpPr>
        <p:spPr>
          <a:xfrm>
            <a:off x="5259629" y="1975104"/>
            <a:ext cx="1669694"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n8n</a:t>
            </a:r>
            <a:endParaRPr lang="en-US" sz="1800" dirty="0"/>
          </a:p>
        </p:txBody>
      </p:sp>
      <p:sp>
        <p:nvSpPr>
          <p:cNvPr id="16" name="Text 14"/>
          <p:cNvSpPr/>
          <p:nvPr/>
        </p:nvSpPr>
        <p:spPr>
          <a:xfrm>
            <a:off x="5259629" y="2359152"/>
            <a:ext cx="1669694" cy="822960"/>
          </a:xfrm>
          <a:prstGeom prst="rect">
            <a:avLst/>
          </a:prstGeom>
          <a:noFill/>
          <a:ln/>
        </p:spPr>
        <p:txBody>
          <a:bodyPr wrap="square" lIns="0" tIns="0" rIns="0" bIns="0" rtlCol="0" anchor="ctr"/>
          <a:lstStyle/>
          <a:p>
            <a:pPr indent="0" marL="0">
              <a:lnSpc>
                <a:spcPct val="115000"/>
              </a:lnSpc>
              <a:buNone/>
            </a:pPr>
            <a:r>
              <a:rPr lang="en-US" sz="1150" dirty="0">
                <a:solidFill>
                  <a:srgbClr val="FFD9E2"/>
                </a:solidFill>
                <a:latin typeface="Calibri" pitchFamily="34" charset="0"/>
                <a:ea typeface="Calibri" pitchFamily="34" charset="-122"/>
                <a:cs typeface="Calibri" pitchFamily="34" charset="-120"/>
              </a:rPr>
              <a:t>Reçoit l’appel et</a:t>
            </a:r>
            <a:endParaRPr lang="en-US" sz="1150" dirty="0"/>
          </a:p>
          <a:p>
            <a:pPr indent="0" marL="0">
              <a:lnSpc>
                <a:spcPct val="115000"/>
              </a:lnSpc>
              <a:buNone/>
            </a:pPr>
            <a:r>
              <a:rPr lang="en-US" sz="1150" dirty="0">
                <a:solidFill>
                  <a:srgbClr val="FFD9E2"/>
                </a:solidFill>
                <a:latin typeface="Calibri" pitchFamily="34" charset="0"/>
                <a:ea typeface="Calibri" pitchFamily="34" charset="-122"/>
                <a:cs typeface="Calibri" pitchFamily="34" charset="-120"/>
              </a:rPr>
              <a:t>exécute les 21 nœuds</a:t>
            </a:r>
            <a:endParaRPr lang="en-US" sz="1150" dirty="0"/>
          </a:p>
          <a:p>
            <a:pPr indent="0" marL="0">
              <a:lnSpc>
                <a:spcPct val="115000"/>
              </a:lnSpc>
              <a:buNone/>
            </a:pPr>
            <a:r>
              <a:rPr lang="en-US" sz="1150" dirty="0">
                <a:solidFill>
                  <a:srgbClr val="FFD9E2"/>
                </a:solidFill>
                <a:latin typeface="Calibri" pitchFamily="34" charset="0"/>
                <a:ea typeface="Calibri" pitchFamily="34" charset="-122"/>
                <a:cs typeface="Calibri" pitchFamily="34" charset="-120"/>
              </a:rPr>
              <a:t>pour décider quoi faire</a:t>
            </a:r>
            <a:endParaRPr lang="en-US" sz="1150" dirty="0"/>
          </a:p>
        </p:txBody>
      </p:sp>
      <p:sp>
        <p:nvSpPr>
          <p:cNvPr id="17" name="Shape 15"/>
          <p:cNvSpPr/>
          <p:nvPr/>
        </p:nvSpPr>
        <p:spPr>
          <a:xfrm>
            <a:off x="7130491" y="2502713"/>
            <a:ext cx="155448" cy="32004"/>
          </a:xfrm>
          <a:prstGeom prst="rect">
            <a:avLst/>
          </a:prstGeom>
          <a:solidFill>
            <a:srgbClr val="EA4B71"/>
          </a:solidFill>
          <a:ln/>
        </p:spPr>
      </p:sp>
      <p:sp>
        <p:nvSpPr>
          <p:cNvPr id="18" name="Shape 16"/>
          <p:cNvSpPr/>
          <p:nvPr/>
        </p:nvSpPr>
        <p:spPr>
          <a:xfrm>
            <a:off x="7322515" y="1810512"/>
            <a:ext cx="1998878" cy="1417320"/>
          </a:xfrm>
          <a:prstGeom prst="roundRect">
            <a:avLst>
              <a:gd name="adj" fmla="val 7742"/>
            </a:avLst>
          </a:prstGeom>
          <a:solidFill>
            <a:srgbClr val="F4F4F6"/>
          </a:solidFill>
          <a:ln/>
        </p:spPr>
      </p:sp>
      <p:sp>
        <p:nvSpPr>
          <p:cNvPr id="19" name="Text 17"/>
          <p:cNvSpPr/>
          <p:nvPr/>
        </p:nvSpPr>
        <p:spPr>
          <a:xfrm>
            <a:off x="7487107" y="1975104"/>
            <a:ext cx="1669694" cy="365760"/>
          </a:xfrm>
          <a:prstGeom prst="rect">
            <a:avLst/>
          </a:prstGeom>
          <a:noFill/>
          <a:ln/>
        </p:spPr>
        <p:txBody>
          <a:bodyPr wrap="square" lIns="0" tIns="0" rIns="0" bIns="0"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Claude</a:t>
            </a:r>
            <a:endParaRPr lang="en-US" sz="1800" dirty="0"/>
          </a:p>
        </p:txBody>
      </p:sp>
      <p:sp>
        <p:nvSpPr>
          <p:cNvPr id="20" name="Text 18"/>
          <p:cNvSpPr/>
          <p:nvPr/>
        </p:nvSpPr>
        <p:spPr>
          <a:xfrm>
            <a:off x="7487107" y="2359152"/>
            <a:ext cx="1669694" cy="822960"/>
          </a:xfrm>
          <a:prstGeom prst="rect">
            <a:avLst/>
          </a:prstGeom>
          <a:noFill/>
          <a:ln/>
        </p:spPr>
        <p:txBody>
          <a:bodyPr wrap="square" lIns="0" tIns="0" rIns="0" bIns="0" rtlCol="0" anchor="ctr"/>
          <a:lstStyle/>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Appelé seulement si</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aucune référence trouvée</a:t>
            </a:r>
            <a:endParaRPr lang="en-US" sz="1150" dirty="0"/>
          </a:p>
          <a:p>
            <a:pPr indent="0" marL="0">
              <a:lnSpc>
                <a:spcPct val="115000"/>
              </a:lnSpc>
              <a:buNone/>
            </a:pPr>
            <a:r>
              <a:rPr lang="en-US" sz="1150" dirty="0">
                <a:solidFill>
                  <a:srgbClr val="5C5C6E"/>
                </a:solidFill>
                <a:latin typeface="Calibri" pitchFamily="34" charset="0"/>
                <a:ea typeface="Calibri" pitchFamily="34" charset="-122"/>
                <a:cs typeface="Calibri" pitchFamily="34" charset="-120"/>
              </a:rPr>
              <a:t>dans la branche</a:t>
            </a:r>
            <a:endParaRPr lang="en-US" sz="1150" dirty="0"/>
          </a:p>
        </p:txBody>
      </p:sp>
      <p:sp>
        <p:nvSpPr>
          <p:cNvPr id="21" name="Shape 19"/>
          <p:cNvSpPr/>
          <p:nvPr/>
        </p:nvSpPr>
        <p:spPr>
          <a:xfrm>
            <a:off x="9357970" y="2502713"/>
            <a:ext cx="155448" cy="32004"/>
          </a:xfrm>
          <a:prstGeom prst="rect">
            <a:avLst/>
          </a:prstGeom>
          <a:solidFill>
            <a:srgbClr val="EA4B71"/>
          </a:solidFill>
          <a:ln/>
        </p:spPr>
      </p:sp>
      <p:sp>
        <p:nvSpPr>
          <p:cNvPr id="22" name="Shape 20"/>
          <p:cNvSpPr/>
          <p:nvPr/>
        </p:nvSpPr>
        <p:spPr>
          <a:xfrm>
            <a:off x="9549994" y="1810512"/>
            <a:ext cx="1998878" cy="1417320"/>
          </a:xfrm>
          <a:prstGeom prst="roundRect">
            <a:avLst>
              <a:gd name="adj" fmla="val 7742"/>
            </a:avLst>
          </a:prstGeom>
          <a:solidFill>
            <a:srgbClr val="101330"/>
          </a:solidFill>
          <a:ln/>
        </p:spPr>
      </p:sp>
      <p:sp>
        <p:nvSpPr>
          <p:cNvPr id="23" name="Text 21"/>
          <p:cNvSpPr/>
          <p:nvPr/>
        </p:nvSpPr>
        <p:spPr>
          <a:xfrm>
            <a:off x="9714586" y="1975104"/>
            <a:ext cx="1669694"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Linear</a:t>
            </a:r>
            <a:endParaRPr lang="en-US" sz="1800" dirty="0"/>
          </a:p>
        </p:txBody>
      </p:sp>
      <p:sp>
        <p:nvSpPr>
          <p:cNvPr id="24" name="Text 22"/>
          <p:cNvSpPr/>
          <p:nvPr/>
        </p:nvSpPr>
        <p:spPr>
          <a:xfrm>
            <a:off x="9714586" y="2359152"/>
            <a:ext cx="1669694" cy="822960"/>
          </a:xfrm>
          <a:prstGeom prst="rect">
            <a:avLst/>
          </a:prstGeom>
          <a:noFill/>
          <a:ln/>
        </p:spPr>
        <p:txBody>
          <a:bodyPr wrap="square" lIns="0" tIns="0" rIns="0" bIns="0" rtlCol="0" anchor="ctr"/>
          <a:lstStyle/>
          <a:p>
            <a:pPr indent="0" marL="0">
              <a:lnSpc>
                <a:spcPct val="115000"/>
              </a:lnSpc>
              <a:buNone/>
            </a:pPr>
            <a:r>
              <a:rPr lang="en-US" sz="1150" dirty="0">
                <a:solidFill>
                  <a:srgbClr val="C9CAE0"/>
                </a:solidFill>
                <a:latin typeface="Calibri" pitchFamily="34" charset="0"/>
                <a:ea typeface="Calibri" pitchFamily="34" charset="-122"/>
                <a:cs typeface="Calibri" pitchFamily="34" charset="-120"/>
              </a:rPr>
              <a:t>Reçoit la décision :</a:t>
            </a:r>
            <a:endParaRPr lang="en-US" sz="1150" dirty="0"/>
          </a:p>
          <a:p>
            <a:pPr indent="0" marL="0">
              <a:lnSpc>
                <a:spcPct val="115000"/>
              </a:lnSpc>
              <a:buNone/>
            </a:pPr>
            <a:r>
              <a:rPr lang="en-US" sz="1150" dirty="0">
                <a:solidFill>
                  <a:srgbClr val="C9CAE0"/>
                </a:solidFill>
                <a:latin typeface="Calibri" pitchFamily="34" charset="0"/>
                <a:ea typeface="Calibri" pitchFamily="34" charset="-122"/>
                <a:cs typeface="Calibri" pitchFamily="34" charset="-120"/>
              </a:rPr>
              <a:t>statut + commentaire</a:t>
            </a:r>
            <a:endParaRPr lang="en-US" sz="1150" dirty="0"/>
          </a:p>
          <a:p>
            <a:pPr indent="0" marL="0">
              <a:lnSpc>
                <a:spcPct val="115000"/>
              </a:lnSpc>
              <a:buNone/>
            </a:pPr>
            <a:r>
              <a:rPr lang="en-US" sz="1150" dirty="0">
                <a:solidFill>
                  <a:srgbClr val="C9CAE0"/>
                </a:solidFill>
                <a:latin typeface="Calibri" pitchFamily="34" charset="0"/>
                <a:ea typeface="Calibri" pitchFamily="34" charset="-122"/>
                <a:cs typeface="Calibri" pitchFamily="34" charset="-120"/>
              </a:rPr>
              <a:t>sur le ticket</a:t>
            </a:r>
            <a:endParaRPr lang="en-US" sz="1150" dirty="0"/>
          </a:p>
        </p:txBody>
      </p:sp>
      <p:sp>
        <p:nvSpPr>
          <p:cNvPr id="25" name="Shape 23"/>
          <p:cNvSpPr/>
          <p:nvPr/>
        </p:nvSpPr>
        <p:spPr>
          <a:xfrm>
            <a:off x="1623060" y="3227832"/>
            <a:ext cx="32918" cy="411480"/>
          </a:xfrm>
          <a:prstGeom prst="rect">
            <a:avLst/>
          </a:prstGeom>
          <a:solidFill>
            <a:srgbClr val="5C5C6E"/>
          </a:solidFill>
          <a:ln/>
        </p:spPr>
      </p:sp>
      <p:sp>
        <p:nvSpPr>
          <p:cNvPr id="26" name="Shape 24"/>
          <p:cNvSpPr/>
          <p:nvPr/>
        </p:nvSpPr>
        <p:spPr>
          <a:xfrm>
            <a:off x="640080" y="3639312"/>
            <a:ext cx="1998878" cy="914400"/>
          </a:xfrm>
          <a:prstGeom prst="roundRect">
            <a:avLst>
              <a:gd name="adj" fmla="val 10000"/>
            </a:avLst>
          </a:prstGeom>
          <a:solidFill>
            <a:srgbClr val="F4F4F6"/>
          </a:solidFill>
          <a:ln/>
        </p:spPr>
      </p:sp>
      <p:sp>
        <p:nvSpPr>
          <p:cNvPr id="27" name="Text 25"/>
          <p:cNvSpPr/>
          <p:nvPr/>
        </p:nvSpPr>
        <p:spPr>
          <a:xfrm>
            <a:off x="786384" y="3749040"/>
            <a:ext cx="1706270" cy="274320"/>
          </a:xfrm>
          <a:prstGeom prst="rect">
            <a:avLst/>
          </a:prstGeom>
          <a:noFill/>
          <a:ln/>
        </p:spPr>
        <p:txBody>
          <a:bodyPr wrap="square" lIns="0" tIns="0" rIns="0" bIns="0" rtlCol="0" anchor="ctr"/>
          <a:lstStyle/>
          <a:p>
            <a:pPr indent="0" marL="0">
              <a:buNone/>
            </a:pPr>
            <a:r>
              <a:rPr lang="en-US" sz="1300" b="1" dirty="0">
                <a:solidFill>
                  <a:srgbClr val="B8304F"/>
                </a:solidFill>
                <a:latin typeface="Trebuchet MS" pitchFamily="34" charset="0"/>
                <a:ea typeface="Trebuchet MS" pitchFamily="34" charset="-122"/>
                <a:cs typeface="Trebuchet MS" pitchFamily="34" charset="-120"/>
              </a:rPr>
              <a:t>Stockage en mémoire</a:t>
            </a:r>
            <a:endParaRPr lang="en-US" sz="1300" dirty="0"/>
          </a:p>
        </p:txBody>
      </p:sp>
      <p:sp>
        <p:nvSpPr>
          <p:cNvPr id="28" name="Text 26"/>
          <p:cNvSpPr/>
          <p:nvPr/>
        </p:nvSpPr>
        <p:spPr>
          <a:xfrm>
            <a:off x="786384" y="4023360"/>
            <a:ext cx="1706270" cy="502920"/>
          </a:xfrm>
          <a:prstGeom prst="rect">
            <a:avLst/>
          </a:prstGeom>
          <a:noFill/>
          <a:ln/>
        </p:spPr>
        <p:txBody>
          <a:bodyPr wrap="square" lIns="0" tIns="0" rIns="0" bIns="0" rtlCol="0" anchor="ctr"/>
          <a:lstStyle/>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Livres et auteurs,</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reinitialise au redemarrage</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(pas de base de donnees)</a:t>
            </a:r>
            <a:endParaRPr lang="en-US" sz="1000" dirty="0"/>
          </a:p>
        </p:txBody>
      </p:sp>
      <p:sp>
        <p:nvSpPr>
          <p:cNvPr id="29" name="Shape 27"/>
          <p:cNvSpPr/>
          <p:nvPr/>
        </p:nvSpPr>
        <p:spPr>
          <a:xfrm>
            <a:off x="3850538" y="3227832"/>
            <a:ext cx="32918" cy="411480"/>
          </a:xfrm>
          <a:prstGeom prst="rect">
            <a:avLst/>
          </a:prstGeom>
          <a:solidFill>
            <a:srgbClr val="5C5C6E"/>
          </a:solidFill>
          <a:ln/>
        </p:spPr>
      </p:sp>
      <p:sp>
        <p:nvSpPr>
          <p:cNvPr id="30" name="Shape 28"/>
          <p:cNvSpPr/>
          <p:nvPr/>
        </p:nvSpPr>
        <p:spPr>
          <a:xfrm>
            <a:off x="2867558" y="3639312"/>
            <a:ext cx="1998878" cy="914400"/>
          </a:xfrm>
          <a:prstGeom prst="roundRect">
            <a:avLst>
              <a:gd name="adj" fmla="val 10000"/>
            </a:avLst>
          </a:prstGeom>
          <a:solidFill>
            <a:srgbClr val="F4F4F6"/>
          </a:solidFill>
          <a:ln/>
        </p:spPr>
      </p:sp>
      <p:sp>
        <p:nvSpPr>
          <p:cNvPr id="31" name="Text 29"/>
          <p:cNvSpPr/>
          <p:nvPr/>
        </p:nvSpPr>
        <p:spPr>
          <a:xfrm>
            <a:off x="3013862" y="3749040"/>
            <a:ext cx="1706270" cy="274320"/>
          </a:xfrm>
          <a:prstGeom prst="rect">
            <a:avLst/>
          </a:prstGeom>
          <a:noFill/>
          <a:ln/>
        </p:spPr>
        <p:txBody>
          <a:bodyPr wrap="square" lIns="0" tIns="0" rIns="0" bIns="0" rtlCol="0" anchor="ctr"/>
          <a:lstStyle/>
          <a:p>
            <a:pPr indent="0" marL="0">
              <a:buNone/>
            </a:pPr>
            <a:r>
              <a:rPr lang="en-US" sz="1300" b="1" dirty="0">
                <a:solidFill>
                  <a:srgbClr val="B8304F"/>
                </a:solidFill>
                <a:latin typeface="Trebuchet MS" pitchFamily="34" charset="0"/>
                <a:ea typeface="Trebuchet MS" pitchFamily="34" charset="-122"/>
                <a:cs typeface="Trebuchet MS" pitchFamily="34" charset="-120"/>
              </a:rPr>
              <a:t>Tests d’acceptation</a:t>
            </a:r>
            <a:endParaRPr lang="en-US" sz="1300" dirty="0"/>
          </a:p>
        </p:txBody>
      </p:sp>
      <p:sp>
        <p:nvSpPr>
          <p:cNvPr id="32" name="Text 30"/>
          <p:cNvSpPr/>
          <p:nvPr/>
        </p:nvSpPr>
        <p:spPr>
          <a:xfrm>
            <a:off x="3013862" y="4023360"/>
            <a:ext cx="1706270" cy="502920"/>
          </a:xfrm>
          <a:prstGeom prst="rect">
            <a:avLst/>
          </a:prstGeom>
          <a:noFill/>
          <a:ln/>
        </p:spPr>
        <p:txBody>
          <a:bodyPr wrap="square" lIns="0" tIns="0" rIns="0" bIns="0" rtlCol="0" anchor="ctr"/>
          <a:lstStyle/>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npm test, execute en local</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avant l’envoi (closes-all)</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resultat reel, pas une estimation</a:t>
            </a:r>
            <a:endParaRPr lang="en-US" sz="1000" dirty="0"/>
          </a:p>
        </p:txBody>
      </p:sp>
      <p:sp>
        <p:nvSpPr>
          <p:cNvPr id="33" name="Shape 31"/>
          <p:cNvSpPr/>
          <p:nvPr/>
        </p:nvSpPr>
        <p:spPr>
          <a:xfrm>
            <a:off x="6078017" y="3227832"/>
            <a:ext cx="32918" cy="411480"/>
          </a:xfrm>
          <a:prstGeom prst="rect">
            <a:avLst/>
          </a:prstGeom>
          <a:solidFill>
            <a:srgbClr val="5C5C6E"/>
          </a:solidFill>
          <a:ln/>
        </p:spPr>
      </p:sp>
      <p:sp>
        <p:nvSpPr>
          <p:cNvPr id="34" name="Shape 32"/>
          <p:cNvSpPr/>
          <p:nvPr/>
        </p:nvSpPr>
        <p:spPr>
          <a:xfrm>
            <a:off x="5095037" y="3639312"/>
            <a:ext cx="1998878" cy="914400"/>
          </a:xfrm>
          <a:prstGeom prst="roundRect">
            <a:avLst>
              <a:gd name="adj" fmla="val 10000"/>
            </a:avLst>
          </a:prstGeom>
          <a:solidFill>
            <a:srgbClr val="F4F4F6"/>
          </a:solidFill>
          <a:ln/>
        </p:spPr>
      </p:sp>
      <p:sp>
        <p:nvSpPr>
          <p:cNvPr id="35" name="Text 33"/>
          <p:cNvSpPr/>
          <p:nvPr/>
        </p:nvSpPr>
        <p:spPr>
          <a:xfrm>
            <a:off x="5241341" y="3749040"/>
            <a:ext cx="1706270" cy="274320"/>
          </a:xfrm>
          <a:prstGeom prst="rect">
            <a:avLst/>
          </a:prstGeom>
          <a:noFill/>
          <a:ln/>
        </p:spPr>
        <p:txBody>
          <a:bodyPr wrap="square" lIns="0" tIns="0" rIns="0" bIns="0" rtlCol="0" anchor="ctr"/>
          <a:lstStyle/>
          <a:p>
            <a:pPr indent="0" marL="0">
              <a:buNone/>
            </a:pPr>
            <a:r>
              <a:rPr lang="en-US" sz="1300" b="1" dirty="0">
                <a:solidFill>
                  <a:srgbClr val="B8304F"/>
                </a:solidFill>
                <a:latin typeface="Trebuchet MS" pitchFamily="34" charset="0"/>
                <a:ea typeface="Trebuchet MS" pitchFamily="34" charset="-122"/>
                <a:cs typeface="Trebuchet MS" pitchFamily="34" charset="-120"/>
              </a:rPr>
              <a:t>Postgres</a:t>
            </a:r>
            <a:endParaRPr lang="en-US" sz="1300" dirty="0"/>
          </a:p>
        </p:txBody>
      </p:sp>
      <p:sp>
        <p:nvSpPr>
          <p:cNvPr id="36" name="Text 34"/>
          <p:cNvSpPr/>
          <p:nvPr/>
        </p:nvSpPr>
        <p:spPr>
          <a:xfrm>
            <a:off x="5241341" y="4023360"/>
            <a:ext cx="1706270" cy="502920"/>
          </a:xfrm>
          <a:prstGeom prst="rect">
            <a:avLst/>
          </a:prstGeom>
          <a:noFill/>
          <a:ln/>
        </p:spPr>
        <p:txBody>
          <a:bodyPr wrap="square" lIns="0" tIns="0" rIns="0" bIns="0" rtlCol="0" anchor="ctr"/>
          <a:lstStyle/>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Etat interne de n8n :</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workflows, executions,</a:t>
            </a:r>
            <a:endParaRPr lang="en-US" sz="1000" dirty="0"/>
          </a:p>
          <a:p>
            <a:pPr indent="0" marL="0">
              <a:lnSpc>
                <a:spcPct val="110000"/>
              </a:lnSpc>
              <a:buNone/>
            </a:pPr>
            <a:r>
              <a:rPr lang="en-US" sz="1000" dirty="0">
                <a:solidFill>
                  <a:srgbClr val="5C5C6E"/>
                </a:solidFill>
                <a:latin typeface="Calibri" pitchFamily="34" charset="0"/>
                <a:ea typeface="Calibri" pitchFamily="34" charset="-122"/>
                <a:cs typeface="Calibri" pitchFamily="34" charset="-120"/>
              </a:rPr>
              <a:t>credentials chiffrees</a:t>
            </a:r>
            <a:endParaRPr lang="en-US" sz="1000" dirty="0"/>
          </a:p>
        </p:txBody>
      </p:sp>
      <p:sp>
        <p:nvSpPr>
          <p:cNvPr id="37" name="Shape 35"/>
          <p:cNvSpPr/>
          <p:nvPr/>
        </p:nvSpPr>
        <p:spPr>
          <a:xfrm>
            <a:off x="640080" y="4782312"/>
            <a:ext cx="10908792" cy="1005840"/>
          </a:xfrm>
          <a:prstGeom prst="roundRect">
            <a:avLst>
              <a:gd name="adj" fmla="val 9091"/>
            </a:avLst>
          </a:prstGeom>
          <a:solidFill>
            <a:srgbClr val="F4F4F6"/>
          </a:solidFill>
          <a:ln/>
        </p:spPr>
      </p:sp>
      <p:sp>
        <p:nvSpPr>
          <p:cNvPr id="38" name="Shape 36"/>
          <p:cNvSpPr/>
          <p:nvPr/>
        </p:nvSpPr>
        <p:spPr>
          <a:xfrm>
            <a:off x="640080" y="4892040"/>
            <a:ext cx="91440" cy="786384"/>
          </a:xfrm>
          <a:prstGeom prst="rect">
            <a:avLst/>
          </a:prstGeom>
          <a:solidFill>
            <a:srgbClr val="EA4B71"/>
          </a:solidFill>
          <a:ln/>
        </p:spPr>
      </p:sp>
      <p:sp>
        <p:nvSpPr>
          <p:cNvPr id="39" name="Text 37"/>
          <p:cNvSpPr/>
          <p:nvPr/>
        </p:nvSpPr>
        <p:spPr>
          <a:xfrm>
            <a:off x="1097280" y="4965192"/>
            <a:ext cx="10085832" cy="347472"/>
          </a:xfrm>
          <a:prstGeom prst="rect">
            <a:avLst/>
          </a:prstGeom>
          <a:noFill/>
          <a:ln/>
        </p:spPr>
        <p:txBody>
          <a:bodyPr wrap="square" lIns="0" tIns="0" rIns="0" bIns="0" rtlCol="0" anchor="ctr"/>
          <a:lstStyle/>
          <a:p>
            <a:pPr indent="0" marL="0">
              <a:buNone/>
            </a:pPr>
            <a:r>
              <a:rPr lang="en-US" sz="1600" b="1" dirty="0">
                <a:solidFill>
                  <a:srgbClr val="B8304F"/>
                </a:solidFill>
                <a:latin typeface="Trebuchet MS" pitchFamily="34" charset="0"/>
                <a:ea typeface="Trebuchet MS" pitchFamily="34" charset="-122"/>
                <a:cs typeface="Trebuchet MS" pitchFamily="34" charset="-120"/>
              </a:rPr>
              <a:t>Tout est local, sauf deux appels</a:t>
            </a:r>
            <a:endParaRPr lang="en-US" sz="1600" dirty="0"/>
          </a:p>
        </p:txBody>
      </p:sp>
      <p:sp>
        <p:nvSpPr>
          <p:cNvPr id="40" name="Text 38"/>
          <p:cNvSpPr/>
          <p:nvPr/>
        </p:nvSpPr>
        <p:spPr>
          <a:xfrm>
            <a:off x="1097280" y="5330952"/>
            <a:ext cx="10085832" cy="274320"/>
          </a:xfrm>
          <a:prstGeom prst="rect">
            <a:avLst/>
          </a:prstGeom>
          <a:noFill/>
          <a:ln/>
        </p:spPr>
        <p:txBody>
          <a:bodyPr wrap="square" lIns="0" tIns="0" rIns="0" bIns="0" rtlCol="0" anchor="ctr"/>
          <a:lstStyle/>
          <a:p>
            <a:pPr indent="0" marL="0">
              <a:lnSpc>
                <a:spcPct val="120000"/>
              </a:lnSpc>
              <a:buNone/>
            </a:pPr>
            <a:r>
              <a:rPr lang="en-US" sz="1250" dirty="0">
                <a:solidFill>
                  <a:srgbClr val="1A1A2E"/>
                </a:solidFill>
                <a:latin typeface="Calibri" pitchFamily="34" charset="0"/>
                <a:ea typeface="Calibri" pitchFamily="34" charset="-122"/>
                <a:cs typeface="Calibri" pitchFamily="34" charset="-120"/>
              </a:rPr>
              <a:t>n8n et Postgres tournent en Docker sur la machine, le script appelle localhost. Seuls Linear et Anthropic sont des appels sortants. Le passage en Done s’appuie sur de vrais tests exécutés en local, jamais sur une estimation de Claude, qui ne voit de toute façon jamais le code.</a:t>
            </a:r>
            <a:endParaRPr lang="en-US" sz="1250" dirty="0"/>
          </a:p>
        </p:txBody>
      </p:sp>
      <p:sp>
        <p:nvSpPr>
          <p:cNvPr id="42" name="Shape 39"/>
          <p:cNvSpPr/>
          <p:nvPr/>
        </p:nvSpPr>
        <p:spPr>
          <a:xfrm>
            <a:off x="640080" y="6217920"/>
            <a:ext cx="10908792" cy="18288"/>
          </a:xfrm>
          <a:prstGeom prst="rect">
            <a:avLst/>
          </a:prstGeom>
          <a:solidFill>
            <a:srgbClr val="E2E2E8"/>
          </a:solidFill>
          <a:ln/>
        </p:spPr>
      </p:sp>
      <p:sp>
        <p:nvSpPr>
          <p:cNvPr id="43" name="Text 40"/>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Architecture</a:t>
            </a:r>
            <a:endParaRPr lang="en-US" sz="1100" dirty="0"/>
          </a:p>
        </p:txBody>
      </p:sp>
      <p:sp>
        <p:nvSpPr>
          <p:cNvPr id="44" name="Text 41"/>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17 / 20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oundRect">
            <a:avLst>
              <a:gd name="adj" fmla="val 23529"/>
            </a:avLst>
          </a:prstGeom>
          <a:solidFill>
            <a:srgbClr val="EA4B71"/>
          </a:solidFill>
          <a:ln/>
        </p:spPr>
      </p:sp>
      <p:sp>
        <p:nvSpPr>
          <p:cNvPr id="3" name="Shape 1"/>
          <p:cNvSpPr/>
          <p:nvPr/>
        </p:nvSpPr>
        <p:spPr>
          <a:xfrm>
            <a:off x="832104" y="800100"/>
            <a:ext cx="82296" cy="82296"/>
          </a:xfrm>
          <a:prstGeom prst="ellipse">
            <a:avLst/>
          </a:prstGeom>
          <a:solidFill>
            <a:srgbClr val="FFFFFF"/>
          </a:solidFill>
          <a:ln/>
        </p:spPr>
      </p:sp>
      <p:sp>
        <p:nvSpPr>
          <p:cNvPr id="4" name="Text 2"/>
          <p:cNvSpPr/>
          <p:nvPr/>
        </p:nvSpPr>
        <p:spPr>
          <a:xfrm>
            <a:off x="1143000" y="704088"/>
            <a:ext cx="5486400" cy="292608"/>
          </a:xfrm>
          <a:prstGeom prst="rect">
            <a:avLst/>
          </a:prstGeom>
          <a:noFill/>
          <a:ln/>
        </p:spPr>
        <p:txBody>
          <a:bodyPr wrap="square" lIns="0" tIns="0" rIns="0" bIns="0" rtlCol="0" anchor="ctr"/>
          <a:lstStyle/>
          <a:p>
            <a:pPr indent="0" marL="0">
              <a:buNone/>
            </a:pPr>
            <a:r>
              <a:rPr lang="en-US" sz="1300" b="1" spc="400" kern="0" dirty="0">
                <a:solidFill>
                  <a:srgbClr val="EA4B71"/>
                </a:solidFill>
                <a:latin typeface="Calibri" pitchFamily="34" charset="0"/>
                <a:ea typeface="Calibri" pitchFamily="34" charset="-122"/>
                <a:cs typeface="Calibri" pitchFamily="34" charset="-120"/>
              </a:rPr>
              <a:t>LE COÛT</a:t>
            </a:r>
            <a:endParaRPr lang="en-US" sz="1300" dirty="0"/>
          </a:p>
        </p:txBody>
      </p:sp>
      <p:sp>
        <p:nvSpPr>
          <p:cNvPr id="5" name="Text 3"/>
          <p:cNvSpPr/>
          <p:nvPr/>
        </p:nvSpPr>
        <p:spPr>
          <a:xfrm>
            <a:off x="640080" y="1188720"/>
            <a:ext cx="10908792" cy="713232"/>
          </a:xfrm>
          <a:prstGeom prst="rect">
            <a:avLst/>
          </a:prstGeom>
          <a:noFill/>
          <a:ln/>
        </p:spPr>
        <p:txBody>
          <a:bodyPr wrap="square" lIns="0" tIns="0" rIns="0" bIns="0" rtlCol="0" anchor="ctr"/>
          <a:lstStyle/>
          <a:p>
            <a:pPr indent="0" marL="0">
              <a:buNone/>
            </a:pPr>
            <a:r>
              <a:rPr lang="en-US" sz="4000" b="1" dirty="0">
                <a:solidFill>
                  <a:srgbClr val="1A1A2E"/>
                </a:solidFill>
                <a:latin typeface="Trebuchet MS" pitchFamily="34" charset="0"/>
                <a:ea typeface="Trebuchet MS" pitchFamily="34" charset="-122"/>
                <a:cs typeface="Trebuchet MS" pitchFamily="34" charset="-120"/>
              </a:rPr>
              <a:t>Ce que ça coûte</a:t>
            </a:r>
            <a:endParaRPr lang="en-US" sz="4000" dirty="0"/>
          </a:p>
        </p:txBody>
      </p:sp>
      <p:sp>
        <p:nvSpPr>
          <p:cNvPr id="6" name="Shape 4"/>
          <p:cNvSpPr/>
          <p:nvPr/>
        </p:nvSpPr>
        <p:spPr>
          <a:xfrm>
            <a:off x="640080" y="2194560"/>
            <a:ext cx="2384298" cy="1783080"/>
          </a:xfrm>
          <a:prstGeom prst="roundRect">
            <a:avLst>
              <a:gd name="adj" fmla="val 6154"/>
            </a:avLst>
          </a:prstGeom>
          <a:solidFill>
            <a:srgbClr val="F4F4F6"/>
          </a:solidFill>
          <a:ln/>
        </p:spPr>
      </p:sp>
      <p:sp>
        <p:nvSpPr>
          <p:cNvPr id="7" name="Text 5"/>
          <p:cNvSpPr/>
          <p:nvPr/>
        </p:nvSpPr>
        <p:spPr>
          <a:xfrm>
            <a:off x="859536" y="2432304"/>
            <a:ext cx="1945386" cy="868680"/>
          </a:xfrm>
          <a:prstGeom prst="rect">
            <a:avLst/>
          </a:prstGeom>
          <a:noFill/>
          <a:ln/>
        </p:spPr>
        <p:txBody>
          <a:bodyPr wrap="square" lIns="0" tIns="0" rIns="0" bIns="0" rtlCol="0" anchor="ctr"/>
          <a:lstStyle/>
          <a:p>
            <a:pPr indent="0" marL="0">
              <a:buNone/>
            </a:pPr>
            <a:r>
              <a:rPr lang="en-US" sz="5000" b="1" dirty="0">
                <a:solidFill>
                  <a:srgbClr val="EA4B71"/>
                </a:solidFill>
                <a:latin typeface="Trebuchet MS" pitchFamily="34" charset="0"/>
                <a:ea typeface="Trebuchet MS" pitchFamily="34" charset="-122"/>
                <a:cs typeface="Trebuchet MS" pitchFamily="34" charset="-120"/>
              </a:rPr>
              <a:t>21</a:t>
            </a:r>
            <a:endParaRPr lang="en-US" sz="5000" dirty="0"/>
          </a:p>
        </p:txBody>
      </p:sp>
      <p:sp>
        <p:nvSpPr>
          <p:cNvPr id="8" name="Text 6"/>
          <p:cNvSpPr/>
          <p:nvPr/>
        </p:nvSpPr>
        <p:spPr>
          <a:xfrm>
            <a:off x="859536" y="3328416"/>
            <a:ext cx="1945386" cy="457200"/>
          </a:xfrm>
          <a:prstGeom prst="rect">
            <a:avLst/>
          </a:prstGeom>
          <a:noFill/>
          <a:ln/>
        </p:spPr>
        <p:txBody>
          <a:bodyPr wrap="square" lIns="0" tIns="0" rIns="0" bIns="0" rtlCol="0" anchor="ctr"/>
          <a:lstStyle/>
          <a:p>
            <a:pPr indent="0" marL="0">
              <a:lnSpc>
                <a:spcPct val="110000"/>
              </a:lnSpc>
              <a:buNone/>
            </a:pPr>
            <a:r>
              <a:rPr lang="en-US" sz="1500" dirty="0">
                <a:solidFill>
                  <a:srgbClr val="5C5C6E"/>
                </a:solidFill>
                <a:latin typeface="Calibri" pitchFamily="34" charset="0"/>
                <a:ea typeface="Calibri" pitchFamily="34" charset="-122"/>
                <a:cs typeface="Calibri" pitchFamily="34" charset="-120"/>
              </a:rPr>
              <a:t>nœuds</a:t>
            </a:r>
            <a:endParaRPr lang="en-US" sz="1500" dirty="0"/>
          </a:p>
        </p:txBody>
      </p:sp>
      <p:sp>
        <p:nvSpPr>
          <p:cNvPr id="9" name="Shape 7"/>
          <p:cNvSpPr/>
          <p:nvPr/>
        </p:nvSpPr>
        <p:spPr>
          <a:xfrm>
            <a:off x="3481578" y="2194560"/>
            <a:ext cx="2384298" cy="1783080"/>
          </a:xfrm>
          <a:prstGeom prst="roundRect">
            <a:avLst>
              <a:gd name="adj" fmla="val 6154"/>
            </a:avLst>
          </a:prstGeom>
          <a:solidFill>
            <a:srgbClr val="F4F4F6"/>
          </a:solidFill>
          <a:ln/>
        </p:spPr>
      </p:sp>
      <p:sp>
        <p:nvSpPr>
          <p:cNvPr id="10" name="Text 8"/>
          <p:cNvSpPr/>
          <p:nvPr/>
        </p:nvSpPr>
        <p:spPr>
          <a:xfrm>
            <a:off x="3701034" y="2432304"/>
            <a:ext cx="1945386" cy="868680"/>
          </a:xfrm>
          <a:prstGeom prst="rect">
            <a:avLst/>
          </a:prstGeom>
          <a:noFill/>
          <a:ln/>
        </p:spPr>
        <p:txBody>
          <a:bodyPr wrap="square" lIns="0" tIns="0" rIns="0" bIns="0" rtlCol="0" anchor="ctr"/>
          <a:lstStyle/>
          <a:p>
            <a:pPr indent="0" marL="0">
              <a:buNone/>
            </a:pPr>
            <a:r>
              <a:rPr lang="en-US" sz="5000" b="1" dirty="0">
                <a:solidFill>
                  <a:srgbClr val="EA4B71"/>
                </a:solidFill>
                <a:latin typeface="Trebuchet MS" pitchFamily="34" charset="0"/>
                <a:ea typeface="Trebuchet MS" pitchFamily="34" charset="-122"/>
                <a:cs typeface="Trebuchet MS" pitchFamily="34" charset="-120"/>
              </a:rPr>
              <a:t>0</a:t>
            </a:r>
            <a:endParaRPr lang="en-US" sz="5000" dirty="0"/>
          </a:p>
        </p:txBody>
      </p:sp>
      <p:sp>
        <p:nvSpPr>
          <p:cNvPr id="11" name="Text 9"/>
          <p:cNvSpPr/>
          <p:nvPr/>
        </p:nvSpPr>
        <p:spPr>
          <a:xfrm>
            <a:off x="3701034" y="3328416"/>
            <a:ext cx="1945386" cy="457200"/>
          </a:xfrm>
          <a:prstGeom prst="rect">
            <a:avLst/>
          </a:prstGeom>
          <a:noFill/>
          <a:ln/>
        </p:spPr>
        <p:txBody>
          <a:bodyPr wrap="square" lIns="0" tIns="0" rIns="0" bIns="0" rtlCol="0" anchor="ctr"/>
          <a:lstStyle/>
          <a:p>
            <a:pPr indent="0" marL="0">
              <a:lnSpc>
                <a:spcPct val="110000"/>
              </a:lnSpc>
              <a:buNone/>
            </a:pPr>
            <a:r>
              <a:rPr lang="en-US" sz="1500" dirty="0">
                <a:solidFill>
                  <a:srgbClr val="5C5C6E"/>
                </a:solidFill>
                <a:latin typeface="Calibri" pitchFamily="34" charset="0"/>
                <a:ea typeface="Calibri" pitchFamily="34" charset="-122"/>
                <a:cs typeface="Calibri" pitchFamily="34" charset="-120"/>
              </a:rPr>
              <a:t>ligne déployée</a:t>
            </a:r>
            <a:endParaRPr lang="en-US" sz="1500" dirty="0"/>
          </a:p>
        </p:txBody>
      </p:sp>
      <p:sp>
        <p:nvSpPr>
          <p:cNvPr id="12" name="Shape 10"/>
          <p:cNvSpPr/>
          <p:nvPr/>
        </p:nvSpPr>
        <p:spPr>
          <a:xfrm>
            <a:off x="6323076" y="2194560"/>
            <a:ext cx="2384298" cy="1783080"/>
          </a:xfrm>
          <a:prstGeom prst="roundRect">
            <a:avLst>
              <a:gd name="adj" fmla="val 6154"/>
            </a:avLst>
          </a:prstGeom>
          <a:solidFill>
            <a:srgbClr val="F4F4F6"/>
          </a:solidFill>
          <a:ln/>
        </p:spPr>
      </p:sp>
      <p:sp>
        <p:nvSpPr>
          <p:cNvPr id="13" name="Text 11"/>
          <p:cNvSpPr/>
          <p:nvPr/>
        </p:nvSpPr>
        <p:spPr>
          <a:xfrm>
            <a:off x="6542532" y="2432304"/>
            <a:ext cx="1945386" cy="868680"/>
          </a:xfrm>
          <a:prstGeom prst="rect">
            <a:avLst/>
          </a:prstGeom>
          <a:noFill/>
          <a:ln/>
        </p:spPr>
        <p:txBody>
          <a:bodyPr wrap="square" lIns="0" tIns="0" rIns="0" bIns="0" rtlCol="0" anchor="ctr"/>
          <a:lstStyle/>
          <a:p>
            <a:pPr indent="0" marL="0">
              <a:buNone/>
            </a:pPr>
            <a:r>
              <a:rPr lang="en-US" sz="5000" b="1" dirty="0">
                <a:solidFill>
                  <a:srgbClr val="EA4B71"/>
                </a:solidFill>
                <a:latin typeface="Trebuchet MS" pitchFamily="34" charset="0"/>
                <a:ea typeface="Trebuchet MS" pitchFamily="34" charset="-122"/>
                <a:cs typeface="Trebuchet MS" pitchFamily="34" charset="-120"/>
              </a:rPr>
              <a:t>1</a:t>
            </a:r>
            <a:endParaRPr lang="en-US" sz="5000" dirty="0"/>
          </a:p>
        </p:txBody>
      </p:sp>
      <p:sp>
        <p:nvSpPr>
          <p:cNvPr id="14" name="Text 12"/>
          <p:cNvSpPr/>
          <p:nvPr/>
        </p:nvSpPr>
        <p:spPr>
          <a:xfrm>
            <a:off x="6542532" y="3328416"/>
            <a:ext cx="1945386" cy="457200"/>
          </a:xfrm>
          <a:prstGeom prst="rect">
            <a:avLst/>
          </a:prstGeom>
          <a:noFill/>
          <a:ln/>
        </p:spPr>
        <p:txBody>
          <a:bodyPr wrap="square" lIns="0" tIns="0" rIns="0" bIns="0" rtlCol="0" anchor="ctr"/>
          <a:lstStyle/>
          <a:p>
            <a:pPr indent="0" marL="0">
              <a:lnSpc>
                <a:spcPct val="110000"/>
              </a:lnSpc>
              <a:buNone/>
            </a:pPr>
            <a:r>
              <a:rPr lang="en-US" sz="1500" dirty="0">
                <a:solidFill>
                  <a:srgbClr val="5C5C6E"/>
                </a:solidFill>
                <a:latin typeface="Calibri" pitchFamily="34" charset="0"/>
                <a:ea typeface="Calibri" pitchFamily="34" charset="-122"/>
                <a:cs typeface="Calibri" pitchFamily="34" charset="-120"/>
              </a:rPr>
              <a:t>soirée de travail</a:t>
            </a:r>
            <a:endParaRPr lang="en-US" sz="1500" dirty="0"/>
          </a:p>
        </p:txBody>
      </p:sp>
      <p:sp>
        <p:nvSpPr>
          <p:cNvPr id="15" name="Shape 13"/>
          <p:cNvSpPr/>
          <p:nvPr/>
        </p:nvSpPr>
        <p:spPr>
          <a:xfrm>
            <a:off x="9164574" y="2194560"/>
            <a:ext cx="2384298" cy="1783080"/>
          </a:xfrm>
          <a:prstGeom prst="roundRect">
            <a:avLst>
              <a:gd name="adj" fmla="val 6154"/>
            </a:avLst>
          </a:prstGeom>
          <a:solidFill>
            <a:srgbClr val="EA4B71"/>
          </a:solidFill>
          <a:ln/>
        </p:spPr>
      </p:sp>
      <p:sp>
        <p:nvSpPr>
          <p:cNvPr id="16" name="Text 14"/>
          <p:cNvSpPr/>
          <p:nvPr/>
        </p:nvSpPr>
        <p:spPr>
          <a:xfrm>
            <a:off x="9384030" y="2432304"/>
            <a:ext cx="1945386" cy="86868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Abonnement</a:t>
            </a:r>
            <a:endParaRPr lang="en-US" sz="2300" dirty="0"/>
          </a:p>
        </p:txBody>
      </p:sp>
      <p:sp>
        <p:nvSpPr>
          <p:cNvPr id="17" name="Text 15"/>
          <p:cNvSpPr/>
          <p:nvPr/>
        </p:nvSpPr>
        <p:spPr>
          <a:xfrm>
            <a:off x="9384030" y="3328416"/>
            <a:ext cx="1945386" cy="4572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hébergement sur serveur</a:t>
            </a:r>
            <a:endParaRPr lang="en-US" sz="1500" dirty="0"/>
          </a:p>
        </p:txBody>
      </p:sp>
      <p:sp>
        <p:nvSpPr>
          <p:cNvPr id="18" name="Shape 16"/>
          <p:cNvSpPr/>
          <p:nvPr/>
        </p:nvSpPr>
        <p:spPr>
          <a:xfrm>
            <a:off x="640080" y="4352544"/>
            <a:ext cx="10908792" cy="1243584"/>
          </a:xfrm>
          <a:prstGeom prst="roundRect">
            <a:avLst>
              <a:gd name="adj" fmla="val 7353"/>
            </a:avLst>
          </a:prstGeom>
          <a:solidFill>
            <a:srgbClr val="F4F4F6"/>
          </a:solidFill>
          <a:ln/>
        </p:spPr>
      </p:sp>
      <p:sp>
        <p:nvSpPr>
          <p:cNvPr id="19" name="Shape 17"/>
          <p:cNvSpPr/>
          <p:nvPr/>
        </p:nvSpPr>
        <p:spPr>
          <a:xfrm>
            <a:off x="640080" y="4462272"/>
            <a:ext cx="91440" cy="1024128"/>
          </a:xfrm>
          <a:prstGeom prst="rect">
            <a:avLst/>
          </a:prstGeom>
          <a:solidFill>
            <a:srgbClr val="EA4B71"/>
          </a:solidFill>
          <a:ln/>
        </p:spPr>
      </p:sp>
      <p:sp>
        <p:nvSpPr>
          <p:cNvPr id="20" name="Text 18"/>
          <p:cNvSpPr/>
          <p:nvPr/>
        </p:nvSpPr>
        <p:spPr>
          <a:xfrm>
            <a:off x="1097280" y="4535424"/>
            <a:ext cx="10085832" cy="347472"/>
          </a:xfrm>
          <a:prstGeom prst="rect">
            <a:avLst/>
          </a:prstGeom>
          <a:noFill/>
          <a:ln/>
        </p:spPr>
        <p:txBody>
          <a:bodyPr wrap="square" lIns="0" tIns="0" rIns="0" bIns="0" rtlCol="0" anchor="ctr"/>
          <a:lstStyle/>
          <a:p>
            <a:pPr indent="0" marL="0">
              <a:buNone/>
            </a:pPr>
            <a:r>
              <a:rPr lang="en-US" sz="1800" b="1" dirty="0">
                <a:solidFill>
                  <a:srgbClr val="B8304F"/>
                </a:solidFill>
                <a:latin typeface="Trebuchet MS" pitchFamily="34" charset="0"/>
                <a:ea typeface="Trebuchet MS" pitchFamily="34" charset="-122"/>
                <a:cs typeface="Trebuchet MS" pitchFamily="34" charset="-120"/>
              </a:rPr>
              <a:t>La licence</a:t>
            </a:r>
            <a:endParaRPr lang="en-US" sz="1800" dirty="0"/>
          </a:p>
        </p:txBody>
      </p:sp>
      <p:sp>
        <p:nvSpPr>
          <p:cNvPr id="21" name="Text 19"/>
          <p:cNvSpPr/>
          <p:nvPr/>
        </p:nvSpPr>
        <p:spPr>
          <a:xfrm>
            <a:off x="1097280" y="4901184"/>
            <a:ext cx="10085832" cy="512064"/>
          </a:xfrm>
          <a:prstGeom prst="rect">
            <a:avLst/>
          </a:prstGeom>
          <a:noFill/>
          <a:ln/>
        </p:spPr>
        <p:txBody>
          <a:bodyPr wrap="square" lIns="0" tIns="0" rIns="0" bIns="0" rtlCol="0" anchor="ctr"/>
          <a:lstStyle/>
          <a:p>
            <a:pPr indent="0" marL="0">
              <a:lnSpc>
                <a:spcPct val="120000"/>
              </a:lnSpc>
              <a:buNone/>
            </a:pPr>
            <a:r>
              <a:rPr lang="en-US" sz="1450" dirty="0">
                <a:solidFill>
                  <a:srgbClr val="1A1A2E"/>
                </a:solidFill>
                <a:latin typeface="Calibri" pitchFamily="34" charset="0"/>
                <a:ea typeface="Calibri" pitchFamily="34" charset="-122"/>
                <a:cs typeface="Calibri" pitchFamily="34" charset="-120"/>
              </a:rPr>
              <a:t>n8n est en fair-code. L’auto-hébergement est gratuit et illimité pour un usage interne ; seule la revente en tant que service est interdite.</a:t>
            </a:r>
            <a:endParaRPr lang="en-US" sz="1450" dirty="0"/>
          </a:p>
        </p:txBody>
      </p:sp>
      <p:sp>
        <p:nvSpPr>
          <p:cNvPr id="23" name="Shape 20"/>
          <p:cNvSpPr/>
          <p:nvPr/>
        </p:nvSpPr>
        <p:spPr>
          <a:xfrm>
            <a:off x="640080" y="6217920"/>
            <a:ext cx="10908792" cy="18288"/>
          </a:xfrm>
          <a:prstGeom prst="rect">
            <a:avLst/>
          </a:prstGeom>
          <a:solidFill>
            <a:srgbClr val="E2E2E8"/>
          </a:solidFill>
          <a:ln/>
        </p:spPr>
      </p:sp>
      <p:sp>
        <p:nvSpPr>
          <p:cNvPr id="24" name="Text 21"/>
          <p:cNvSpPr/>
          <p:nvPr/>
        </p:nvSpPr>
        <p:spPr>
          <a:xfrm>
            <a:off x="640080" y="6309360"/>
            <a:ext cx="9262872" cy="274320"/>
          </a:xfrm>
          <a:prstGeom prst="rect">
            <a:avLst/>
          </a:prstGeom>
          <a:noFill/>
          <a:ln/>
        </p:spPr>
        <p:txBody>
          <a:bodyPr wrap="square" lIns="0" tIns="0" rIns="0" bIns="0" rtlCol="0" anchor="ctr"/>
          <a:lstStyle/>
          <a:p>
            <a:pPr indent="0" marL="0">
              <a:buNone/>
            </a:pPr>
            <a:r>
              <a:rPr lang="en-US" sz="1100" dirty="0">
                <a:solidFill>
                  <a:srgbClr val="5C5C6E"/>
                </a:solidFill>
                <a:latin typeface="Calibri" pitchFamily="34" charset="0"/>
                <a:ea typeface="Calibri" pitchFamily="34" charset="-122"/>
                <a:cs typeface="Calibri" pitchFamily="34" charset="-120"/>
              </a:rPr>
              <a:t>Ce que ça coûte</a:t>
            </a:r>
            <a:endParaRPr lang="en-US" sz="1100" dirty="0"/>
          </a:p>
        </p:txBody>
      </p:sp>
      <p:sp>
        <p:nvSpPr>
          <p:cNvPr id="25" name="Text 22"/>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B8304F"/>
                </a:solidFill>
                <a:latin typeface="Calibri" pitchFamily="34" charset="0"/>
                <a:ea typeface="Calibri" pitchFamily="34" charset="-122"/>
                <a:cs typeface="Calibri" pitchFamily="34" charset="-120"/>
              </a:rPr>
              <a:t>18 / 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33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A4B71"/>
          </a:solidFill>
          <a:ln/>
        </p:spPr>
      </p:sp>
      <p:sp>
        <p:nvSpPr>
          <p:cNvPr id="3" name="Text 1"/>
          <p:cNvSpPr/>
          <p:nvPr/>
        </p:nvSpPr>
        <p:spPr>
          <a:xfrm>
            <a:off x="868680" y="1097280"/>
            <a:ext cx="7315200" cy="320040"/>
          </a:xfrm>
          <a:prstGeom prst="rect">
            <a:avLst/>
          </a:prstGeom>
          <a:noFill/>
          <a:ln/>
        </p:spPr>
        <p:txBody>
          <a:bodyPr wrap="square" lIns="0" tIns="0" rIns="0" bIns="0" rtlCol="0" anchor="ctr"/>
          <a:lstStyle/>
          <a:p>
            <a:pPr indent="0" marL="0">
              <a:buNone/>
            </a:pPr>
            <a:r>
              <a:rPr lang="en-US" sz="1400" b="1" spc="500" kern="0" dirty="0">
                <a:solidFill>
                  <a:srgbClr val="EA4B71"/>
                </a:solidFill>
                <a:latin typeface="Calibri" pitchFamily="34" charset="0"/>
                <a:ea typeface="Calibri" pitchFamily="34" charset="-122"/>
                <a:cs typeface="Calibri" pitchFamily="34" charset="-120"/>
              </a:rPr>
              <a:t>CE QUI RESTE À DÉCIDER</a:t>
            </a:r>
            <a:endParaRPr lang="en-US" sz="1400" dirty="0"/>
          </a:p>
        </p:txBody>
      </p:sp>
      <p:sp>
        <p:nvSpPr>
          <p:cNvPr id="4" name="Text 2"/>
          <p:cNvSpPr/>
          <p:nvPr/>
        </p:nvSpPr>
        <p:spPr>
          <a:xfrm>
            <a:off x="868680" y="1645920"/>
            <a:ext cx="10058400" cy="146304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On le met sur un serveur,</a:t>
            </a:r>
            <a:endParaRPr lang="en-US" sz="4000" dirty="0"/>
          </a:p>
          <a:p>
            <a:pPr indent="0" marL="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ou il reste sur mon portable ?</a:t>
            </a:r>
            <a:endParaRPr lang="en-US" sz="4000" dirty="0"/>
          </a:p>
        </p:txBody>
      </p:sp>
      <p:sp>
        <p:nvSpPr>
          <p:cNvPr id="5" name="Shape 3"/>
          <p:cNvSpPr/>
          <p:nvPr/>
        </p:nvSpPr>
        <p:spPr>
          <a:xfrm>
            <a:off x="868680" y="3438144"/>
            <a:ext cx="237744" cy="237744"/>
          </a:xfrm>
          <a:prstGeom prst="roundRect">
            <a:avLst>
              <a:gd name="adj" fmla="val 30769"/>
            </a:avLst>
          </a:prstGeom>
          <a:solidFill>
            <a:srgbClr val="EA4B71"/>
          </a:solidFill>
          <a:ln/>
        </p:spPr>
      </p:sp>
      <p:sp>
        <p:nvSpPr>
          <p:cNvPr id="6" name="Shape 4"/>
          <p:cNvSpPr/>
          <p:nvPr/>
        </p:nvSpPr>
        <p:spPr>
          <a:xfrm>
            <a:off x="987552" y="3515868"/>
            <a:ext cx="82296" cy="82296"/>
          </a:xfrm>
          <a:prstGeom prst="ellipse">
            <a:avLst/>
          </a:prstGeom>
          <a:solidFill>
            <a:srgbClr val="FFFFFF"/>
          </a:solidFill>
          <a:ln/>
        </p:spPr>
      </p:sp>
      <p:sp>
        <p:nvSpPr>
          <p:cNvPr id="7" name="Text 5"/>
          <p:cNvSpPr/>
          <p:nvPr/>
        </p:nvSpPr>
        <p:spPr>
          <a:xfrm>
            <a:off x="1325880" y="338328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Un abonnement</a:t>
            </a:r>
            <a:endParaRPr lang="en-US" sz="1800" dirty="0"/>
          </a:p>
        </p:txBody>
      </p:sp>
      <p:sp>
        <p:nvSpPr>
          <p:cNvPr id="8" name="Text 6"/>
          <p:cNvSpPr/>
          <p:nvPr/>
        </p:nvSpPr>
        <p:spPr>
          <a:xfrm>
            <a:off x="3931920" y="3383280"/>
            <a:ext cx="7616952" cy="365760"/>
          </a:xfrm>
          <a:prstGeom prst="rect">
            <a:avLst/>
          </a:prstGeom>
          <a:noFill/>
          <a:ln/>
        </p:spPr>
        <p:txBody>
          <a:bodyPr wrap="square" lIns="0" tIns="0" rIns="0" bIns="0" rtlCol="0" anchor="ctr"/>
          <a:lstStyle/>
          <a:p>
            <a:pPr indent="0" marL="0">
              <a:buNone/>
            </a:pPr>
            <a:r>
              <a:rPr lang="en-US" sz="1500" dirty="0">
                <a:solidFill>
                  <a:srgbClr val="C9CAE0"/>
                </a:solidFill>
                <a:latin typeface="Calibri" pitchFamily="34" charset="0"/>
                <a:ea typeface="Calibri" pitchFamily="34" charset="-122"/>
                <a:cs typeface="Calibri" pitchFamily="34" charset="-120"/>
              </a:rPr>
              <a:t>un VPS, configuration de sécurité documentée</a:t>
            </a:r>
            <a:endParaRPr lang="en-US" sz="1500" dirty="0"/>
          </a:p>
        </p:txBody>
      </p:sp>
      <p:sp>
        <p:nvSpPr>
          <p:cNvPr id="9" name="Shape 7"/>
          <p:cNvSpPr/>
          <p:nvPr/>
        </p:nvSpPr>
        <p:spPr>
          <a:xfrm>
            <a:off x="868680" y="4224528"/>
            <a:ext cx="237744" cy="237744"/>
          </a:xfrm>
          <a:prstGeom prst="roundRect">
            <a:avLst>
              <a:gd name="adj" fmla="val 30769"/>
            </a:avLst>
          </a:prstGeom>
          <a:solidFill>
            <a:srgbClr val="EA4B71"/>
          </a:solidFill>
          <a:ln/>
        </p:spPr>
      </p:sp>
      <p:sp>
        <p:nvSpPr>
          <p:cNvPr id="10" name="Shape 8"/>
          <p:cNvSpPr/>
          <p:nvPr/>
        </p:nvSpPr>
        <p:spPr>
          <a:xfrm>
            <a:off x="987552" y="4302252"/>
            <a:ext cx="82296" cy="82296"/>
          </a:xfrm>
          <a:prstGeom prst="ellipse">
            <a:avLst/>
          </a:prstGeom>
          <a:solidFill>
            <a:srgbClr val="FFFFFF"/>
          </a:solidFill>
          <a:ln/>
        </p:spPr>
      </p:sp>
      <p:sp>
        <p:nvSpPr>
          <p:cNvPr id="11" name="Text 9"/>
          <p:cNvSpPr/>
          <p:nvPr/>
        </p:nvSpPr>
        <p:spPr>
          <a:xfrm>
            <a:off x="1325880" y="4169664"/>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Export versionné</a:t>
            </a:r>
            <a:endParaRPr lang="en-US" sz="1800" dirty="0"/>
          </a:p>
        </p:txBody>
      </p:sp>
      <p:sp>
        <p:nvSpPr>
          <p:cNvPr id="12" name="Text 10"/>
          <p:cNvSpPr/>
          <p:nvPr/>
        </p:nvSpPr>
        <p:spPr>
          <a:xfrm>
            <a:off x="3931920" y="4169664"/>
            <a:ext cx="7616952" cy="365760"/>
          </a:xfrm>
          <a:prstGeom prst="rect">
            <a:avLst/>
          </a:prstGeom>
          <a:noFill/>
          <a:ln/>
        </p:spPr>
        <p:txBody>
          <a:bodyPr wrap="square" lIns="0" tIns="0" rIns="0" bIns="0" rtlCol="0" anchor="ctr"/>
          <a:lstStyle/>
          <a:p>
            <a:pPr indent="0" marL="0">
              <a:buNone/>
            </a:pPr>
            <a:r>
              <a:rPr lang="en-US" sz="1500" dirty="0">
                <a:solidFill>
                  <a:srgbClr val="C9CAE0"/>
                </a:solidFill>
                <a:latin typeface="Calibri" pitchFamily="34" charset="0"/>
                <a:ea typeface="Calibri" pitchFamily="34" charset="-122"/>
                <a:cs typeface="Calibri" pitchFamily="34" charset="-120"/>
              </a:rPr>
              <a:t>le workflow vit dans le dépôt, pas dans une machine</a:t>
            </a:r>
            <a:endParaRPr lang="en-US" sz="1500" dirty="0"/>
          </a:p>
        </p:txBody>
      </p:sp>
      <p:sp>
        <p:nvSpPr>
          <p:cNvPr id="13" name="Shape 11"/>
          <p:cNvSpPr/>
          <p:nvPr/>
        </p:nvSpPr>
        <p:spPr>
          <a:xfrm>
            <a:off x="868680" y="5010912"/>
            <a:ext cx="237744" cy="237744"/>
          </a:xfrm>
          <a:prstGeom prst="roundRect">
            <a:avLst>
              <a:gd name="adj" fmla="val 30769"/>
            </a:avLst>
          </a:prstGeom>
          <a:solidFill>
            <a:srgbClr val="EA4B71"/>
          </a:solidFill>
          <a:ln/>
        </p:spPr>
      </p:sp>
      <p:sp>
        <p:nvSpPr>
          <p:cNvPr id="14" name="Shape 12"/>
          <p:cNvSpPr/>
          <p:nvPr/>
        </p:nvSpPr>
        <p:spPr>
          <a:xfrm>
            <a:off x="987552" y="5088636"/>
            <a:ext cx="82296" cy="82296"/>
          </a:xfrm>
          <a:prstGeom prst="ellipse">
            <a:avLst/>
          </a:prstGeom>
          <a:solidFill>
            <a:srgbClr val="FFFFFF"/>
          </a:solidFill>
          <a:ln/>
        </p:spPr>
      </p:sp>
      <p:sp>
        <p:nvSpPr>
          <p:cNvPr id="15" name="Text 13"/>
          <p:cNvSpPr/>
          <p:nvPr/>
        </p:nvSpPr>
        <p:spPr>
          <a:xfrm>
            <a:off x="1325880" y="4956048"/>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Validation humaine</a:t>
            </a:r>
            <a:endParaRPr lang="en-US" sz="1800" dirty="0"/>
          </a:p>
        </p:txBody>
      </p:sp>
      <p:sp>
        <p:nvSpPr>
          <p:cNvPr id="16" name="Text 14"/>
          <p:cNvSpPr/>
          <p:nvPr/>
        </p:nvSpPr>
        <p:spPr>
          <a:xfrm>
            <a:off x="3931920" y="4956048"/>
            <a:ext cx="7616952" cy="365760"/>
          </a:xfrm>
          <a:prstGeom prst="rect">
            <a:avLst/>
          </a:prstGeom>
          <a:noFill/>
          <a:ln/>
        </p:spPr>
        <p:txBody>
          <a:bodyPr wrap="square" lIns="0" tIns="0" rIns="0" bIns="0" rtlCol="0" anchor="ctr"/>
          <a:lstStyle/>
          <a:p>
            <a:pPr indent="0" marL="0">
              <a:buNone/>
            </a:pPr>
            <a:r>
              <a:rPr lang="en-US" sz="1500" dirty="0">
                <a:solidFill>
                  <a:srgbClr val="C9CAE0"/>
                </a:solidFill>
                <a:latin typeface="Calibri" pitchFamily="34" charset="0"/>
                <a:ea typeface="Calibri" pitchFamily="34" charset="-122"/>
                <a:cs typeface="Calibri" pitchFamily="34" charset="-120"/>
              </a:rPr>
              <a:t>à activer si la création automatique de tickets gêne</a:t>
            </a:r>
            <a:endParaRPr lang="en-US" sz="1500" dirty="0"/>
          </a:p>
        </p:txBody>
      </p:sp>
      <p:sp>
        <p:nvSpPr>
          <p:cNvPr id="17" name="Text 15"/>
          <p:cNvSpPr/>
          <p:nvPr/>
        </p:nvSpPr>
        <p:spPr>
          <a:xfrm>
            <a:off x="868680" y="5715000"/>
            <a:ext cx="10058400" cy="365760"/>
          </a:xfrm>
          <a:prstGeom prst="rect">
            <a:avLst/>
          </a:prstGeom>
          <a:noFill/>
          <a:ln/>
        </p:spPr>
        <p:txBody>
          <a:bodyPr wrap="square" lIns="0" tIns="0" rIns="0" bIns="0" rtlCol="0" anchor="ctr"/>
          <a:lstStyle/>
          <a:p>
            <a:pPr indent="0" marL="0">
              <a:buNone/>
            </a:pPr>
            <a:r>
              <a:rPr lang="en-US" sz="1400" i="1" dirty="0">
                <a:solidFill>
                  <a:srgbClr val="9FA0BE"/>
                </a:solidFill>
                <a:latin typeface="Calibri" pitchFamily="34" charset="0"/>
                <a:ea typeface="Calibri" pitchFamily="34" charset="-122"/>
                <a:cs typeface="Calibri" pitchFamily="34" charset="-120"/>
              </a:rPr>
              <a:t>Les questions maintenant, les détails techniques après.</a:t>
            </a:r>
            <a:endParaRPr lang="en-US" sz="1400" dirty="0"/>
          </a:p>
        </p:txBody>
      </p:sp>
      <p:sp>
        <p:nvSpPr>
          <p:cNvPr id="19" name="Shape 16"/>
          <p:cNvSpPr/>
          <p:nvPr/>
        </p:nvSpPr>
        <p:spPr>
          <a:xfrm>
            <a:off x="868680" y="6217920"/>
            <a:ext cx="10680192" cy="18288"/>
          </a:xfrm>
          <a:prstGeom prst="rect">
            <a:avLst/>
          </a:prstGeom>
          <a:solidFill>
            <a:srgbClr val="2A2E52"/>
          </a:solidFill>
          <a:ln/>
        </p:spPr>
      </p:sp>
      <p:sp>
        <p:nvSpPr>
          <p:cNvPr id="20" name="Text 17"/>
          <p:cNvSpPr/>
          <p:nvPr/>
        </p:nvSpPr>
        <p:spPr>
          <a:xfrm>
            <a:off x="868680" y="6309360"/>
            <a:ext cx="9034272" cy="274320"/>
          </a:xfrm>
          <a:prstGeom prst="rect">
            <a:avLst/>
          </a:prstGeom>
          <a:noFill/>
          <a:ln/>
        </p:spPr>
        <p:txBody>
          <a:bodyPr wrap="square" lIns="0" tIns="0" rIns="0" bIns="0" rtlCol="0" anchor="ctr"/>
          <a:lstStyle/>
          <a:p>
            <a:pPr indent="0" marL="0">
              <a:buNone/>
            </a:pPr>
            <a:r>
              <a:rPr lang="en-US" sz="1100" dirty="0">
                <a:solidFill>
                  <a:srgbClr val="9FA0BE"/>
                </a:solidFill>
                <a:latin typeface="Calibri" pitchFamily="34" charset="0"/>
                <a:ea typeface="Calibri" pitchFamily="34" charset="-122"/>
                <a:cs typeface="Calibri" pitchFamily="34" charset="-120"/>
              </a:rPr>
              <a:t>Clôture</a:t>
            </a:r>
            <a:endParaRPr lang="en-US" sz="1100" dirty="0"/>
          </a:p>
        </p:txBody>
      </p:sp>
      <p:sp>
        <p:nvSpPr>
          <p:cNvPr id="21" name="Text 18"/>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EA4B71"/>
                </a:solidFill>
                <a:latin typeface="Calibri" pitchFamily="34" charset="0"/>
                <a:ea typeface="Calibri" pitchFamily="34" charset="-122"/>
                <a:cs typeface="Calibri" pitchFamily="34" charset="-120"/>
              </a:rPr>
              <a:t>19 / 20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33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A4B71"/>
          </a:solidFill>
          <a:ln/>
        </p:spPr>
      </p:sp>
      <p:sp>
        <p:nvSpPr>
          <p:cNvPr id="3" name="Text 1"/>
          <p:cNvSpPr/>
          <p:nvPr/>
        </p:nvSpPr>
        <p:spPr>
          <a:xfrm>
            <a:off x="868680" y="2286000"/>
            <a:ext cx="10058400" cy="1463040"/>
          </a:xfrm>
          <a:prstGeom prst="rect">
            <a:avLst/>
          </a:prstGeom>
          <a:noFill/>
          <a:ln/>
        </p:spPr>
        <p:txBody>
          <a:bodyPr wrap="square" lIns="0" tIns="0" rIns="0" bIns="0" rtlCol="0" anchor="ctr"/>
          <a:lstStyle/>
          <a:p>
            <a:pPr indent="0" marL="0">
              <a:buNone/>
            </a:pPr>
            <a:r>
              <a:rPr lang="en-US" sz="8000" b="1" dirty="0">
                <a:solidFill>
                  <a:srgbClr val="FFFFFF"/>
                </a:solidFill>
                <a:latin typeface="Trebuchet MS" pitchFamily="34" charset="0"/>
                <a:ea typeface="Trebuchet MS" pitchFamily="34" charset="-122"/>
                <a:cs typeface="Trebuchet MS" pitchFamily="34" charset="-120"/>
              </a:rPr>
              <a:t>Merci</a:t>
            </a:r>
            <a:endParaRPr lang="en-US" sz="8000" dirty="0"/>
          </a:p>
        </p:txBody>
      </p:sp>
      <p:sp>
        <p:nvSpPr>
          <p:cNvPr id="4" name="Text 2"/>
          <p:cNvSpPr/>
          <p:nvPr/>
        </p:nvSpPr>
        <p:spPr>
          <a:xfrm>
            <a:off x="868680" y="3749040"/>
            <a:ext cx="9144000" cy="457200"/>
          </a:xfrm>
          <a:prstGeom prst="rect">
            <a:avLst/>
          </a:prstGeom>
          <a:noFill/>
          <a:ln/>
        </p:spPr>
        <p:txBody>
          <a:bodyPr wrap="square" lIns="0" tIns="0" rIns="0" bIns="0" rtlCol="0" anchor="ctr"/>
          <a:lstStyle/>
          <a:p>
            <a:pPr indent="0" marL="0">
              <a:buNone/>
            </a:pPr>
            <a:r>
              <a:rPr lang="en-US" sz="2000" dirty="0">
                <a:solidFill>
                  <a:srgbClr val="C9CAE0"/>
                </a:solidFill>
                <a:latin typeface="Calibri" pitchFamily="34" charset="0"/>
                <a:ea typeface="Calibri" pitchFamily="34" charset="-122"/>
                <a:cs typeface="Calibri" pitchFamily="34" charset="-120"/>
              </a:rPr>
              <a:t>git → Linear, avec n8n en local</a:t>
            </a:r>
            <a:endParaRPr lang="en-US" sz="2000" dirty="0"/>
          </a:p>
        </p:txBody>
      </p:sp>
      <p:sp>
        <p:nvSpPr>
          <p:cNvPr id="5" name="Shape 3"/>
          <p:cNvSpPr/>
          <p:nvPr/>
        </p:nvSpPr>
        <p:spPr>
          <a:xfrm>
            <a:off x="868680" y="4846320"/>
            <a:ext cx="310896" cy="310896"/>
          </a:xfrm>
          <a:prstGeom prst="roundRect">
            <a:avLst>
              <a:gd name="adj" fmla="val 23529"/>
            </a:avLst>
          </a:prstGeom>
          <a:solidFill>
            <a:srgbClr val="EA4B71"/>
          </a:solidFill>
          <a:ln/>
        </p:spPr>
      </p:sp>
      <p:sp>
        <p:nvSpPr>
          <p:cNvPr id="6" name="Shape 4"/>
          <p:cNvSpPr/>
          <p:nvPr/>
        </p:nvSpPr>
        <p:spPr>
          <a:xfrm>
            <a:off x="1060704" y="4960620"/>
            <a:ext cx="82296" cy="82296"/>
          </a:xfrm>
          <a:prstGeom prst="ellipse">
            <a:avLst/>
          </a:prstGeom>
          <a:solidFill>
            <a:srgbClr val="FFFFFF"/>
          </a:solidFill>
          <a:ln/>
        </p:spPr>
      </p:sp>
      <p:sp>
        <p:nvSpPr>
          <p:cNvPr id="7" name="Shape 5"/>
          <p:cNvSpPr/>
          <p:nvPr/>
        </p:nvSpPr>
        <p:spPr>
          <a:xfrm>
            <a:off x="1179576" y="4988052"/>
            <a:ext cx="256032" cy="27432"/>
          </a:xfrm>
          <a:prstGeom prst="rect">
            <a:avLst/>
          </a:prstGeom>
          <a:solidFill>
            <a:srgbClr val="EA4B71"/>
          </a:solidFill>
          <a:ln/>
        </p:spPr>
      </p:sp>
      <p:sp>
        <p:nvSpPr>
          <p:cNvPr id="8" name="Shape 6"/>
          <p:cNvSpPr/>
          <p:nvPr/>
        </p:nvSpPr>
        <p:spPr>
          <a:xfrm>
            <a:off x="1435608" y="4846320"/>
            <a:ext cx="310896" cy="310896"/>
          </a:xfrm>
          <a:prstGeom prst="roundRect">
            <a:avLst>
              <a:gd name="adj" fmla="val 23529"/>
            </a:avLst>
          </a:prstGeom>
          <a:solidFill>
            <a:srgbClr val="EA4B71"/>
          </a:solidFill>
          <a:ln/>
        </p:spPr>
      </p:sp>
      <p:sp>
        <p:nvSpPr>
          <p:cNvPr id="9" name="Shape 7"/>
          <p:cNvSpPr/>
          <p:nvPr/>
        </p:nvSpPr>
        <p:spPr>
          <a:xfrm>
            <a:off x="1627632" y="4960620"/>
            <a:ext cx="82296" cy="82296"/>
          </a:xfrm>
          <a:prstGeom prst="ellipse">
            <a:avLst/>
          </a:prstGeom>
          <a:solidFill>
            <a:srgbClr val="FFFFFF"/>
          </a:solidFill>
          <a:ln/>
        </p:spPr>
      </p:sp>
      <p:sp>
        <p:nvSpPr>
          <p:cNvPr id="10" name="Shape 8"/>
          <p:cNvSpPr/>
          <p:nvPr/>
        </p:nvSpPr>
        <p:spPr>
          <a:xfrm>
            <a:off x="1746504" y="4988052"/>
            <a:ext cx="256032" cy="27432"/>
          </a:xfrm>
          <a:prstGeom prst="rect">
            <a:avLst/>
          </a:prstGeom>
          <a:solidFill>
            <a:srgbClr val="EA4B71"/>
          </a:solidFill>
          <a:ln/>
        </p:spPr>
      </p:sp>
      <p:sp>
        <p:nvSpPr>
          <p:cNvPr id="11" name="Shape 9"/>
          <p:cNvSpPr/>
          <p:nvPr/>
        </p:nvSpPr>
        <p:spPr>
          <a:xfrm>
            <a:off x="2002536" y="4846320"/>
            <a:ext cx="310896" cy="310896"/>
          </a:xfrm>
          <a:prstGeom prst="roundRect">
            <a:avLst>
              <a:gd name="adj" fmla="val 23529"/>
            </a:avLst>
          </a:prstGeom>
          <a:solidFill>
            <a:srgbClr val="EA4B71"/>
          </a:solidFill>
          <a:ln/>
        </p:spPr>
      </p:sp>
      <p:sp>
        <p:nvSpPr>
          <p:cNvPr id="12" name="Shape 10"/>
          <p:cNvSpPr/>
          <p:nvPr/>
        </p:nvSpPr>
        <p:spPr>
          <a:xfrm>
            <a:off x="2194560" y="4960620"/>
            <a:ext cx="82296" cy="82296"/>
          </a:xfrm>
          <a:prstGeom prst="ellipse">
            <a:avLst/>
          </a:prstGeom>
          <a:solidFill>
            <a:srgbClr val="FFFFFF"/>
          </a:solidFill>
          <a:ln/>
        </p:spPr>
      </p:sp>
      <p:sp>
        <p:nvSpPr>
          <p:cNvPr id="13" name="Shape 11"/>
          <p:cNvSpPr/>
          <p:nvPr/>
        </p:nvSpPr>
        <p:spPr>
          <a:xfrm>
            <a:off x="2313432" y="4988052"/>
            <a:ext cx="256032" cy="27432"/>
          </a:xfrm>
          <a:prstGeom prst="rect">
            <a:avLst/>
          </a:prstGeom>
          <a:solidFill>
            <a:srgbClr val="EA4B71"/>
          </a:solidFill>
          <a:ln/>
        </p:spPr>
      </p:sp>
      <p:sp>
        <p:nvSpPr>
          <p:cNvPr id="14" name="Shape 12"/>
          <p:cNvSpPr/>
          <p:nvPr/>
        </p:nvSpPr>
        <p:spPr>
          <a:xfrm>
            <a:off x="2569464" y="4846320"/>
            <a:ext cx="310896" cy="310896"/>
          </a:xfrm>
          <a:prstGeom prst="roundRect">
            <a:avLst>
              <a:gd name="adj" fmla="val 23529"/>
            </a:avLst>
          </a:prstGeom>
          <a:solidFill>
            <a:srgbClr val="EA4B71"/>
          </a:solidFill>
          <a:ln/>
        </p:spPr>
      </p:sp>
      <p:sp>
        <p:nvSpPr>
          <p:cNvPr id="15" name="Shape 13"/>
          <p:cNvSpPr/>
          <p:nvPr/>
        </p:nvSpPr>
        <p:spPr>
          <a:xfrm>
            <a:off x="2761488" y="4960620"/>
            <a:ext cx="82296" cy="82296"/>
          </a:xfrm>
          <a:prstGeom prst="ellipse">
            <a:avLst/>
          </a:prstGeom>
          <a:solidFill>
            <a:srgbClr val="FFFFFF"/>
          </a:solidFill>
          <a:ln/>
        </p:spPr>
      </p:sp>
      <p:sp>
        <p:nvSpPr>
          <p:cNvPr id="16" name="Shape 14"/>
          <p:cNvSpPr/>
          <p:nvPr/>
        </p:nvSpPr>
        <p:spPr>
          <a:xfrm>
            <a:off x="2880360" y="4988052"/>
            <a:ext cx="256032" cy="27432"/>
          </a:xfrm>
          <a:prstGeom prst="rect">
            <a:avLst/>
          </a:prstGeom>
          <a:solidFill>
            <a:srgbClr val="EA4B71"/>
          </a:solidFill>
          <a:ln/>
        </p:spPr>
      </p:sp>
      <p:sp>
        <p:nvSpPr>
          <p:cNvPr id="17" name="Shape 15"/>
          <p:cNvSpPr/>
          <p:nvPr/>
        </p:nvSpPr>
        <p:spPr>
          <a:xfrm>
            <a:off x="3136392" y="4846320"/>
            <a:ext cx="310896" cy="310896"/>
          </a:xfrm>
          <a:prstGeom prst="roundRect">
            <a:avLst>
              <a:gd name="adj" fmla="val 23529"/>
            </a:avLst>
          </a:prstGeom>
          <a:solidFill>
            <a:srgbClr val="EA4B71"/>
          </a:solidFill>
          <a:ln/>
        </p:spPr>
      </p:sp>
      <p:sp>
        <p:nvSpPr>
          <p:cNvPr id="18" name="Shape 16"/>
          <p:cNvSpPr/>
          <p:nvPr/>
        </p:nvSpPr>
        <p:spPr>
          <a:xfrm>
            <a:off x="3328416" y="4960620"/>
            <a:ext cx="82296" cy="82296"/>
          </a:xfrm>
          <a:prstGeom prst="ellipse">
            <a:avLst/>
          </a:prstGeom>
          <a:solidFill>
            <a:srgbClr val="FFFFFF"/>
          </a:solidFill>
          <a:ln/>
        </p:spPr>
      </p:sp>
      <p:sp>
        <p:nvSpPr>
          <p:cNvPr id="20" name="Shape 17"/>
          <p:cNvSpPr/>
          <p:nvPr/>
        </p:nvSpPr>
        <p:spPr>
          <a:xfrm>
            <a:off x="868680" y="6217920"/>
            <a:ext cx="10680192" cy="18288"/>
          </a:xfrm>
          <a:prstGeom prst="rect">
            <a:avLst/>
          </a:prstGeom>
          <a:solidFill>
            <a:srgbClr val="2A2E52"/>
          </a:solidFill>
          <a:ln/>
        </p:spPr>
      </p:sp>
      <p:sp>
        <p:nvSpPr>
          <p:cNvPr id="21" name="Text 18"/>
          <p:cNvSpPr/>
          <p:nvPr/>
        </p:nvSpPr>
        <p:spPr>
          <a:xfrm>
            <a:off x="868680" y="6309360"/>
            <a:ext cx="9034272" cy="274320"/>
          </a:xfrm>
          <a:prstGeom prst="rect">
            <a:avLst/>
          </a:prstGeom>
          <a:noFill/>
          <a:ln/>
        </p:spPr>
        <p:txBody>
          <a:bodyPr wrap="square" lIns="0" tIns="0" rIns="0" bIns="0" rtlCol="0" anchor="ctr"/>
          <a:lstStyle/>
          <a:p>
            <a:pPr indent="0" marL="0">
              <a:buNone/>
            </a:pPr>
            <a:r>
              <a:rPr lang="en-US" sz="1100" dirty="0">
                <a:solidFill>
                  <a:srgbClr val="9FA0BE"/>
                </a:solidFill>
                <a:latin typeface="Calibri" pitchFamily="34" charset="0"/>
                <a:ea typeface="Calibri" pitchFamily="34" charset="-122"/>
                <a:cs typeface="Calibri" pitchFamily="34" charset="-120"/>
              </a:rPr>
              <a:t>Merci</a:t>
            </a:r>
            <a:endParaRPr lang="en-US" sz="1100" dirty="0"/>
          </a:p>
        </p:txBody>
      </p:sp>
      <p:sp>
        <p:nvSpPr>
          <p:cNvPr id="22" name="Text 19"/>
          <p:cNvSpPr/>
          <p:nvPr/>
        </p:nvSpPr>
        <p:spPr>
          <a:xfrm>
            <a:off x="10085832" y="6309360"/>
            <a:ext cx="1463040" cy="274320"/>
          </a:xfrm>
          <a:prstGeom prst="rect">
            <a:avLst/>
          </a:prstGeom>
          <a:noFill/>
          <a:ln/>
        </p:spPr>
        <p:txBody>
          <a:bodyPr wrap="square" lIns="0" tIns="0" rIns="0" bIns="0" rtlCol="0" anchor="ctr"/>
          <a:lstStyle/>
          <a:p>
            <a:pPr algn="r" indent="0" marL="0">
              <a:buNone/>
            </a:pPr>
            <a:r>
              <a:rPr lang="en-US" sz="1100" b="1" dirty="0">
                <a:solidFill>
                  <a:srgbClr val="EA4B71"/>
                </a:solidFill>
                <a:latin typeface="Calibri" pitchFamily="34" charset="0"/>
                <a:ea typeface="Calibri" pitchFamily="34" charset="-122"/>
                <a:cs typeface="Calibri" pitchFamily="34" charset="-120"/>
              </a:rPr>
              <a:t>20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 Linear, avec n8n en local</dc:title>
  <dc:subject>PptxGenJS Presentation</dc:subject>
  <dc:creator>Parfait Ahouanto</dc:creator>
  <cp:lastModifiedBy>Parfait Ahouanto</cp:lastModifiedBy>
  <cp:revision>1</cp:revision>
  <dcterms:created xsi:type="dcterms:W3CDTF">2026-10-02T16:23:00Z</dcterms:created>
  <dcterms:modified xsi:type="dcterms:W3CDTF">2026-10-02T16:23:00Z</dcterms:modified>
</cp:coreProperties>
</file>